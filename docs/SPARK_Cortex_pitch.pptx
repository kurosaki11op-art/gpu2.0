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c8bd21a-4f31-f3c5-493b-7b676e93a7fa}">
          <p14:sldIdLst>
            <p14:sldId id="256"/>
          </p14:sldIdLst>
        </p14:section>
        <p14:section name="Why" id="{7e0ee36e-18fa-56c7-c8ea-a71ce57d86c7}">
          <p14:sldIdLst>
            <p14:sldId id="257"/>
            <p14:sldId id="258"/>
          </p14:sldIdLst>
        </p14:section>
        <p14:section name="Results" id="{27b07526-4699-528a-8eda-e29c696d202a}">
          <p14:sldIdLst>
            <p14:sldId id="259"/>
            <p14:sldId id="260"/>
            <p14:sldId id="261"/>
            <p14:sldId id="262"/>
          </p14:sldIdLst>
        </p14:section>
        <p14:section name="Build" id="{60d76cef-0bba-be35-ff12-c698dd791b0a}">
          <p14:sldIdLst>
            <p14:sldId id="263"/>
            <p14:sldId id="264"/>
          </p14:sldIdLst>
        </p14:section>
        <p14:section name="Honest" id="{56e67936-f334-c4da-d8cc-b362785519a4}">
          <p14:sldIdLst>
            <p14:sldId id="265"/>
            <p14:sldId id="266"/>
          </p14:sldIdLst>
        </p14:section>
        <p14:section name="Next" id="{5de23d58-f559-35e9-36a8-ec332573144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classes after 5 stages (%)</a:t>
            </a:r>
          </a:p>
        </c:rich>
      </c:tx>
      <c:layout/>
      <c:overlay val="0"/>
    </c:title>
    <c:autoTitleDeleted val="0"/>
    <c:plotArea>
      <c:layout/>
      <c:barChart>
        <c:barDir val="col"/>
        <c:grouping val="clustered"/>
        <c:varyColors val="0"/>
        <c:ser>
          <c:idx val="0"/>
          <c:order val="0"/>
          <c:tx>
            <c:strRef>
              <c:f>Sheet1!$B$1</c:f>
              <c:strCache>
                <c:ptCount val="1"/>
                <c:pt idx="0">
                  <c:v>SPARK Cortex</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95.8</c:v>
                </c:pt>
                <c:pt idx="1">
                  <c:v>78.3</c:v>
                </c:pt>
                <c:pt idx="2">
                  <c:v>82.9</c:v>
                </c:pt>
              </c:numCache>
            </c:numRef>
          </c:val>
        </c:ser>
        <c:ser>
          <c:idx val="1"/>
          <c:order val="1"/>
          <c:tx>
            <c:strRef>
              <c:f>Sheet1!$C$1</c:f>
              <c:strCache>
                <c:ptCount val="1"/>
                <c:pt idx="0">
                  <c:v>Network (forgets)</c:v>
                </c:pt>
              </c:strCache>
            </c:strRef>
          </c:tx>
          <c:spPr>
            <a:solidFill>
              <a:srgbClr val="D9534F"/>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19.5</c:v>
                </c:pt>
                <c:pt idx="1">
                  <c:v>20</c:v>
                </c:pt>
                <c:pt idx="2">
                  <c:v>15.9</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with white noise added (%)</a:t>
            </a:r>
          </a:p>
        </c:rich>
      </c:tx>
      <c:layout/>
      <c:overlay val="0"/>
    </c:title>
    <c:autoTitleDeleted val="0"/>
    <c:plotArea>
      <c:layout/>
      <c:barChart>
        <c:barDir val="col"/>
        <c:grouping val="clustered"/>
        <c:varyColors val="0"/>
        <c:ser>
          <c:idx val="0"/>
          <c:order val="0"/>
          <c:tx>
            <c:strRef>
              <c:f>Sheet1!$B$1</c:f>
              <c:strCache>
                <c:ptCount val="1"/>
                <c:pt idx="0">
                  <c:v>Spoken words, trained clean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80.3</c:v>
                </c:pt>
                <c:pt idx="1">
                  <c:v>72.4</c:v>
                </c:pt>
                <c:pt idx="2">
                  <c:v>58.9</c:v>
                </c:pt>
                <c:pt idx="3">
                  <c:v>47.1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Learning everything at once (%)</a:t>
            </a:r>
          </a:p>
        </c:rich>
      </c:tx>
      <c:layout/>
      <c:overlay val="0"/>
    </c:title>
    <c:autoTitleDeleted val="0"/>
    <c:plotArea>
      <c:layout/>
      <c:barChart>
        <c:barDir val="col"/>
        <c:grouping val="clustered"/>
        <c:varyColors val="0"/>
        <c:ser>
          <c:idx val="0"/>
          <c:order val="0"/>
          <c:tx>
            <c:strRef>
              <c:f>Sheet1!$B$1</c:f>
              <c:strCache>
                <c:ptCount val="1"/>
                <c:pt idx="0">
                  <c:v>SPARK Cortex</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98</c:v>
                </c:pt>
                <c:pt idx="1">
                  <c:v>84.8</c:v>
                </c:pt>
                <c:pt idx="2">
                  <c:v>84.7</c:v>
                </c:pt>
              </c:numCache>
            </c:numRef>
          </c:val>
        </c:ser>
        <c:ser>
          <c:idx val="1"/>
          <c:order val="1"/>
          <c:tx>
            <c:strRef>
              <c:f>Sheet1!$C$1</c:f>
              <c:strCache>
                <c:ptCount val="1"/>
                <c:pt idx="0">
                  <c:v>Network (MLP)</c:v>
                </c:pt>
              </c:strCache>
            </c:strRef>
          </c:tx>
          <c:spPr>
            <a:solidFill>
              <a:srgbClr val="6B7280"/>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97.8</c:v>
                </c:pt>
                <c:pt idx="1">
                  <c:v>87.3</c:v>
                </c:pt>
                <c:pt idx="2">
                  <c:v>85.5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SPARK Cortex is a small chip that learns new things after it has shipped, without forgetting the old ones, and without a multiplier or backpropagation. One promise before we start: every number I show is labelled as simulated, estimated or measured,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five new things in five stages and it keeps only the last stage: 19.5 percent on digits, 20 on clothing, 16 on spoken words (simulated, 5 seeds). The usual fix is to retrain from scratch, which costs energy and, in the end, hardware that is discarded. We asked what a chip would look like if it could keep learning like a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Four things: senses that learn without labels; learning by counting, one example at a time; sleep, where the chip dreams old classes from small counters instead of storing examples; and sharing, because counts can simply be added together. There is no multiplier anywhere in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core result. Learning five stages of two classes each, the chip keeps 95.8 percent on digits, 78.3 on clothing and 82.9 on spoken words, while a network that fine-tunes on each stage drops to roughly a fifth. This is simulated with the exact integer model, five seeds, and the RTL is bit-exact with it. Even one class at a time it holds 93, 79 and 71 percent in the earlier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a failure and redesigned for it: a brand-new class seen only once was almost invisible. The fix is called IMPRINT: when an example looks new, the chip writes its mean code into the table row immediately, then a short sleep of 300 dreams per known class blends it in. Digits go from 54 to 70, clothing 50 to 64, words only 45 to 48. It is implemented in the RTL and checked bit-exact.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 noise-floor stage, the encoder and the learning core, all in RTL and bit-exact with the model. A word-alignment step that shifts each word so its start lands at the same frame lifted accuracy from 71.9 to 82.5 percent all at once, and the chip stays usable in noise: 72 percent at 20 dB, 59 at 10 dB. Sound needs 422 kilobytes of memory, which does not fit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memory is counts, two chips that learned different classes can be merged by adding their counters, or one chip can hand its memory to another that keeps learning. Merge gives 93, 81 and 64 percent; hand-over gives 96, 83 and 72. This is the weight-transfer story: no retraining on a server. The board demo reached 91.4 percent on all ten digits in the bit-exact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It fits a 25-dollar Tang Nano 20K with no hardware multipliers and timing met. Counting only the operations a decision needs, it uses about 74 times less energy than an 8-bit network, an estimate. I want to be careful: the layout estimate is higher, about a fifth of a microjoule per decision, so the honest wording is 74 times less per operation needed, not per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Eighteen bit-exact checks pass between the integer model and the RTL, covering the core, the few-shot fix, the sense layers, the whole sound chain and the board top. We also took it through an open-source SKY130 layout flow; detailed routing ended at one remaining violation at a memory macro edge. That is an estimate, with no sign-off and no fabrication.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All at once, the network is ahead on clothing by two and a half points. Staged clothing is 78 percent; our multi-prototype dreams recover 3 to 4 points but cost two to four times the dream memory. New spoken words from one to five recordings are weak. We tried many fixes and recorded the failures, such as a second sensory layer, wider sound detectors and a shared prototype pool.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Intel's Loihi 2 exist. What is new is the combination: dreams generated from small counters so no examples are stored, a night that ends by itself, no multipliers, and a design that is bit-exact from raw senses to the decision. Against hyperdimensional computing in our own test, after five stages we are ahead on digits by 2.2 and on sound by 5.7 points,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RTL and layout estimate are done. The next milestone is the real board, which gives the first measured numbers. Then we work on the weak spots, learned word features and higher-fidelity dreams for clothing. The horizon is a provable result within six to eight months, with no fabrication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SPARK Cortex is a chip that keeps learning after it ships. It keeps what it knew, shares what it learned, and needs no multiplier. It is weaker than a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SPARK Cortex</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in this deck is labelled SIMULATED, ESTIMATED or MEASURED. Nothing is measured on hardware yet.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network that learns in 5 stages forgets the earlier ones</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15.9%</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spoken words: same test, same forgetting</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Fixing it today means retraining from scratch: more energy, more heat, and hardware that is thrown away when it can no longer be updated. A chip that can learn in the field avoids that.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human brain, as a chip</a:t>
            </a:r>
            <a:endParaRPr lang="en-US" sz="3000" dirty="0"/>
          </a:p>
        </p:txBody>
      </p:sp>
      <p:sp>
        <p:nvSpPr>
          <p:cNvPr id="3" name="card"/>
          <p:cNvSpPr/>
          <p:nvPr/>
        </p:nvSpPr>
        <p:spPr>
          <a:xfrm>
            <a:off x="457200" y="1280160"/>
            <a:ext cx="8229600" cy="731520"/>
          </a:xfrm>
          <a:prstGeom prst="roundRect">
            <a:avLst>
              <a:gd name="adj" fmla="val 12500"/>
            </a:avLst>
          </a:prstGeom>
          <a:solidFill>
            <a:schemeClr val="bg2"/>
          </a:solidFill>
          <a:ln w="12700">
            <a:solidFill>
              <a:schemeClr val="bg2"/>
            </a:solidFill>
            <a:prstDash val="solid"/>
          </a:ln>
        </p:spPr>
      </p:sp>
      <p:sp>
        <p:nvSpPr>
          <p:cNvPr id="4" name="marker"/>
          <p:cNvSpPr/>
          <p:nvPr/>
        </p:nvSpPr>
        <p:spPr>
          <a:xfrm>
            <a:off x="594360" y="141732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594360" y="146304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34440" y="135331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Senses</a:t>
            </a:r>
            <a:endParaRPr lang="en-US" sz="1800" dirty="0"/>
          </a:p>
        </p:txBody>
      </p:sp>
      <p:sp>
        <p:nvSpPr>
          <p:cNvPr id="7" name="Text 5"/>
          <p:cNvSpPr txBox="1"/>
          <p:nvPr/>
        </p:nvSpPr>
        <p:spPr>
          <a:xfrm>
            <a:off x="2926080" y="135331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Eyes and ears turn raw pixels and sound into a sparse code. Detectors learn by themselves, no labels.</a:t>
            </a:r>
            <a:endParaRPr lang="en-US" sz="1400" dirty="0"/>
          </a:p>
        </p:txBody>
      </p:sp>
      <p:sp>
        <p:nvSpPr>
          <p:cNvPr id="8" name="card"/>
          <p:cNvSpPr/>
          <p:nvPr/>
        </p:nvSpPr>
        <p:spPr>
          <a:xfrm>
            <a:off x="457200" y="2148840"/>
            <a:ext cx="8229600" cy="731520"/>
          </a:xfrm>
          <a:prstGeom prst="roundRect">
            <a:avLst>
              <a:gd name="adj" fmla="val 12500"/>
            </a:avLst>
          </a:prstGeom>
          <a:solidFill>
            <a:schemeClr val="bg2"/>
          </a:solidFill>
          <a:ln w="12700">
            <a:solidFill>
              <a:schemeClr val="bg2"/>
            </a:solidFill>
            <a:prstDash val="solid"/>
          </a:ln>
        </p:spPr>
      </p:sp>
      <p:sp>
        <p:nvSpPr>
          <p:cNvPr id="9" name="marker"/>
          <p:cNvSpPr/>
          <p:nvPr/>
        </p:nvSpPr>
        <p:spPr>
          <a:xfrm>
            <a:off x="594360" y="2286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94360" y="233172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234440" y="222199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Learn once</a:t>
            </a:r>
            <a:endParaRPr lang="en-US" sz="1800" dirty="0"/>
          </a:p>
        </p:txBody>
      </p:sp>
      <p:sp>
        <p:nvSpPr>
          <p:cNvPr id="12" name="Text 10"/>
          <p:cNvSpPr txBox="1"/>
          <p:nvPr/>
        </p:nvSpPr>
        <p:spPr>
          <a:xfrm>
            <a:off x="2926080" y="222199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400" dirty="0"/>
          </a:p>
        </p:txBody>
      </p:sp>
      <p:sp>
        <p:nvSpPr>
          <p:cNvPr id="13" name="card"/>
          <p:cNvSpPr/>
          <p:nvPr/>
        </p:nvSpPr>
        <p:spPr>
          <a:xfrm>
            <a:off x="457200" y="3017520"/>
            <a:ext cx="8229600" cy="731520"/>
          </a:xfrm>
          <a:prstGeom prst="roundRect">
            <a:avLst>
              <a:gd name="adj" fmla="val 12500"/>
            </a:avLst>
          </a:prstGeom>
          <a:solidFill>
            <a:schemeClr val="bg2"/>
          </a:solidFill>
          <a:ln w="12700">
            <a:solidFill>
              <a:schemeClr val="bg2"/>
            </a:solidFill>
            <a:prstDash val="solid"/>
          </a:ln>
        </p:spPr>
      </p:sp>
      <p:sp>
        <p:nvSpPr>
          <p:cNvPr id="14" name="marker"/>
          <p:cNvSpPr/>
          <p:nvPr/>
        </p:nvSpPr>
        <p:spPr>
          <a:xfrm>
            <a:off x="594360" y="31546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594360" y="320040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234440" y="309067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Dream and sleep</a:t>
            </a:r>
            <a:endParaRPr lang="en-US" sz="1800" dirty="0"/>
          </a:p>
        </p:txBody>
      </p:sp>
      <p:sp>
        <p:nvSpPr>
          <p:cNvPr id="17" name="Text 15"/>
          <p:cNvSpPr txBox="1"/>
          <p:nvPr/>
        </p:nvSpPr>
        <p:spPr>
          <a:xfrm>
            <a:off x="2926080" y="309067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Old classes are replayed from 10-bit counters, so nothing is stored. The night ends by itself.</a:t>
            </a:r>
            <a:endParaRPr lang="en-US" sz="1400" dirty="0"/>
          </a:p>
        </p:txBody>
      </p:sp>
      <p:sp>
        <p:nvSpPr>
          <p:cNvPr id="18" name="card"/>
          <p:cNvSpPr/>
          <p:nvPr/>
        </p:nvSpPr>
        <p:spPr>
          <a:xfrm>
            <a:off x="457200" y="3886200"/>
            <a:ext cx="8229600" cy="731520"/>
          </a:xfrm>
          <a:prstGeom prst="roundRect">
            <a:avLst>
              <a:gd name="adj" fmla="val 12500"/>
            </a:avLst>
          </a:prstGeom>
          <a:solidFill>
            <a:schemeClr val="bg2"/>
          </a:solidFill>
          <a:ln w="12700">
            <a:solidFill>
              <a:schemeClr val="bg2"/>
            </a:solidFill>
            <a:prstDash val="solid"/>
          </a:ln>
        </p:spPr>
      </p:sp>
      <p:sp>
        <p:nvSpPr>
          <p:cNvPr id="19" name="marker"/>
          <p:cNvSpPr/>
          <p:nvPr/>
        </p:nvSpPr>
        <p:spPr>
          <a:xfrm>
            <a:off x="594360" y="402336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94360" y="406908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1234440" y="395935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Share</a:t>
            </a:r>
            <a:endParaRPr lang="en-US" sz="1800" dirty="0"/>
          </a:p>
        </p:txBody>
      </p:sp>
      <p:sp>
        <p:nvSpPr>
          <p:cNvPr id="22" name="Text 20"/>
          <p:cNvSpPr txBox="1"/>
          <p:nvPr/>
        </p:nvSpPr>
        <p:spPr>
          <a:xfrm>
            <a:off x="2926080" y="395935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 second chip can take over the memory, or two memories merge by adding counts.</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a:t>
            </a:r>
            <a:endParaRPr lang="en-US" sz="1200" dirty="0"/>
          </a:p>
        </p:txBody>
      </p:sp>
      <p:sp>
        <p:nvSpPr>
          <p:cNvPr id="6" name="Text 3"/>
          <p:cNvSpPr txBox="1"/>
          <p:nvPr/>
        </p:nvSpPr>
        <p:spPr>
          <a:xfrm>
            <a:off x="6126480" y="1737360"/>
            <a:ext cx="2377440" cy="13716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Exact integer model of the chip, 5 seeds. The same arithmetic runs in the RTL, checked bit for bit.</a:t>
            </a:r>
            <a:endParaRPr lang="en-US" sz="1400" dirty="0"/>
          </a:p>
        </p:txBody>
      </p:sp>
      <p:sp>
        <p:nvSpPr>
          <p:cNvPr id="7" name="Text 4"/>
          <p:cNvSpPr txBox="1"/>
          <p:nvPr/>
        </p:nvSpPr>
        <p:spPr>
          <a:xfrm>
            <a:off x="6126480" y="3200400"/>
            <a:ext cx="237744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class at a time (10 stages): 93.0 / 78.7 / 71.2 vs a network near 10.</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37360"/>
            <a:ext cx="2377440" cy="1828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novelty-gated imprint raises the table row for the new class at once, then a short sleep blends it in. Old classes stay within 1 to 5 points.</a:t>
            </a:r>
            <a:endParaRPr lang="en-US" sz="1400" dirty="0"/>
          </a:p>
        </p:txBody>
      </p:sp>
      <p:sp>
        <p:nvSpPr>
          <p:cNvPr id="7" name="Text 4"/>
          <p:cNvSpPr txBox="1"/>
          <p:nvPr/>
        </p:nvSpPr>
        <p:spPr>
          <a:xfrm>
            <a:off x="6126480" y="3657600"/>
            <a:ext cx="2377440" cy="8229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Spoken words stay weak: we say so on the limits slide.</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raw sound to word, on the chip</a:t>
            </a:r>
            <a:endParaRPr lang="en-US" sz="3000" dirty="0"/>
          </a:p>
        </p:txBody>
      </p:sp>
      <p:graphicFrame>
        <p:nvGraphicFramePr>
          <p:cNvPr id="3" name="Chart 0" descr=""/>
          <p:cNvGraphicFramePr/>
          <p:nvPr/>
        </p:nvGraphicFramePr>
        <p:xfrm>
          <a:off x="457200" y="118872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394960" y="1280160"/>
            <a:ext cx="3291840" cy="3291840"/>
          </a:xfrm>
          <a:prstGeom prst="roundRect">
            <a:avLst>
              <a:gd name="adj" fmla="val 2778"/>
            </a:avLst>
          </a:prstGeom>
          <a:solidFill>
            <a:schemeClr val="bg2"/>
          </a:solidFill>
          <a:ln w="12700">
            <a:solidFill>
              <a:schemeClr val="bg2"/>
            </a:solidFill>
            <a:prstDash val="solid"/>
          </a:ln>
        </p:spPr>
      </p:sp>
      <p:sp>
        <p:nvSpPr>
          <p:cNvPr id="5" name="Text 2"/>
          <p:cNvSpPr txBox="1"/>
          <p:nvPr/>
        </p:nvSpPr>
        <p:spPr>
          <a:xfrm>
            <a:off x="5577840" y="1417320"/>
            <a:ext cx="292608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5577840" y="178308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71.9 to 82.5 all at once</a:t>
            </a:r>
            <a:endParaRPr lang="en-US" sz="2200" dirty="0"/>
          </a:p>
        </p:txBody>
      </p:sp>
      <p:sp>
        <p:nvSpPr>
          <p:cNvPr id="7" name="Text 4"/>
          <p:cNvSpPr txBox="1"/>
          <p:nvPr/>
        </p:nvSpPr>
        <p:spPr>
          <a:xfrm>
            <a:off x="5577840" y="2331720"/>
            <a:ext cx="2926080" cy="15544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from word alignment: every word is shifted so its start lands at the same frame. Samples, cochlea, encoder and core run as one bit-exact chain.</a:t>
            </a:r>
            <a:endParaRPr lang="en-US" sz="1400" dirty="0"/>
          </a:p>
        </p:txBody>
      </p:sp>
      <p:sp>
        <p:nvSpPr>
          <p:cNvPr id="8" name="Text 5"/>
          <p:cNvSpPr txBox="1"/>
          <p:nvPr/>
        </p:nvSpPr>
        <p:spPr>
          <a:xfrm>
            <a:off x="5577840" y="3840480"/>
            <a:ext cx="292608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Needs 422 KB of memory for sound (PSRAM or an ASIC), so not on the Tang Nano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Knowledge moves between chips</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37360"/>
            <a:ext cx="2377440" cy="25603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Two chips trained on different classes merge by adding their counters. A board demo design reached 91.4% on all ten digits after one night (bit-exact design, PC-side emulator).</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137x smaller than our first version</a:t>
            </a:r>
            <a:endParaRPr lang="en-US" sz="1300" dirty="0"/>
          </a:p>
        </p:txBody>
      </p:sp>
      <p:sp>
        <p:nvSpPr>
          <p:cNvPr id="6" name="Text 4"/>
          <p:cNvSpPr txBox="1"/>
          <p:nvPr/>
        </p:nvSpPr>
        <p:spPr>
          <a:xfrm>
            <a:off x="640080" y="245059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used on the $25 Tang Nano 20K (89% logic, 46/46 block RAM)</a:t>
            </a:r>
            <a:endParaRPr lang="en-US" sz="1300" dirty="0"/>
          </a:p>
        </p:txBody>
      </p:sp>
      <p:sp>
        <p:nvSpPr>
          <p:cNvPr id="10" name="Text 8"/>
          <p:cNvSpPr txBox="1"/>
          <p:nvPr/>
        </p:nvSpPr>
        <p:spPr>
          <a:xfrm>
            <a:off x="4846320" y="245059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&lt; 1 mm2</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SKY130 logic area; 18.8 mm2 with open SRAM macros</a:t>
            </a:r>
            <a:endParaRPr lang="en-US" sz="1300" dirty="0"/>
          </a:p>
        </p:txBody>
      </p:sp>
      <p:sp>
        <p:nvSpPr>
          <p:cNvPr id="18" name="Text 16"/>
          <p:cNvSpPr txBox="1"/>
          <p:nvPr/>
        </p:nvSpPr>
        <p:spPr>
          <a:xfrm>
            <a:off x="4846320" y="414223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still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18 / 18</a:t>
            </a:r>
            <a:endParaRPr lang="en-US" sz="5400" dirty="0"/>
          </a:p>
        </p:txBody>
      </p:sp>
      <p:sp>
        <p:nvSpPr>
          <p:cNvPr id="5" name="Text 3"/>
          <p:cNvSpPr txBox="1"/>
          <p:nvPr/>
        </p:nvSpPr>
        <p:spPr>
          <a:xfrm>
            <a:off x="640080" y="2514600"/>
            <a:ext cx="365760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RTL checks pass with 0 mismatches against the integer model: core, IMPRINT, encoder, learning detectors, cochlea, whole sound chain, board top, host schedule.</a:t>
            </a:r>
            <a:endParaRPr lang="en-US" sz="1400" dirty="0"/>
          </a:p>
        </p:txBody>
      </p:sp>
      <p:sp>
        <p:nvSpPr>
          <p:cNvPr id="6" name="Text 4"/>
          <p:cNvSpPr txBox="1"/>
          <p:nvPr/>
        </p:nvSpPr>
        <p:spPr>
          <a:xfrm>
            <a:off x="640080" y="406908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violation left in detailed routing of the SKY130 layout (from 174,309 on the first pass). The last one is a power-versus-signal short at a memory macro edge.</a:t>
            </a:r>
            <a:endParaRPr lang="en-US" sz="1400" dirty="0"/>
          </a:p>
        </p:txBody>
      </p:sp>
      <p:sp>
        <p:nvSpPr>
          <p:cNvPr id="10" name="Text 8"/>
          <p:cNvSpPr txBox="1"/>
          <p:nvPr/>
        </p:nvSpPr>
        <p:spPr>
          <a:xfrm>
            <a:off x="4846320" y="406908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weaker, and what we did about it</a:t>
            </a:r>
            <a:endParaRPr lang="en-US" sz="3000" dirty="0"/>
          </a:p>
        </p:txBody>
      </p:sp>
      <p:graphicFrame>
        <p:nvGraphicFramePr>
          <p:cNvPr id="3" name="Chart 0" descr=""/>
          <p:cNvGraphicFramePr/>
          <p:nvPr/>
        </p:nvGraphicFramePr>
        <p:xfrm>
          <a:off x="457200" y="118872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846320" y="1280160"/>
            <a:ext cx="3840480"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Clothing: 2.5 points behind the network</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Staged clothing 78%; multi-prototype dreams reach 81 to 82 for 2 to 4x dream memory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New spoken words from 1 to 5 recordings: only 12 to 29%</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Nothing measured on hardware yet; board run is next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Hyperdimensional-computing accelerators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Intel Loihi 2 (continual learning on spiking cores)</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Replay-based continual learning</a:t>
            </a:r>
            <a:endParaRPr lang="en-US" sz="14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generated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No multiplier, bit-exact from raw senses to decision</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Ahead of HDC in our test after 5 stages: digits +2.2, sound +5.7</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Done</a:t>
            </a:r>
            <a:endParaRPr lang="en-US" sz="2000" dirty="0"/>
          </a:p>
        </p:txBody>
      </p:sp>
      <p:sp>
        <p:nvSpPr>
          <p:cNvPr id="7" name="Text 5"/>
          <p:cNvSpPr txBox="1"/>
          <p:nvPr/>
        </p:nvSpPr>
        <p:spPr>
          <a:xfrm>
            <a:off x="59436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Model, RTL, 18 checks, FPGA fit, SKY130 layout estimate</a:t>
            </a:r>
            <a:endParaRPr lang="en-US" sz="13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Next</a:t>
            </a:r>
            <a:endParaRPr lang="en-US" sz="2000" dirty="0"/>
          </a:p>
        </p:txBody>
      </p:sp>
      <p:sp>
        <p:nvSpPr>
          <p:cNvPr id="12" name="Text 10"/>
          <p:cNvSpPr txBox="1"/>
          <p:nvPr/>
        </p:nvSpPr>
        <p:spPr>
          <a:xfrm>
            <a:off x="269748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First run on the real Tang Nano: the first MEASURED numbers</a:t>
            </a:r>
            <a:endParaRPr lang="en-US" sz="13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Then</a:t>
            </a:r>
            <a:endParaRPr lang="en-US" sz="2000" dirty="0"/>
          </a:p>
        </p:txBody>
      </p:sp>
      <p:sp>
        <p:nvSpPr>
          <p:cNvPr id="17" name="Text 15"/>
          <p:cNvSpPr txBox="1"/>
          <p:nvPr/>
        </p:nvSpPr>
        <p:spPr>
          <a:xfrm>
            <a:off x="480060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Learned word features, higher-fidelity dreams for clothing</a:t>
            </a:r>
            <a:endParaRPr lang="en-US" sz="13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Later</a:t>
            </a:r>
            <a:endParaRPr lang="en-US" sz="2000" dirty="0"/>
          </a:p>
        </p:txBody>
      </p:sp>
      <p:sp>
        <p:nvSpPr>
          <p:cNvPr id="22" name="Text 20"/>
          <p:cNvSpPr txBox="1"/>
          <p:nvPr/>
        </p:nvSpPr>
        <p:spPr>
          <a:xfrm>
            <a:off x="690372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Write-up, demo video, area and power estimates; no fabrication yet</a:t>
            </a:r>
            <a:endParaRPr lang="en-US" sz="13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SPARK Cortex">
  <a:themeElements>
    <a:clrScheme name="SPARK Cortex">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SPARK Corte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 Cortex</dc:title>
  <dc:subject>PptxGenJS Presentation</dc:subject>
  <dc:creator>L Lawliet (Navin), CKCET</dc:creator>
  <cp:lastModifiedBy>L Lawliet (Navin), CKCET</cp:lastModifiedBy>
  <cp:revision>1</cp:revision>
  <dcterms:created xsi:type="dcterms:W3CDTF">2026-10-18T07:22:36Z</dcterms:created>
  <dcterms:modified xsi:type="dcterms:W3CDTF">2026-10-18T07:22:36Z</dcterms:modified>
</cp:coreProperties>
</file>