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charts/chart2.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charts/chart3.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4.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5.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 id="{d8b01e66-b0c3-46af-5749-c53bde4f0a86}">
          <p14:sldIdLst>
            <p14:sldId id="256"/>
          </p14:sldIdLst>
        </p14:section>
        <p14:section name="Why" id="{e01091c0-15ce-5c6e-84ac-33f71de45590}">
          <p14:sldIdLst>
            <p14:sldId id="257"/>
            <p14:sldId id="258"/>
          </p14:sldIdLst>
        </p14:section>
        <p14:section name="Results" id="{c0806cc5-b510-8d53-23f3-29c8e491ecf9}">
          <p14:sldIdLst>
            <p14:sldId id="259"/>
            <p14:sldId id="260"/>
            <p14:sldId id="261"/>
            <p14:sldId id="262"/>
            <p14:sldId id="263"/>
          </p14:sldIdLst>
        </p14:section>
        <p14:section name="Build" id="{1ed1e07d-2e6d-decb-a96c-2e9776809944}">
          <p14:sldIdLst>
            <p14:sldId id="264"/>
            <p14:sldId id="265"/>
          </p14:sldIdLst>
        </p14:section>
        <p14:section name="Honest" id="{dddec663-b004-8c63-3073-87fa44dfc3ac}">
          <p14:sldIdLst>
            <p14:sldId id="266"/>
            <p14:sldId id="267"/>
          </p14:sldIdLst>
        </p14:section>
        <p14:section name="Next" id="{e8239c99-7577-7e9b-580f-34eace7072cf}">
          <p14:sldIdLst>
            <p14:sldId id="268"/>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51A3D"/>
                </a:solidFill>
                <a:latin typeface="+mn-lt"/>
              </a:defRPr>
            </a:pPr>
            <a:r>
              <a:rPr sz="1400" b="0" i="0" u="none" strike="noStrike">
                <a:solidFill>
                  <a:srgbClr val="151A3D"/>
                </a:solidFill>
                <a:latin typeface="+mn-lt"/>
              </a:rPr>
              <a:t>Accuracy on all classes after 5 stages (%)</a:t>
            </a:r>
          </a:p>
        </c:rich>
      </c:tx>
      <c:layout/>
      <c:overlay val="0"/>
    </c:title>
    <c:autoTitleDeleted val="0"/>
    <c:plotArea>
      <c:layout/>
      <c:barChart>
        <c:barDir val="col"/>
        <c:grouping val="clustered"/>
        <c:varyColors val="0"/>
        <c:ser>
          <c:idx val="0"/>
          <c:order val="0"/>
          <c:tx>
            <c:strRef>
              <c:f>Sheet1!$B$1</c:f>
              <c:strCache>
                <c:ptCount val="1"/>
                <c:pt idx="0">
                  <c:v>SPARK Cortex (slow-table option)</c:v>
                </c:pt>
              </c:strCache>
            </c:strRef>
          </c:tx>
          <c:spPr>
            <a:solidFill>
              <a:srgbClr val="5B6BD6"/>
            </a:solidFill>
            <a:effectLst/>
          </c:spPr>
          <c:invertIfNegative val="0"/>
          <c:dLbls>
            <c:numFmt formatCode="0.0" sourceLinked="0"/>
            <c:txPr>
              <a:bodyPr/>
              <a:lstStyle/>
              <a:p>
                <a:pPr>
                  <a:defRPr b="0" i="0" strike="noStrike" sz="1100" u="none">
                    <a:solidFill>
                      <a:srgbClr val="151A3D"/>
                    </a:solidFill>
                    <a:latin typeface="+mn-lt"/>
                  </a:defRPr>
                </a:pPr>
              </a:p>
            </c:txPr>
            <c:showLegendKey val="0"/>
            <c:showVal val="1"/>
            <c:showCatName val="0"/>
            <c:showSerName val="0"/>
            <c:showPercent val="0"/>
            <c:showBubbleSize val="0"/>
            <c:showLeaderLines val="0"/>
          </c:dLbls>
          <c:cat>
            <c:multiLvlStrRef>
              <c:f>Sheet1!$A$2:$A$4</c:f>
              <c:multiLvlStrCache>
                <c:ptCount val="3"/>
                <c:lvl>
                  <c:pt idx="0">
                    <c:v>digits</c:v>
                  </c:pt>
                  <c:pt idx="1">
                    <c:v>clothing</c:v>
                  </c:pt>
                  <c:pt idx="2">
                    <c:v>spoken words</c:v>
                  </c:pt>
                </c:lvl>
              </c:multiLvlStrCache>
            </c:multiLvlStrRef>
          </c:cat>
          <c:val>
            <c:numRef>
              <c:f>Sheet1!$B$2:$B$4</c:f>
              <c:numCache>
                <c:formatCode>General</c:formatCode>
                <c:ptCount val="3"/>
                <c:pt idx="0">
                  <c:v>95.9</c:v>
                </c:pt>
                <c:pt idx="1">
                  <c:v>81.4</c:v>
                </c:pt>
                <c:pt idx="2">
                  <c:v>83.6</c:v>
                </c:pt>
              </c:numCache>
            </c:numRef>
          </c:val>
        </c:ser>
        <c:ser>
          <c:idx val="1"/>
          <c:order val="1"/>
          <c:tx>
            <c:strRef>
              <c:f>Sheet1!$C$1</c:f>
              <c:strCache>
                <c:ptCount val="1"/>
                <c:pt idx="0">
                  <c:v>Network (forgets)</c:v>
                </c:pt>
              </c:strCache>
            </c:strRef>
          </c:tx>
          <c:spPr>
            <a:solidFill>
              <a:srgbClr val="D9534F"/>
            </a:solidFill>
            <a:effectLst/>
          </c:spPr>
          <c:invertIfNegative val="0"/>
          <c:dLbls>
            <c:numFmt formatCode="0.0" sourceLinked="0"/>
            <c:txPr>
              <a:bodyPr/>
              <a:lstStyle/>
              <a:p>
                <a:pPr>
                  <a:defRPr b="0" i="0" strike="noStrike" sz="1100" u="none">
                    <a:solidFill>
                      <a:srgbClr val="151A3D"/>
                    </a:solidFill>
                    <a:latin typeface="+mn-lt"/>
                  </a:defRPr>
                </a:pPr>
              </a:p>
            </c:txPr>
            <c:showLegendKey val="0"/>
            <c:showVal val="1"/>
            <c:showCatName val="0"/>
            <c:showSerName val="0"/>
            <c:showPercent val="0"/>
            <c:showBubbleSize val="0"/>
            <c:showLeaderLines val="0"/>
          </c:dLbls>
          <c:cat>
            <c:multiLvlStrRef>
              <c:f>Sheet1!$A$2:$A$4</c:f>
              <c:multiLvlStrCache>
                <c:ptCount val="3"/>
                <c:lvl>
                  <c:pt idx="0">
                    <c:v>digits</c:v>
                  </c:pt>
                  <c:pt idx="1">
                    <c:v>clothing</c:v>
                  </c:pt>
                  <c:pt idx="2">
                    <c:v>spoken words</c:v>
                  </c:pt>
                </c:lvl>
              </c:multiLvlStrCache>
            </c:multiLvlStrRef>
          </c:cat>
          <c:val>
            <c:numRef>
              <c:f>Sheet1!$C$2:$C$4</c:f>
              <c:numCache>
                <c:formatCode>General</c:formatCode>
                <c:ptCount val="3"/>
                <c:pt idx="0">
                  <c:v>19.5</c:v>
                </c:pt>
                <c:pt idx="1">
                  <c:v>20</c:v>
                </c:pt>
                <c:pt idx="2">
                  <c:v>15.9</c:v>
                </c:pt>
              </c:numCache>
            </c:numRef>
          </c:val>
        </c:ser>
        <c:dLbls>
          <c:numFmt formatCode="0.0" sourceLinked="0"/>
          <c:txPr>
            <a:bodyPr/>
            <a:lstStyle/>
            <a:p>
              <a:pPr>
                <a:defRPr b="0" i="0" strike="noStrike" sz="1100" u="none">
                  <a:solidFill>
                    <a:srgbClr val="151A3D"/>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2B3270"/>
                </a:solidFill>
                <a:latin typeface="+mn-lt"/>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6350" cap="flat">
              <a:solidFill>
                <a:srgbClr val="DDE0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B7280"/>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2B3270"/>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51A3D"/>
                </a:solidFill>
                <a:latin typeface="+mn-lt"/>
              </a:defRPr>
            </a:pPr>
            <a:r>
              <a:rPr sz="1400" b="0" i="0" u="none" strike="noStrike">
                <a:solidFill>
                  <a:srgbClr val="151A3D"/>
                </a:solidFill>
                <a:latin typeface="+mn-lt"/>
              </a:rPr>
              <a:t>Accuracy on all 10 classes, 1 example per new class (%)</a:t>
            </a:r>
          </a:p>
        </c:rich>
      </c:tx>
      <c:layout/>
      <c:overlay val="0"/>
    </c:title>
    <c:autoTitleDeleted val="0"/>
    <c:plotArea>
      <c:layout/>
      <c:barChart>
        <c:barDir val="col"/>
        <c:grouping val="clustered"/>
        <c:varyColors val="0"/>
        <c:ser>
          <c:idx val="0"/>
          <c:order val="0"/>
          <c:tx>
            <c:strRef>
              <c:f>Sheet1!$B$1</c:f>
              <c:strCache>
                <c:ptCount val="1"/>
                <c:pt idx="0">
                  <c:v>Before the fix</c:v>
                </c:pt>
              </c:strCache>
            </c:strRef>
          </c:tx>
          <c:spPr>
            <a:solidFill>
              <a:srgbClr val="8A93C9"/>
            </a:solidFill>
            <a:effectLst/>
          </c:spPr>
          <c:invertIfNegative val="0"/>
          <c:dLbls>
            <c:numFmt formatCode="0.0" sourceLinked="0"/>
            <c:txPr>
              <a:bodyPr/>
              <a:lstStyle/>
              <a:p>
                <a:pPr>
                  <a:defRPr b="0" i="0" strike="noStrike" sz="1100" u="none">
                    <a:solidFill>
                      <a:srgbClr val="151A3D"/>
                    </a:solidFill>
                    <a:latin typeface="+mn-lt"/>
                  </a:defRPr>
                </a:pPr>
              </a:p>
            </c:txPr>
            <c:showLegendKey val="0"/>
            <c:showVal val="1"/>
            <c:showCatName val="0"/>
            <c:showSerName val="0"/>
            <c:showPercent val="0"/>
            <c:showBubbleSize val="0"/>
            <c:showLeaderLines val="0"/>
          </c:dLbls>
          <c:cat>
            <c:multiLvlStrRef>
              <c:f>Sheet1!$A$2:$A$4</c:f>
              <c:multiLvlStrCache>
                <c:ptCount val="3"/>
                <c:lvl>
                  <c:pt idx="0">
                    <c:v>digits</c:v>
                  </c:pt>
                  <c:pt idx="1">
                    <c:v>clothing</c:v>
                  </c:pt>
                  <c:pt idx="2">
                    <c:v>spoken words</c:v>
                  </c:pt>
                </c:lvl>
              </c:multiLvlStrCache>
            </c:multiLvlStrRef>
          </c:cat>
          <c:val>
            <c:numRef>
              <c:f>Sheet1!$B$2:$B$4</c:f>
              <c:numCache>
                <c:formatCode>General</c:formatCode>
                <c:ptCount val="3"/>
                <c:pt idx="0">
                  <c:v>54.1</c:v>
                </c:pt>
                <c:pt idx="1">
                  <c:v>49.7</c:v>
                </c:pt>
                <c:pt idx="2">
                  <c:v>45.2</c:v>
                </c:pt>
              </c:numCache>
            </c:numRef>
          </c:val>
        </c:ser>
        <c:ser>
          <c:idx val="1"/>
          <c:order val="1"/>
          <c:tx>
            <c:strRef>
              <c:f>Sheet1!$C$1</c:f>
              <c:strCache>
                <c:ptCount val="1"/>
                <c:pt idx="0">
                  <c:v>With IMPRINT + short sleep</c:v>
                </c:pt>
              </c:strCache>
            </c:strRef>
          </c:tx>
          <c:spPr>
            <a:solidFill>
              <a:srgbClr val="F2A93B"/>
            </a:solidFill>
            <a:effectLst/>
          </c:spPr>
          <c:invertIfNegative val="0"/>
          <c:dLbls>
            <c:numFmt formatCode="0.0" sourceLinked="0"/>
            <c:txPr>
              <a:bodyPr/>
              <a:lstStyle/>
              <a:p>
                <a:pPr>
                  <a:defRPr b="0" i="0" strike="noStrike" sz="1100" u="none">
                    <a:solidFill>
                      <a:srgbClr val="151A3D"/>
                    </a:solidFill>
                    <a:latin typeface="+mn-lt"/>
                  </a:defRPr>
                </a:pPr>
              </a:p>
            </c:txPr>
            <c:showLegendKey val="0"/>
            <c:showVal val="1"/>
            <c:showCatName val="0"/>
            <c:showSerName val="0"/>
            <c:showPercent val="0"/>
            <c:showBubbleSize val="0"/>
            <c:showLeaderLines val="0"/>
          </c:dLbls>
          <c:cat>
            <c:multiLvlStrRef>
              <c:f>Sheet1!$A$2:$A$4</c:f>
              <c:multiLvlStrCache>
                <c:ptCount val="3"/>
                <c:lvl>
                  <c:pt idx="0">
                    <c:v>digits</c:v>
                  </c:pt>
                  <c:pt idx="1">
                    <c:v>clothing</c:v>
                  </c:pt>
                  <c:pt idx="2">
                    <c:v>spoken words</c:v>
                  </c:pt>
                </c:lvl>
              </c:multiLvlStrCache>
            </c:multiLvlStrRef>
          </c:cat>
          <c:val>
            <c:numRef>
              <c:f>Sheet1!$C$2:$C$4</c:f>
              <c:numCache>
                <c:formatCode>General</c:formatCode>
                <c:ptCount val="3"/>
                <c:pt idx="0">
                  <c:v>69.9</c:v>
                </c:pt>
                <c:pt idx="1">
                  <c:v>64</c:v>
                </c:pt>
                <c:pt idx="2">
                  <c:v>48.3</c:v>
                </c:pt>
              </c:numCache>
            </c:numRef>
          </c:val>
        </c:ser>
        <c:dLbls>
          <c:numFmt formatCode="0.0" sourceLinked="0"/>
          <c:txPr>
            <a:bodyPr/>
            <a:lstStyle/>
            <a:p>
              <a:pPr>
                <a:defRPr b="0" i="0" strike="noStrike" sz="1100" u="none">
                  <a:solidFill>
                    <a:srgbClr val="151A3D"/>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2B3270"/>
                </a:solidFill>
                <a:latin typeface="+mn-lt"/>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6350" cap="flat">
              <a:solidFill>
                <a:srgbClr val="DDE0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B7280"/>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2B3270"/>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51A3D"/>
                </a:solidFill>
                <a:latin typeface="+mn-lt"/>
              </a:defRPr>
            </a:pPr>
            <a:r>
              <a:rPr sz="1400" b="0" i="0" u="none" strike="noStrike">
                <a:solidFill>
                  <a:srgbClr val="151A3D"/>
                </a:solidFill>
                <a:latin typeface="+mn-lt"/>
              </a:rPr>
              <a:t>Accuracy with white noise added (%)</a:t>
            </a:r>
          </a:p>
        </c:rich>
      </c:tx>
      <c:layout/>
      <c:overlay val="0"/>
    </c:title>
    <c:autoTitleDeleted val="0"/>
    <c:plotArea>
      <c:layout/>
      <c:barChart>
        <c:barDir val="col"/>
        <c:grouping val="clustered"/>
        <c:varyColors val="0"/>
        <c:ser>
          <c:idx val="0"/>
          <c:order val="0"/>
          <c:tx>
            <c:strRef>
              <c:f>Sheet1!$B$1</c:f>
              <c:strCache>
                <c:ptCount val="1"/>
                <c:pt idx="0">
                  <c:v>Spoken words, trained clean</c:v>
                </c:pt>
              </c:strCache>
            </c:strRef>
          </c:tx>
          <c:spPr>
            <a:solidFill>
              <a:srgbClr val="2FA37A"/>
            </a:solidFill>
            <a:effectLst/>
          </c:spPr>
          <c:invertIfNegative val="0"/>
          <c:dLbls>
            <c:numFmt formatCode="0.0" sourceLinked="0"/>
            <c:txPr>
              <a:bodyPr/>
              <a:lstStyle/>
              <a:p>
                <a:pPr>
                  <a:defRPr b="0" i="0" strike="noStrike" sz="1100" u="none">
                    <a:solidFill>
                      <a:srgbClr val="151A3D"/>
                    </a:solidFill>
                    <a:latin typeface="+mn-lt"/>
                  </a:defRPr>
                </a:pPr>
              </a:p>
            </c:txPr>
            <c:showLegendKey val="0"/>
            <c:showVal val="1"/>
            <c:showCatName val="0"/>
            <c:showSerName val="0"/>
            <c:showPercent val="0"/>
            <c:showBubbleSize val="0"/>
            <c:showLeaderLines val="0"/>
          </c:dLbls>
          <c:cat>
            <c:multiLvlStrRef>
              <c:f>Sheet1!$A$2:$A$5</c:f>
              <c:multiLvlStrCache>
                <c:ptCount val="4"/>
                <c:lvl>
                  <c:pt idx="0">
                    <c:v>clean</c:v>
                  </c:pt>
                  <c:pt idx="1">
                    <c:v>20 dB</c:v>
                  </c:pt>
                  <c:pt idx="2">
                    <c:v>10 dB</c:v>
                  </c:pt>
                  <c:pt idx="3">
                    <c:v>5 dB</c:v>
                  </c:pt>
                </c:lvl>
              </c:multiLvlStrCache>
            </c:multiLvlStrRef>
          </c:cat>
          <c:val>
            <c:numRef>
              <c:f>Sheet1!$B$2:$B$5</c:f>
              <c:numCache>
                <c:formatCode>General</c:formatCode>
                <c:ptCount val="4"/>
                <c:pt idx="0">
                  <c:v>80.3</c:v>
                </c:pt>
                <c:pt idx="1">
                  <c:v>72.4</c:v>
                </c:pt>
                <c:pt idx="2">
                  <c:v>58.9</c:v>
                </c:pt>
                <c:pt idx="3">
                  <c:v>47.1</c:v>
                </c:pt>
              </c:numCache>
            </c:numRef>
          </c:val>
        </c:ser>
        <c:dLbls>
          <c:numFmt formatCode="0.0" sourceLinked="0"/>
          <c:txPr>
            <a:bodyPr/>
            <a:lstStyle/>
            <a:p>
              <a:pPr>
                <a:defRPr b="0" i="0" strike="noStrike" sz="1100" u="none">
                  <a:solidFill>
                    <a:srgbClr val="151A3D"/>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2B3270"/>
                </a:solidFill>
                <a:latin typeface="+mn-lt"/>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6350" cap="flat">
              <a:solidFill>
                <a:srgbClr val="DDE0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B7280"/>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51A3D"/>
                </a:solidFill>
                <a:latin typeface="+mn-lt"/>
              </a:defRPr>
            </a:pPr>
            <a:r>
              <a:rPr sz="1400" b="0" i="0" u="none" strike="noStrike">
                <a:solidFill>
                  <a:srgbClr val="151A3D"/>
                </a:solidFill>
                <a:latin typeface="+mn-lt"/>
              </a:rPr>
              <a:t>Accuracy after moving knowledge (%)</a:t>
            </a:r>
          </a:p>
        </c:rich>
      </c:tx>
      <c:layout/>
      <c:overlay val="0"/>
    </c:title>
    <c:autoTitleDeleted val="0"/>
    <c:plotArea>
      <c:layout/>
      <c:barChart>
        <c:barDir val="col"/>
        <c:grouping val="clustered"/>
        <c:varyColors val="0"/>
        <c:ser>
          <c:idx val="0"/>
          <c:order val="0"/>
          <c:tx>
            <c:strRef>
              <c:f>Sheet1!$B$1</c:f>
              <c:strCache>
                <c:ptCount val="1"/>
                <c:pt idx="0">
                  <c:v>Merge two chips</c:v>
                </c:pt>
              </c:strCache>
            </c:strRef>
          </c:tx>
          <c:spPr>
            <a:solidFill>
              <a:srgbClr val="8A93C9"/>
            </a:solidFill>
            <a:effectLst/>
          </c:spPr>
          <c:invertIfNegative val="0"/>
          <c:dLbls>
            <c:numFmt formatCode="0.0" sourceLinked="0"/>
            <c:txPr>
              <a:bodyPr/>
              <a:lstStyle/>
              <a:p>
                <a:pPr>
                  <a:defRPr b="0" i="0" strike="noStrike" sz="1100" u="none">
                    <a:solidFill>
                      <a:srgbClr val="151A3D"/>
                    </a:solidFill>
                    <a:latin typeface="+mn-lt"/>
                  </a:defRPr>
                </a:pPr>
              </a:p>
            </c:txPr>
            <c:showLegendKey val="0"/>
            <c:showVal val="1"/>
            <c:showCatName val="0"/>
            <c:showSerName val="0"/>
            <c:showPercent val="0"/>
            <c:showBubbleSize val="0"/>
            <c:showLeaderLines val="0"/>
          </c:dLbls>
          <c:cat>
            <c:multiLvlStrRef>
              <c:f>Sheet1!$A$2:$A$4</c:f>
              <c:multiLvlStrCache>
                <c:ptCount val="3"/>
                <c:lvl>
                  <c:pt idx="0">
                    <c:v>digits</c:v>
                  </c:pt>
                  <c:pt idx="1">
                    <c:v>clothing</c:v>
                  </c:pt>
                  <c:pt idx="2">
                    <c:v>spoken words</c:v>
                  </c:pt>
                </c:lvl>
              </c:multiLvlStrCache>
            </c:multiLvlStrRef>
          </c:cat>
          <c:val>
            <c:numRef>
              <c:f>Sheet1!$B$2:$B$4</c:f>
              <c:numCache>
                <c:formatCode>General</c:formatCode>
                <c:ptCount val="3"/>
                <c:pt idx="0">
                  <c:v>93.3</c:v>
                </c:pt>
                <c:pt idx="1">
                  <c:v>81.4</c:v>
                </c:pt>
                <c:pt idx="2">
                  <c:v>64.3</c:v>
                </c:pt>
              </c:numCache>
            </c:numRef>
          </c:val>
        </c:ser>
        <c:ser>
          <c:idx val="1"/>
          <c:order val="1"/>
          <c:tx>
            <c:strRef>
              <c:f>Sheet1!$C$1</c:f>
              <c:strCache>
                <c:ptCount val="1"/>
                <c:pt idx="0">
                  <c:v>Hand-over, then learn on</c:v>
                </c:pt>
              </c:strCache>
            </c:strRef>
          </c:tx>
          <c:spPr>
            <a:solidFill>
              <a:srgbClr val="5B6BD6"/>
            </a:solidFill>
            <a:effectLst/>
          </c:spPr>
          <c:invertIfNegative val="0"/>
          <c:dLbls>
            <c:numFmt formatCode="0.0" sourceLinked="0"/>
            <c:txPr>
              <a:bodyPr/>
              <a:lstStyle/>
              <a:p>
                <a:pPr>
                  <a:defRPr b="0" i="0" strike="noStrike" sz="1100" u="none">
                    <a:solidFill>
                      <a:srgbClr val="151A3D"/>
                    </a:solidFill>
                    <a:latin typeface="+mn-lt"/>
                  </a:defRPr>
                </a:pPr>
              </a:p>
            </c:txPr>
            <c:showLegendKey val="0"/>
            <c:showVal val="1"/>
            <c:showCatName val="0"/>
            <c:showSerName val="0"/>
            <c:showPercent val="0"/>
            <c:showBubbleSize val="0"/>
            <c:showLeaderLines val="0"/>
          </c:dLbls>
          <c:cat>
            <c:multiLvlStrRef>
              <c:f>Sheet1!$A$2:$A$4</c:f>
              <c:multiLvlStrCache>
                <c:ptCount val="3"/>
                <c:lvl>
                  <c:pt idx="0">
                    <c:v>digits</c:v>
                  </c:pt>
                  <c:pt idx="1">
                    <c:v>clothing</c:v>
                  </c:pt>
                  <c:pt idx="2">
                    <c:v>spoken words</c:v>
                  </c:pt>
                </c:lvl>
              </c:multiLvlStrCache>
            </c:multiLvlStrRef>
          </c:cat>
          <c:val>
            <c:numRef>
              <c:f>Sheet1!$C$2:$C$4</c:f>
              <c:numCache>
                <c:formatCode>General</c:formatCode>
                <c:ptCount val="3"/>
                <c:pt idx="0">
                  <c:v>95.6</c:v>
                </c:pt>
                <c:pt idx="1">
                  <c:v>82.7</c:v>
                </c:pt>
                <c:pt idx="2">
                  <c:v>71.6</c:v>
                </c:pt>
              </c:numCache>
            </c:numRef>
          </c:val>
        </c:ser>
        <c:dLbls>
          <c:numFmt formatCode="0.0" sourceLinked="0"/>
          <c:txPr>
            <a:bodyPr/>
            <a:lstStyle/>
            <a:p>
              <a:pPr>
                <a:defRPr b="0" i="0" strike="noStrike" sz="1100" u="none">
                  <a:solidFill>
                    <a:srgbClr val="151A3D"/>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2B3270"/>
                </a:solidFill>
                <a:latin typeface="+mn-lt"/>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6350" cap="flat">
              <a:solidFill>
                <a:srgbClr val="DDE0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B7280"/>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2B3270"/>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51A3D"/>
                </a:solidFill>
                <a:latin typeface="+mn-lt"/>
              </a:defRPr>
            </a:pPr>
            <a:r>
              <a:rPr sz="1400" b="0" i="0" u="none" strike="noStrike">
                <a:solidFill>
                  <a:srgbClr val="151A3D"/>
                </a:solidFill>
                <a:latin typeface="+mn-lt"/>
              </a:rPr>
              <a:t>All at once, chip with LOOK AGAIN (%)</a:t>
            </a:r>
          </a:p>
        </c:rich>
      </c:tx>
      <c:layout/>
      <c:overlay val="0"/>
    </c:title>
    <c:autoTitleDeleted val="0"/>
    <c:plotArea>
      <c:layout/>
      <c:barChart>
        <c:barDir val="col"/>
        <c:grouping val="clustered"/>
        <c:varyColors val="0"/>
        <c:ser>
          <c:idx val="0"/>
          <c:order val="0"/>
          <c:tx>
            <c:strRef>
              <c:f>Sheet1!$B$1</c:f>
              <c:strCache>
                <c:ptCount val="1"/>
                <c:pt idx="0">
                  <c:v>SPARK Cortex (slow-table option)</c:v>
                </c:pt>
              </c:strCache>
            </c:strRef>
          </c:tx>
          <c:spPr>
            <a:solidFill>
              <a:srgbClr val="5B6BD6"/>
            </a:solidFill>
            <a:effectLst/>
          </c:spPr>
          <c:invertIfNegative val="0"/>
          <c:dLbls>
            <c:numFmt formatCode="0.0" sourceLinked="0"/>
            <c:txPr>
              <a:bodyPr/>
              <a:lstStyle/>
              <a:p>
                <a:pPr>
                  <a:defRPr b="0" i="0" strike="noStrike" sz="1100" u="none">
                    <a:solidFill>
                      <a:srgbClr val="151A3D"/>
                    </a:solidFill>
                    <a:latin typeface="+mn-lt"/>
                  </a:defRPr>
                </a:pPr>
              </a:p>
            </c:txPr>
            <c:showLegendKey val="0"/>
            <c:showVal val="1"/>
            <c:showCatName val="0"/>
            <c:showSerName val="0"/>
            <c:showPercent val="0"/>
            <c:showBubbleSize val="0"/>
            <c:showLeaderLines val="0"/>
          </c:dLbls>
          <c:cat>
            <c:multiLvlStrRef>
              <c:f>Sheet1!$A$2:$A$4</c:f>
              <c:multiLvlStrCache>
                <c:ptCount val="3"/>
                <c:lvl>
                  <c:pt idx="0">
                    <c:v>digits</c:v>
                  </c:pt>
                  <c:pt idx="1">
                    <c:v>clothing</c:v>
                  </c:pt>
                  <c:pt idx="2">
                    <c:v>spoken words</c:v>
                  </c:pt>
                </c:lvl>
              </c:multiLvlStrCache>
            </c:multiLvlStrRef>
          </c:cat>
          <c:val>
            <c:numRef>
              <c:f>Sheet1!$B$2:$B$4</c:f>
              <c:numCache>
                <c:formatCode>General</c:formatCode>
                <c:ptCount val="3"/>
                <c:pt idx="0">
                  <c:v>98.4</c:v>
                </c:pt>
                <c:pt idx="1">
                  <c:v>88.3</c:v>
                </c:pt>
                <c:pt idx="2">
                  <c:v>87.5</c:v>
                </c:pt>
              </c:numCache>
            </c:numRef>
          </c:val>
        </c:ser>
        <c:ser>
          <c:idx val="1"/>
          <c:order val="1"/>
          <c:tx>
            <c:strRef>
              <c:f>Sheet1!$C$1</c:f>
              <c:strCache>
                <c:ptCount val="1"/>
                <c:pt idx="0">
                  <c:v>Network (MLP)</c:v>
                </c:pt>
              </c:strCache>
            </c:strRef>
          </c:tx>
          <c:spPr>
            <a:solidFill>
              <a:srgbClr val="6B7280"/>
            </a:solidFill>
            <a:effectLst/>
          </c:spPr>
          <c:invertIfNegative val="0"/>
          <c:dLbls>
            <c:numFmt formatCode="0.0" sourceLinked="0"/>
            <c:txPr>
              <a:bodyPr/>
              <a:lstStyle/>
              <a:p>
                <a:pPr>
                  <a:defRPr b="0" i="0" strike="noStrike" sz="1100" u="none">
                    <a:solidFill>
                      <a:srgbClr val="151A3D"/>
                    </a:solidFill>
                    <a:latin typeface="+mn-lt"/>
                  </a:defRPr>
                </a:pPr>
              </a:p>
            </c:txPr>
            <c:showLegendKey val="0"/>
            <c:showVal val="1"/>
            <c:showCatName val="0"/>
            <c:showSerName val="0"/>
            <c:showPercent val="0"/>
            <c:showBubbleSize val="0"/>
            <c:showLeaderLines val="0"/>
          </c:dLbls>
          <c:cat>
            <c:multiLvlStrRef>
              <c:f>Sheet1!$A$2:$A$4</c:f>
              <c:multiLvlStrCache>
                <c:ptCount val="3"/>
                <c:lvl>
                  <c:pt idx="0">
                    <c:v>digits</c:v>
                  </c:pt>
                  <c:pt idx="1">
                    <c:v>clothing</c:v>
                  </c:pt>
                  <c:pt idx="2">
                    <c:v>spoken words</c:v>
                  </c:pt>
                </c:lvl>
              </c:multiLvlStrCache>
            </c:multiLvlStrRef>
          </c:cat>
          <c:val>
            <c:numRef>
              <c:f>Sheet1!$C$2:$C$4</c:f>
              <c:numCache>
                <c:formatCode>General</c:formatCode>
                <c:ptCount val="3"/>
                <c:pt idx="0">
                  <c:v>97.8</c:v>
                </c:pt>
                <c:pt idx="1">
                  <c:v>87.3</c:v>
                </c:pt>
                <c:pt idx="2">
                  <c:v>85.5</c:v>
                </c:pt>
              </c:numCache>
            </c:numRef>
          </c:val>
        </c:ser>
        <c:dLbls>
          <c:numFmt formatCode="0.0" sourceLinked="0"/>
          <c:txPr>
            <a:bodyPr/>
            <a:lstStyle/>
            <a:p>
              <a:pPr>
                <a:defRPr b="0" i="0" strike="noStrike" sz="1100" u="none">
                  <a:solidFill>
                    <a:srgbClr val="151A3D"/>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2B3270"/>
                </a:solidFill>
                <a:latin typeface="+mn-lt"/>
              </a:defRPr>
            </a:pPr>
            <a:endParaRPr lang="en-US"/>
          </a:p>
        </c:txPr>
        <c:crossAx val="2094734552"/>
        <c:crosses val="autoZero"/>
        <c:auto val="1"/>
        <c:lblAlgn val="ctr"/>
        <c:noMultiLvlLbl val="1"/>
      </c:catAx>
      <c:valAx>
        <c:axId val="2094734552"/>
        <c:scaling>
          <c:orientation val="minMax"/>
          <c:max val="100"/>
          <c:min val="50"/>
        </c:scaling>
        <c:delete val="0"/>
        <c:axPos val="l"/>
        <c:majorGridlines>
          <c:spPr>
            <a:ln w="6350" cap="flat">
              <a:solidFill>
                <a:srgbClr val="DDE0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B7280"/>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2B3270"/>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Hello judges. We are L Lawliet from CKCET. SPARK Cortex is a small chip that learns new things after it has shipped, without forgetting the old ones, and without a multiplier or backpropagation. One promise before we start: every number I show is labelled as simulated, estimated or measured, and nothing is measured on hardware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normal neural network learns once. Teach it five new things in five stages and it keeps only the last stage: 19.5 percent on digits, 20 on clothing, 16 on spoken words (simulated, 5 seeds). The usual fix is to retrain from scratch, which costs energy and, in the end, hardware that is discarded. We asked what a chip would look like if it could keep learning like a brain.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rule is to follow the brain, not the GPU. Four things: senses that learn without labels; learning by counting, one example at a time; sleep, where the chip dreams old classes from small counters instead of storing examples; and sharing, because counts can simply be added together. There is no multiplier anywhere in the design.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core result. Learning five stages of two classes each, the chip with the slow-table option keeps 95.9 percent on digits, 81.4 on clothing and 83.6 on spoken words (95.8, 78.3 and 82.9 without it), while a network that fine-tunes on each stage drops to roughly a fifth. This is simulated with the exact integer model, five seeds, and the RTL is bit-exact with it. Even one class at a time, with today's design, it holds 94 percent on digits and 79 on clothing.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found a failure and redesigned for it: a brand-new class seen only once was almost invisible. The fix is called IMPRINT: when an example looks new, the chip writes its mean code into the table row immediately, then a short sleep of 300 dreams per known class blends it in. Digits go from 54 to 70, clothing 50 to 64, words only 45 to 48. It is implemented in the RTL and checked bit-exact.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sound path goes from raw samples through a cochlea, a noise-floor stage, the encoder and the learning core, all in RTL and bit-exact with the model. A word-alignment step that shifts each word so its start lands at the same frame lifted accuracy from 71.9 to 82.5 percent all at once, and the chip stays usable in noise: 72 percent at 20 dB, 59 at 10 dB. Sound needs 422 kilobytes of memory, which does not fit the small 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Because the memory is counts, two chips that learned different classes can be merged by adding their counters, or one chip can hand its memory to another that keeps learning. Merge gives 93, 81 and 64 percent; hand-over gives 96, 83 and 72. This is the weight-transfer story: no retraining on a server. The board demo reached 91.4 percent on all ten digits in the bit-exact emulator.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asked what actually limits the scores and tested it. A floating-point classifier trained on the chip's own code reaches 87.9 percent on clothing and 98.3 on digits, so the senses are not the limit. The chip's one-pass 5-bit readout is. A slow second table that follows the fast one, slowly, fixes most of that: clothing 83.4 to 87.6, words 83 to 86, digits 97.0 to 97.8, and staged clothing 78.4 to 81.6, because slow consolidation damps the bias toward the newest classes. It uses shifts and adds only and is checked bit-exact in the RTL. A finer detector grid for images adds a little more all at once, but it made staged digits worse in an earlier setting, so it stays an option. All simulated.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Cost. The image memory is 84 kilobytes. It fits a 25-dollar Tang Nano 20K with no hardware multipliers and timing met. Counting only the operations a decision needs, it uses about 74 times less energy than an 8-bit network, an estimate. I want to be careful: the layout estimate is higher, about a fifth of a microjoule per decision, so the honest wording is 74 times less per operation needed, not per chip.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design is not just a simulator result. Twenty-one bit-exact checks pass between the integer model and the RTL, covering the core, the few-shot fix, the sense layers, the whole sound chain and the board top. We also took it through an open-source SKY130 layout flow; detailed routing ended at one remaining violation at a memory macro edge. That is an estimate, with no sign-off and no fabrication.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I want you to remember. Learning everything at once, with the slow-table option, the chip is level with a small network: 98.4 against 97.8 on digits, 88.3 against 87.3 on clothing, 87.5 against 85.5 on words, simulated, five seeds. Level, not better: a small convolutional network reaches about 89 on clothing and 91 on words. In stages clothing is 81 percent, digits 95 and words 83. New spoken words from one to five recordings are weak. We tried many fixes and recorded the failures, such as a second sensory layer, wider sound detectors and a shared prototype pool. And nothing is measured on hardware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are not the first continual-learning chip. Hyperdimensional-computing accelerators and Intel's Loihi 2 exist. What is new is the combination: dreams generated from small counters so no examples are stored, a night that ends by itself, no multipliers, and a design that is bit-exact from raw senses to the decision. Against hyperdimensional computing in our own test, after five stages we are ahead on digits by 2.2 and on sound by 5.7 points, simulated.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comes next. The model, RTL and layout estimate are done. The next milestone is the real board, which gives the first measured numbers. Then we work on the weak spots, learned word features and higher-fidelity dreams for clothing. The horizon is a provable result within six to eight months, with no fabrication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close: SPARK Cortex is a chip that keeps learning after it ships. It keeps what it knew, shares what it learned, and needs no multiplier. It is weaker than a network in a few places, and I have told you where. Thank you, I am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822960"/>
          </a:xfrm>
          <a:prstGeom prst="rect">
            <a:avLst/>
          </a:prstGeom>
          <a:noFill/>
          <a:ln/>
        </p:spPr>
        <p:txBody>
          <a:bodyPr wrap="square" rtlCol="0"/>
          <a:lstStyle>
            <a:lvl1pPr algn="l" indent="0" marL="0">
              <a:buNone/>
              <a:defRPr lang="en-US" sz="30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8412480" y="48006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371600"/>
            <a:ext cx="8046720" cy="1280160"/>
          </a:xfrm>
          <a:prstGeom prst="rect">
            <a:avLst/>
          </a:prstGeom>
          <a:noFill/>
          <a:ln/>
        </p:spPr>
        <p:txBody>
          <a:bodyPr wrap="square" rtlCol="0"/>
          <a:lstStyle>
            <a:lvl1pPr algn="l" indent="0" marL="0">
              <a:buNone/>
              <a:defRPr lang="en-US" sz="40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40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412480" y="48006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371600"/>
            <a:ext cx="8046720" cy="1280160"/>
          </a:xfrm>
          <a:prstGeom prst="rect">
            <a:avLst/>
          </a:prstGeom>
          <a:noFill/>
          <a:ln/>
        </p:spPr>
        <p:txBody>
          <a:bodyPr wrap="square" lIns="0" tIns="0" rIns="0" bIns="0" rtlCol="0" anchor="ctr"/>
          <a:lstStyle/>
          <a:p>
            <a:pPr algn="l" indent="0" marL="0">
              <a:buNone/>
            </a:pPr>
            <a:r>
              <a:rPr lang="en-US" sz="4000" b="1" dirty="0">
                <a:solidFill>
                  <a:schemeClr val="bg1"/>
                </a:solidFill>
                <a:latin typeface="Cambria" pitchFamily="34" charset="0"/>
                <a:ea typeface="Cambria" pitchFamily="34" charset="-122"/>
                <a:cs typeface="Cambria" pitchFamily="34" charset="-120"/>
              </a:rPr>
              <a:t>SPARK Cortex</a:t>
            </a:r>
            <a:endParaRPr lang="en-US" sz="4000" dirty="0"/>
          </a:p>
        </p:txBody>
      </p:sp>
      <p:sp>
        <p:nvSpPr>
          <p:cNvPr id="3" name="Text 1"/>
          <p:cNvSpPr txBox="1"/>
          <p:nvPr/>
        </p:nvSpPr>
        <p:spPr>
          <a:xfrm>
            <a:off x="548640" y="2697480"/>
            <a:ext cx="8046720" cy="457200"/>
          </a:xfrm>
          <a:prstGeom prst="rect">
            <a:avLst/>
          </a:prstGeom>
          <a:noFill/>
          <a:ln/>
        </p:spPr>
        <p:txBody>
          <a:bodyPr wrap="square" lIns="0" tIns="0" rIns="0" bIns="0" rtlCol="0" anchor="t"/>
          <a:lstStyle/>
          <a:p>
            <a:pPr indent="0" marL="0">
              <a:buNone/>
            </a:pPr>
            <a:r>
              <a:rPr lang="en-US" sz="2200" i="1" dirty="0">
                <a:solidFill>
                  <a:schemeClr val="accent1"/>
                </a:solidFill>
                <a:latin typeface="Calibri" pitchFamily="34" charset="0"/>
                <a:ea typeface="Calibri" pitchFamily="34" charset="-122"/>
                <a:cs typeface="Calibri" pitchFamily="34" charset="-120"/>
              </a:rPr>
              <a:t>A brain-principled chip that keeps learning after it ships</a:t>
            </a:r>
            <a:endParaRPr lang="en-US" sz="2200" dirty="0"/>
          </a:p>
        </p:txBody>
      </p:sp>
      <p:sp>
        <p:nvSpPr>
          <p:cNvPr id="4" name="Text 2"/>
          <p:cNvSpPr txBox="1"/>
          <p:nvPr/>
        </p:nvSpPr>
        <p:spPr>
          <a:xfrm>
            <a:off x="548640" y="4023360"/>
            <a:ext cx="8046720" cy="365760"/>
          </a:xfrm>
          <a:prstGeom prst="rect">
            <a:avLst/>
          </a:prstGeom>
          <a:noFill/>
          <a:ln/>
        </p:spPr>
        <p:txBody>
          <a:bodyPr wrap="square" lIns="0" tIns="0" rIns="0" bIns="0" rtlCol="0" anchor="t"/>
          <a:lstStyle/>
          <a:p>
            <a:pPr indent="0" marL="0">
              <a:buNone/>
            </a:pPr>
            <a:r>
              <a:rPr lang="en-US" sz="1400" dirty="0">
                <a:solidFill>
                  <a:schemeClr val="accent5"/>
                </a:solidFill>
                <a:latin typeface="Calibri" pitchFamily="34" charset="0"/>
                <a:ea typeface="Calibri" pitchFamily="34" charset="-122"/>
                <a:cs typeface="Calibri" pitchFamily="34" charset="-120"/>
              </a:rPr>
              <a:t>L Lawliet  |  Navin (Kakashi), CKCET  |  PALS innoWAH! 2026-27</a:t>
            </a:r>
            <a:endParaRPr lang="en-US" sz="1400" dirty="0"/>
          </a:p>
        </p:txBody>
      </p:sp>
      <p:sp>
        <p:nvSpPr>
          <p:cNvPr id="5" name="Text 3"/>
          <p:cNvSpPr txBox="1"/>
          <p:nvPr/>
        </p:nvSpPr>
        <p:spPr>
          <a:xfrm>
            <a:off x="548640" y="4389120"/>
            <a:ext cx="8046720" cy="365760"/>
          </a:xfrm>
          <a:prstGeom prst="rect">
            <a:avLst/>
          </a:prstGeom>
          <a:noFill/>
          <a:ln/>
        </p:spPr>
        <p:txBody>
          <a:bodyPr wrap="square" lIns="0" tIns="0" rIns="0" bIns="0" rtlCol="0" anchor="t"/>
          <a:lstStyle/>
          <a:p>
            <a:pPr indent="0" marL="0">
              <a:buNone/>
            </a:pPr>
            <a:r>
              <a:rPr lang="en-US" sz="1200" dirty="0">
                <a:solidFill>
                  <a:schemeClr val="accent5"/>
                </a:solidFill>
                <a:latin typeface="Calibri" pitchFamily="34" charset="0"/>
                <a:ea typeface="Calibri" pitchFamily="34" charset="-122"/>
                <a:cs typeface="Calibri" pitchFamily="34" charset="-120"/>
              </a:rPr>
              <a:t>Every number in this deck is labelled SIMULATED, ESTIMATED or MEASURED. Nothing is measured on hardware yet.</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82296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AI stops learning the day it ships</a:t>
            </a:r>
            <a:endParaRPr lang="en-US" sz="3000" dirty="0"/>
          </a:p>
        </p:txBody>
      </p:sp>
      <p:sp>
        <p:nvSpPr>
          <p:cNvPr id="3" name="card"/>
          <p:cNvSpPr/>
          <p:nvPr/>
        </p:nvSpPr>
        <p:spPr>
          <a:xfrm>
            <a:off x="457200" y="1371600"/>
            <a:ext cx="2560320" cy="2103120"/>
          </a:xfrm>
          <a:prstGeom prst="roundRect">
            <a:avLst>
              <a:gd name="adj" fmla="val 4348"/>
            </a:avLst>
          </a:prstGeom>
          <a:solidFill>
            <a:schemeClr val="bg2"/>
          </a:solidFill>
          <a:ln w="12700">
            <a:solidFill>
              <a:schemeClr val="bg2"/>
            </a:solidFill>
            <a:prstDash val="solid"/>
          </a:ln>
        </p:spPr>
      </p:sp>
      <p:sp>
        <p:nvSpPr>
          <p:cNvPr id="4" name="Text 2"/>
          <p:cNvSpPr txBox="1"/>
          <p:nvPr/>
        </p:nvSpPr>
        <p:spPr>
          <a:xfrm>
            <a:off x="640080" y="1554480"/>
            <a:ext cx="2194560" cy="914400"/>
          </a:xfrm>
          <a:prstGeom prst="rect">
            <a:avLst/>
          </a:prstGeom>
          <a:noFill/>
          <a:ln/>
        </p:spPr>
        <p:txBody>
          <a:bodyPr wrap="square" lIns="0" tIns="0" rIns="0" bIns="0" rtlCol="0" anchor="t"/>
          <a:lstStyle/>
          <a:p>
            <a:pPr indent="0" marL="0">
              <a:buNone/>
            </a:pPr>
            <a:r>
              <a:rPr lang="en-US" sz="5400" b="1" dirty="0">
                <a:solidFill>
                  <a:schemeClr val="accent4"/>
                </a:solidFill>
                <a:latin typeface="Cambria" pitchFamily="34" charset="0"/>
                <a:ea typeface="Cambria" pitchFamily="34" charset="-122"/>
                <a:cs typeface="Cambria" pitchFamily="34" charset="-120"/>
              </a:rPr>
              <a:t>19.5%</a:t>
            </a:r>
            <a:endParaRPr lang="en-US" sz="5400" dirty="0"/>
          </a:p>
        </p:txBody>
      </p:sp>
      <p:sp>
        <p:nvSpPr>
          <p:cNvPr id="5" name="Text 3"/>
          <p:cNvSpPr txBox="1"/>
          <p:nvPr/>
        </p:nvSpPr>
        <p:spPr>
          <a:xfrm>
            <a:off x="640080" y="2606040"/>
            <a:ext cx="2194560" cy="82296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digits: a network that learns in 5 stages forgets the earlier ones</a:t>
            </a:r>
            <a:endParaRPr lang="en-US" sz="1400" dirty="0"/>
          </a:p>
        </p:txBody>
      </p:sp>
      <p:sp>
        <p:nvSpPr>
          <p:cNvPr id="6" name="card"/>
          <p:cNvSpPr/>
          <p:nvPr/>
        </p:nvSpPr>
        <p:spPr>
          <a:xfrm>
            <a:off x="3291840" y="1371600"/>
            <a:ext cx="2560320" cy="2103120"/>
          </a:xfrm>
          <a:prstGeom prst="roundRect">
            <a:avLst>
              <a:gd name="adj" fmla="val 4348"/>
            </a:avLst>
          </a:prstGeom>
          <a:solidFill>
            <a:schemeClr val="bg2"/>
          </a:solidFill>
          <a:ln w="12700">
            <a:solidFill>
              <a:schemeClr val="bg2"/>
            </a:solidFill>
            <a:prstDash val="solid"/>
          </a:ln>
        </p:spPr>
      </p:sp>
      <p:sp>
        <p:nvSpPr>
          <p:cNvPr id="7" name="Text 5"/>
          <p:cNvSpPr txBox="1"/>
          <p:nvPr/>
        </p:nvSpPr>
        <p:spPr>
          <a:xfrm>
            <a:off x="3474720" y="1554480"/>
            <a:ext cx="2194560" cy="914400"/>
          </a:xfrm>
          <a:prstGeom prst="rect">
            <a:avLst/>
          </a:prstGeom>
          <a:noFill/>
          <a:ln/>
        </p:spPr>
        <p:txBody>
          <a:bodyPr wrap="square" lIns="0" tIns="0" rIns="0" bIns="0" rtlCol="0" anchor="t"/>
          <a:lstStyle/>
          <a:p>
            <a:pPr indent="0" marL="0">
              <a:buNone/>
            </a:pPr>
            <a:r>
              <a:rPr lang="en-US" sz="5400" b="1" dirty="0">
                <a:solidFill>
                  <a:schemeClr val="accent4"/>
                </a:solidFill>
                <a:latin typeface="Cambria" pitchFamily="34" charset="0"/>
                <a:ea typeface="Cambria" pitchFamily="34" charset="-122"/>
                <a:cs typeface="Cambria" pitchFamily="34" charset="-120"/>
              </a:rPr>
              <a:t>20.0%</a:t>
            </a:r>
            <a:endParaRPr lang="en-US" sz="5400" dirty="0"/>
          </a:p>
        </p:txBody>
      </p:sp>
      <p:sp>
        <p:nvSpPr>
          <p:cNvPr id="8" name="Text 6"/>
          <p:cNvSpPr txBox="1"/>
          <p:nvPr/>
        </p:nvSpPr>
        <p:spPr>
          <a:xfrm>
            <a:off x="3474720" y="2606040"/>
            <a:ext cx="2194560" cy="82296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clothing: same test, same forgetting</a:t>
            </a:r>
            <a:endParaRPr lang="en-US" sz="1400" dirty="0"/>
          </a:p>
        </p:txBody>
      </p:sp>
      <p:sp>
        <p:nvSpPr>
          <p:cNvPr id="9" name="card"/>
          <p:cNvSpPr/>
          <p:nvPr/>
        </p:nvSpPr>
        <p:spPr>
          <a:xfrm>
            <a:off x="6126480" y="1371600"/>
            <a:ext cx="2560320" cy="2103120"/>
          </a:xfrm>
          <a:prstGeom prst="roundRect">
            <a:avLst>
              <a:gd name="adj" fmla="val 4348"/>
            </a:avLst>
          </a:prstGeom>
          <a:solidFill>
            <a:schemeClr val="bg2"/>
          </a:solidFill>
          <a:ln w="12700">
            <a:solidFill>
              <a:schemeClr val="bg2"/>
            </a:solidFill>
            <a:prstDash val="solid"/>
          </a:ln>
        </p:spPr>
      </p:sp>
      <p:sp>
        <p:nvSpPr>
          <p:cNvPr id="10" name="Text 8"/>
          <p:cNvSpPr txBox="1"/>
          <p:nvPr/>
        </p:nvSpPr>
        <p:spPr>
          <a:xfrm>
            <a:off x="6309360" y="1554480"/>
            <a:ext cx="2194560" cy="914400"/>
          </a:xfrm>
          <a:prstGeom prst="rect">
            <a:avLst/>
          </a:prstGeom>
          <a:noFill/>
          <a:ln/>
        </p:spPr>
        <p:txBody>
          <a:bodyPr wrap="square" lIns="0" tIns="0" rIns="0" bIns="0" rtlCol="0" anchor="t"/>
          <a:lstStyle/>
          <a:p>
            <a:pPr indent="0" marL="0">
              <a:buNone/>
            </a:pPr>
            <a:r>
              <a:rPr lang="en-US" sz="5400" b="1" dirty="0">
                <a:solidFill>
                  <a:schemeClr val="accent4"/>
                </a:solidFill>
                <a:latin typeface="Cambria" pitchFamily="34" charset="0"/>
                <a:ea typeface="Cambria" pitchFamily="34" charset="-122"/>
                <a:cs typeface="Cambria" pitchFamily="34" charset="-120"/>
              </a:rPr>
              <a:t>15.9%</a:t>
            </a:r>
            <a:endParaRPr lang="en-US" sz="5400" dirty="0"/>
          </a:p>
        </p:txBody>
      </p:sp>
      <p:sp>
        <p:nvSpPr>
          <p:cNvPr id="11" name="Text 9"/>
          <p:cNvSpPr txBox="1"/>
          <p:nvPr/>
        </p:nvSpPr>
        <p:spPr>
          <a:xfrm>
            <a:off x="6309360" y="2606040"/>
            <a:ext cx="2194560" cy="82296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spoken words: same test, same forgetting</a:t>
            </a:r>
            <a:endParaRPr lang="en-US" sz="1400" dirty="0"/>
          </a:p>
        </p:txBody>
      </p:sp>
      <p:sp>
        <p:nvSpPr>
          <p:cNvPr id="12" name="Text 10"/>
          <p:cNvSpPr txBox="1"/>
          <p:nvPr/>
        </p:nvSpPr>
        <p:spPr>
          <a:xfrm>
            <a:off x="457200" y="3749040"/>
            <a:ext cx="8229600" cy="914400"/>
          </a:xfrm>
          <a:prstGeom prst="rect">
            <a:avLst/>
          </a:prstGeom>
          <a:noFill/>
          <a:ln/>
        </p:spPr>
        <p:txBody>
          <a:bodyPr wrap="square" lIns="0" tIns="0" rIns="0" bIns="0" rtlCol="0" anchor="t"/>
          <a:lstStyle/>
          <a:p>
            <a:pPr indent="0" marL="0">
              <a:buNone/>
            </a:pPr>
            <a:r>
              <a:rPr lang="en-US" sz="1600" dirty="0">
                <a:solidFill>
                  <a:schemeClr val="tx1"/>
                </a:solidFill>
                <a:latin typeface="Calibri" pitchFamily="34" charset="0"/>
                <a:ea typeface="Calibri" pitchFamily="34" charset="-122"/>
                <a:cs typeface="Calibri" pitchFamily="34" charset="-120"/>
              </a:rPr>
              <a:t>Fixing it today means retraining from scratch: more energy, more heat, and hardware that is thrown away when it can no longer be updated. A chip that can learn in the field avoids that.</a:t>
            </a:r>
            <a:endParaRPr lang="en-US" sz="1600" dirty="0"/>
          </a:p>
        </p:txBody>
      </p:sp>
      <p:sp>
        <p:nvSpPr>
          <p:cNvPr id="25" name="Slide Number Placeholder 0"/>
          <p:cNvSpPr>
            <a:spLocks noGrp="1"/>
          </p:cNvSpPr>
          <p:nvPr>
            <p:ph type="sldNum" sz="quarter" idx="4294967295"/>
          </p:nvPr>
        </p:nvSpPr>
        <p:spPr>
          <a:xfrm>
            <a:off x="8412480" y="48006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82296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The idea: a human brain, as a chip</a:t>
            </a:r>
            <a:endParaRPr lang="en-US" sz="3000" dirty="0"/>
          </a:p>
        </p:txBody>
      </p:sp>
      <p:sp>
        <p:nvSpPr>
          <p:cNvPr id="3" name="card"/>
          <p:cNvSpPr/>
          <p:nvPr/>
        </p:nvSpPr>
        <p:spPr>
          <a:xfrm>
            <a:off x="457200" y="1280160"/>
            <a:ext cx="8229600" cy="731520"/>
          </a:xfrm>
          <a:prstGeom prst="roundRect">
            <a:avLst>
              <a:gd name="adj" fmla="val 12500"/>
            </a:avLst>
          </a:prstGeom>
          <a:solidFill>
            <a:schemeClr val="bg2"/>
          </a:solidFill>
          <a:ln w="12700">
            <a:solidFill>
              <a:schemeClr val="bg2"/>
            </a:solidFill>
            <a:prstDash val="solid"/>
          </a:ln>
        </p:spPr>
      </p:sp>
      <p:sp>
        <p:nvSpPr>
          <p:cNvPr id="4" name="marker"/>
          <p:cNvSpPr/>
          <p:nvPr/>
        </p:nvSpPr>
        <p:spPr>
          <a:xfrm>
            <a:off x="594360" y="1417320"/>
            <a:ext cx="457200" cy="457200"/>
          </a:xfrm>
          <a:prstGeom prst="ellipse">
            <a:avLst/>
          </a:prstGeom>
          <a:solidFill>
            <a:schemeClr val="accent1"/>
          </a:solidFill>
          <a:ln w="12700">
            <a:solidFill>
              <a:schemeClr val="accent1"/>
            </a:solidFill>
            <a:prstDash val="solid"/>
          </a:ln>
        </p:spPr>
      </p:sp>
      <p:sp>
        <p:nvSpPr>
          <p:cNvPr id="5" name="Text 3"/>
          <p:cNvSpPr txBox="1"/>
          <p:nvPr/>
        </p:nvSpPr>
        <p:spPr>
          <a:xfrm>
            <a:off x="594360" y="1463040"/>
            <a:ext cx="457200" cy="365760"/>
          </a:xfrm>
          <a:prstGeom prst="rect">
            <a:avLst/>
          </a:prstGeom>
          <a:noFill/>
          <a:ln/>
        </p:spPr>
        <p:txBody>
          <a:bodyPr wrap="square" lIns="0" tIns="0" rIns="0" bIns="0" rtlCol="0" anchor="t"/>
          <a:lstStyle/>
          <a:p>
            <a:pPr algn="ctr" indent="0" marL="0">
              <a:buNone/>
            </a:pPr>
            <a:r>
              <a:rPr lang="en-US" sz="1800" b="1" dirty="0">
                <a:solidFill>
                  <a:schemeClr val="tx1"/>
                </a:solidFill>
                <a:latin typeface="Calibri" pitchFamily="34" charset="0"/>
                <a:ea typeface="Calibri" pitchFamily="34" charset="-122"/>
                <a:cs typeface="Calibri" pitchFamily="34" charset="-120"/>
              </a:rPr>
              <a:t>1</a:t>
            </a:r>
            <a:endParaRPr lang="en-US" sz="1800" dirty="0"/>
          </a:p>
        </p:txBody>
      </p:sp>
      <p:sp>
        <p:nvSpPr>
          <p:cNvPr id="6" name="Text 4"/>
          <p:cNvSpPr txBox="1"/>
          <p:nvPr/>
        </p:nvSpPr>
        <p:spPr>
          <a:xfrm>
            <a:off x="1234440" y="1353312"/>
            <a:ext cx="1737360" cy="548640"/>
          </a:xfrm>
          <a:prstGeom prst="rect">
            <a:avLst/>
          </a:prstGeom>
          <a:noFill/>
          <a:ln/>
        </p:spPr>
        <p:txBody>
          <a:bodyPr wrap="square" lIns="0" tIns="0" rIns="0" bIns="0" rtlCol="0" anchor="ctr"/>
          <a:lstStyle/>
          <a:p>
            <a:pPr indent="0" marL="0">
              <a:buNone/>
            </a:pPr>
            <a:r>
              <a:rPr lang="en-US" sz="1800" b="1" dirty="0">
                <a:solidFill>
                  <a:schemeClr val="tx1"/>
                </a:solidFill>
                <a:latin typeface="Calibri" pitchFamily="34" charset="0"/>
                <a:ea typeface="Calibri" pitchFamily="34" charset="-122"/>
                <a:cs typeface="Calibri" pitchFamily="34" charset="-120"/>
              </a:rPr>
              <a:t>Senses</a:t>
            </a:r>
            <a:endParaRPr lang="en-US" sz="1800" dirty="0"/>
          </a:p>
        </p:txBody>
      </p:sp>
      <p:sp>
        <p:nvSpPr>
          <p:cNvPr id="7" name="Text 5"/>
          <p:cNvSpPr txBox="1"/>
          <p:nvPr/>
        </p:nvSpPr>
        <p:spPr>
          <a:xfrm>
            <a:off x="2926080" y="1353312"/>
            <a:ext cx="5577840" cy="594360"/>
          </a:xfrm>
          <a:prstGeom prst="rect">
            <a:avLst/>
          </a:prstGeom>
          <a:noFill/>
          <a:ln/>
        </p:spPr>
        <p:txBody>
          <a:bodyPr wrap="square" lIns="0" tIns="0" rIns="0" bIns="0" rtlCol="0" anchor="ctr"/>
          <a:lstStyle/>
          <a:p>
            <a:pPr indent="0" marL="0">
              <a:buNone/>
            </a:pPr>
            <a:r>
              <a:rPr lang="en-US" sz="1400" dirty="0">
                <a:solidFill>
                  <a:schemeClr val="tx1"/>
                </a:solidFill>
                <a:latin typeface="Calibri" pitchFamily="34" charset="0"/>
                <a:ea typeface="Calibri" pitchFamily="34" charset="-122"/>
                <a:cs typeface="Calibri" pitchFamily="34" charset="-120"/>
              </a:rPr>
              <a:t>Eyes and ears turn raw pixels and sound into a sparse code. Detectors learn by themselves, no labels.</a:t>
            </a:r>
            <a:endParaRPr lang="en-US" sz="1400" dirty="0"/>
          </a:p>
        </p:txBody>
      </p:sp>
      <p:sp>
        <p:nvSpPr>
          <p:cNvPr id="8" name="card"/>
          <p:cNvSpPr/>
          <p:nvPr/>
        </p:nvSpPr>
        <p:spPr>
          <a:xfrm>
            <a:off x="457200" y="2148840"/>
            <a:ext cx="8229600" cy="731520"/>
          </a:xfrm>
          <a:prstGeom prst="roundRect">
            <a:avLst>
              <a:gd name="adj" fmla="val 12500"/>
            </a:avLst>
          </a:prstGeom>
          <a:solidFill>
            <a:schemeClr val="bg2"/>
          </a:solidFill>
          <a:ln w="12700">
            <a:solidFill>
              <a:schemeClr val="bg2"/>
            </a:solidFill>
            <a:prstDash val="solid"/>
          </a:ln>
        </p:spPr>
      </p:sp>
      <p:sp>
        <p:nvSpPr>
          <p:cNvPr id="9" name="marker"/>
          <p:cNvSpPr/>
          <p:nvPr/>
        </p:nvSpPr>
        <p:spPr>
          <a:xfrm>
            <a:off x="594360" y="2286000"/>
            <a:ext cx="457200" cy="457200"/>
          </a:xfrm>
          <a:prstGeom prst="ellipse">
            <a:avLst/>
          </a:prstGeom>
          <a:solidFill>
            <a:schemeClr val="accent1"/>
          </a:solidFill>
          <a:ln w="12700">
            <a:solidFill>
              <a:schemeClr val="accent1"/>
            </a:solidFill>
            <a:prstDash val="solid"/>
          </a:ln>
        </p:spPr>
      </p:sp>
      <p:sp>
        <p:nvSpPr>
          <p:cNvPr id="10" name="Text 8"/>
          <p:cNvSpPr txBox="1"/>
          <p:nvPr/>
        </p:nvSpPr>
        <p:spPr>
          <a:xfrm>
            <a:off x="594360" y="2331720"/>
            <a:ext cx="457200" cy="365760"/>
          </a:xfrm>
          <a:prstGeom prst="rect">
            <a:avLst/>
          </a:prstGeom>
          <a:noFill/>
          <a:ln/>
        </p:spPr>
        <p:txBody>
          <a:bodyPr wrap="square" lIns="0" tIns="0" rIns="0" bIns="0" rtlCol="0" anchor="t"/>
          <a:lstStyle/>
          <a:p>
            <a:pPr algn="ctr" indent="0" marL="0">
              <a:buNone/>
            </a:pPr>
            <a:r>
              <a:rPr lang="en-US" sz="1800" b="1" dirty="0">
                <a:solidFill>
                  <a:schemeClr val="tx1"/>
                </a:solidFill>
                <a:latin typeface="Calibri" pitchFamily="34" charset="0"/>
                <a:ea typeface="Calibri" pitchFamily="34" charset="-122"/>
                <a:cs typeface="Calibri" pitchFamily="34" charset="-120"/>
              </a:rPr>
              <a:t>2</a:t>
            </a:r>
            <a:endParaRPr lang="en-US" sz="1800" dirty="0"/>
          </a:p>
        </p:txBody>
      </p:sp>
      <p:sp>
        <p:nvSpPr>
          <p:cNvPr id="11" name="Text 9"/>
          <p:cNvSpPr txBox="1"/>
          <p:nvPr/>
        </p:nvSpPr>
        <p:spPr>
          <a:xfrm>
            <a:off x="1234440" y="2221992"/>
            <a:ext cx="1737360" cy="548640"/>
          </a:xfrm>
          <a:prstGeom prst="rect">
            <a:avLst/>
          </a:prstGeom>
          <a:noFill/>
          <a:ln/>
        </p:spPr>
        <p:txBody>
          <a:bodyPr wrap="square" lIns="0" tIns="0" rIns="0" bIns="0" rtlCol="0" anchor="ctr"/>
          <a:lstStyle/>
          <a:p>
            <a:pPr indent="0" marL="0">
              <a:buNone/>
            </a:pPr>
            <a:r>
              <a:rPr lang="en-US" sz="1800" b="1" dirty="0">
                <a:solidFill>
                  <a:schemeClr val="tx1"/>
                </a:solidFill>
                <a:latin typeface="Calibri" pitchFamily="34" charset="0"/>
                <a:ea typeface="Calibri" pitchFamily="34" charset="-122"/>
                <a:cs typeface="Calibri" pitchFamily="34" charset="-120"/>
              </a:rPr>
              <a:t>Learn once</a:t>
            </a:r>
            <a:endParaRPr lang="en-US" sz="1800" dirty="0"/>
          </a:p>
        </p:txBody>
      </p:sp>
      <p:sp>
        <p:nvSpPr>
          <p:cNvPr id="12" name="Text 10"/>
          <p:cNvSpPr txBox="1"/>
          <p:nvPr/>
        </p:nvSpPr>
        <p:spPr>
          <a:xfrm>
            <a:off x="2926080" y="2221992"/>
            <a:ext cx="5577840" cy="594360"/>
          </a:xfrm>
          <a:prstGeom prst="rect">
            <a:avLst/>
          </a:prstGeom>
          <a:noFill/>
          <a:ln/>
        </p:spPr>
        <p:txBody>
          <a:bodyPr wrap="square" lIns="0" tIns="0" rIns="0" bIns="0" rtlCol="0" anchor="ctr"/>
          <a:lstStyle/>
          <a:p>
            <a:pPr indent="0" marL="0">
              <a:buNone/>
            </a:pPr>
            <a:r>
              <a:rPr lang="en-US" sz="1400" dirty="0">
                <a:solidFill>
                  <a:schemeClr val="tx1"/>
                </a:solidFill>
                <a:latin typeface="Calibri" pitchFamily="34" charset="0"/>
                <a:ea typeface="Calibri" pitchFamily="34" charset="-122"/>
                <a:cs typeface="Calibri" pitchFamily="34" charset="-120"/>
              </a:rPr>
              <a:t>Each example is counted into a small fast table. No backpropagation, no multiplier, no matrices.</a:t>
            </a:r>
            <a:endParaRPr lang="en-US" sz="1400" dirty="0"/>
          </a:p>
        </p:txBody>
      </p:sp>
      <p:sp>
        <p:nvSpPr>
          <p:cNvPr id="13" name="card"/>
          <p:cNvSpPr/>
          <p:nvPr/>
        </p:nvSpPr>
        <p:spPr>
          <a:xfrm>
            <a:off x="457200" y="3017520"/>
            <a:ext cx="8229600" cy="731520"/>
          </a:xfrm>
          <a:prstGeom prst="roundRect">
            <a:avLst>
              <a:gd name="adj" fmla="val 12500"/>
            </a:avLst>
          </a:prstGeom>
          <a:solidFill>
            <a:schemeClr val="bg2"/>
          </a:solidFill>
          <a:ln w="12700">
            <a:solidFill>
              <a:schemeClr val="bg2"/>
            </a:solidFill>
            <a:prstDash val="solid"/>
          </a:ln>
        </p:spPr>
      </p:sp>
      <p:sp>
        <p:nvSpPr>
          <p:cNvPr id="14" name="marker"/>
          <p:cNvSpPr/>
          <p:nvPr/>
        </p:nvSpPr>
        <p:spPr>
          <a:xfrm>
            <a:off x="594360" y="3154680"/>
            <a:ext cx="457200" cy="457200"/>
          </a:xfrm>
          <a:prstGeom prst="ellipse">
            <a:avLst/>
          </a:prstGeom>
          <a:solidFill>
            <a:schemeClr val="accent1"/>
          </a:solidFill>
          <a:ln w="12700">
            <a:solidFill>
              <a:schemeClr val="accent1"/>
            </a:solidFill>
            <a:prstDash val="solid"/>
          </a:ln>
        </p:spPr>
      </p:sp>
      <p:sp>
        <p:nvSpPr>
          <p:cNvPr id="15" name="Text 13"/>
          <p:cNvSpPr txBox="1"/>
          <p:nvPr/>
        </p:nvSpPr>
        <p:spPr>
          <a:xfrm>
            <a:off x="594360" y="3200400"/>
            <a:ext cx="457200" cy="365760"/>
          </a:xfrm>
          <a:prstGeom prst="rect">
            <a:avLst/>
          </a:prstGeom>
          <a:noFill/>
          <a:ln/>
        </p:spPr>
        <p:txBody>
          <a:bodyPr wrap="square" lIns="0" tIns="0" rIns="0" bIns="0" rtlCol="0" anchor="t"/>
          <a:lstStyle/>
          <a:p>
            <a:pPr algn="ctr" indent="0" marL="0">
              <a:buNone/>
            </a:pPr>
            <a:r>
              <a:rPr lang="en-US" sz="1800" b="1" dirty="0">
                <a:solidFill>
                  <a:schemeClr val="tx1"/>
                </a:solidFill>
                <a:latin typeface="Calibri" pitchFamily="34" charset="0"/>
                <a:ea typeface="Calibri" pitchFamily="34" charset="-122"/>
                <a:cs typeface="Calibri" pitchFamily="34" charset="-120"/>
              </a:rPr>
              <a:t>3</a:t>
            </a:r>
            <a:endParaRPr lang="en-US" sz="1800" dirty="0"/>
          </a:p>
        </p:txBody>
      </p:sp>
      <p:sp>
        <p:nvSpPr>
          <p:cNvPr id="16" name="Text 14"/>
          <p:cNvSpPr txBox="1"/>
          <p:nvPr/>
        </p:nvSpPr>
        <p:spPr>
          <a:xfrm>
            <a:off x="1234440" y="3090672"/>
            <a:ext cx="1737360" cy="548640"/>
          </a:xfrm>
          <a:prstGeom prst="rect">
            <a:avLst/>
          </a:prstGeom>
          <a:noFill/>
          <a:ln/>
        </p:spPr>
        <p:txBody>
          <a:bodyPr wrap="square" lIns="0" tIns="0" rIns="0" bIns="0" rtlCol="0" anchor="ctr"/>
          <a:lstStyle/>
          <a:p>
            <a:pPr indent="0" marL="0">
              <a:buNone/>
            </a:pPr>
            <a:r>
              <a:rPr lang="en-US" sz="1800" b="1" dirty="0">
                <a:solidFill>
                  <a:schemeClr val="tx1"/>
                </a:solidFill>
                <a:latin typeface="Calibri" pitchFamily="34" charset="0"/>
                <a:ea typeface="Calibri" pitchFamily="34" charset="-122"/>
                <a:cs typeface="Calibri" pitchFamily="34" charset="-120"/>
              </a:rPr>
              <a:t>Dream and sleep</a:t>
            </a:r>
            <a:endParaRPr lang="en-US" sz="1800" dirty="0"/>
          </a:p>
        </p:txBody>
      </p:sp>
      <p:sp>
        <p:nvSpPr>
          <p:cNvPr id="17" name="Text 15"/>
          <p:cNvSpPr txBox="1"/>
          <p:nvPr/>
        </p:nvSpPr>
        <p:spPr>
          <a:xfrm>
            <a:off x="2926080" y="3090672"/>
            <a:ext cx="5577840" cy="594360"/>
          </a:xfrm>
          <a:prstGeom prst="rect">
            <a:avLst/>
          </a:prstGeom>
          <a:noFill/>
          <a:ln/>
        </p:spPr>
        <p:txBody>
          <a:bodyPr wrap="square" lIns="0" tIns="0" rIns="0" bIns="0" rtlCol="0" anchor="ctr"/>
          <a:lstStyle/>
          <a:p>
            <a:pPr indent="0" marL="0">
              <a:buNone/>
            </a:pPr>
            <a:r>
              <a:rPr lang="en-US" sz="1400" dirty="0">
                <a:solidFill>
                  <a:schemeClr val="tx1"/>
                </a:solidFill>
                <a:latin typeface="Calibri" pitchFamily="34" charset="0"/>
                <a:ea typeface="Calibri" pitchFamily="34" charset="-122"/>
                <a:cs typeface="Calibri" pitchFamily="34" charset="-120"/>
              </a:rPr>
              <a:t>Old classes are replayed from 10-bit counters, so nothing is stored. The night ends by itself.</a:t>
            </a:r>
            <a:endParaRPr lang="en-US" sz="1400" dirty="0"/>
          </a:p>
        </p:txBody>
      </p:sp>
      <p:sp>
        <p:nvSpPr>
          <p:cNvPr id="18" name="card"/>
          <p:cNvSpPr/>
          <p:nvPr/>
        </p:nvSpPr>
        <p:spPr>
          <a:xfrm>
            <a:off x="457200" y="3886200"/>
            <a:ext cx="8229600" cy="731520"/>
          </a:xfrm>
          <a:prstGeom prst="roundRect">
            <a:avLst>
              <a:gd name="adj" fmla="val 12500"/>
            </a:avLst>
          </a:prstGeom>
          <a:solidFill>
            <a:schemeClr val="bg2"/>
          </a:solidFill>
          <a:ln w="12700">
            <a:solidFill>
              <a:schemeClr val="bg2"/>
            </a:solidFill>
            <a:prstDash val="solid"/>
          </a:ln>
        </p:spPr>
      </p:sp>
      <p:sp>
        <p:nvSpPr>
          <p:cNvPr id="19" name="marker"/>
          <p:cNvSpPr/>
          <p:nvPr/>
        </p:nvSpPr>
        <p:spPr>
          <a:xfrm>
            <a:off x="594360" y="4023360"/>
            <a:ext cx="457200" cy="457200"/>
          </a:xfrm>
          <a:prstGeom prst="ellipse">
            <a:avLst/>
          </a:prstGeom>
          <a:solidFill>
            <a:schemeClr val="accent1"/>
          </a:solidFill>
          <a:ln w="12700">
            <a:solidFill>
              <a:schemeClr val="accent1"/>
            </a:solidFill>
            <a:prstDash val="solid"/>
          </a:ln>
        </p:spPr>
      </p:sp>
      <p:sp>
        <p:nvSpPr>
          <p:cNvPr id="20" name="Text 18"/>
          <p:cNvSpPr txBox="1"/>
          <p:nvPr/>
        </p:nvSpPr>
        <p:spPr>
          <a:xfrm>
            <a:off x="594360" y="4069080"/>
            <a:ext cx="457200" cy="365760"/>
          </a:xfrm>
          <a:prstGeom prst="rect">
            <a:avLst/>
          </a:prstGeom>
          <a:noFill/>
          <a:ln/>
        </p:spPr>
        <p:txBody>
          <a:bodyPr wrap="square" lIns="0" tIns="0" rIns="0" bIns="0" rtlCol="0" anchor="t"/>
          <a:lstStyle/>
          <a:p>
            <a:pPr algn="ctr" indent="0" marL="0">
              <a:buNone/>
            </a:pPr>
            <a:r>
              <a:rPr lang="en-US" sz="1800" b="1" dirty="0">
                <a:solidFill>
                  <a:schemeClr val="tx1"/>
                </a:solidFill>
                <a:latin typeface="Calibri" pitchFamily="34" charset="0"/>
                <a:ea typeface="Calibri" pitchFamily="34" charset="-122"/>
                <a:cs typeface="Calibri" pitchFamily="34" charset="-120"/>
              </a:rPr>
              <a:t>4</a:t>
            </a:r>
            <a:endParaRPr lang="en-US" sz="1800" dirty="0"/>
          </a:p>
        </p:txBody>
      </p:sp>
      <p:sp>
        <p:nvSpPr>
          <p:cNvPr id="21" name="Text 19"/>
          <p:cNvSpPr txBox="1"/>
          <p:nvPr/>
        </p:nvSpPr>
        <p:spPr>
          <a:xfrm>
            <a:off x="1234440" y="3959352"/>
            <a:ext cx="1737360" cy="548640"/>
          </a:xfrm>
          <a:prstGeom prst="rect">
            <a:avLst/>
          </a:prstGeom>
          <a:noFill/>
          <a:ln/>
        </p:spPr>
        <p:txBody>
          <a:bodyPr wrap="square" lIns="0" tIns="0" rIns="0" bIns="0" rtlCol="0" anchor="ctr"/>
          <a:lstStyle/>
          <a:p>
            <a:pPr indent="0" marL="0">
              <a:buNone/>
            </a:pPr>
            <a:r>
              <a:rPr lang="en-US" sz="1800" b="1" dirty="0">
                <a:solidFill>
                  <a:schemeClr val="tx1"/>
                </a:solidFill>
                <a:latin typeface="Calibri" pitchFamily="34" charset="0"/>
                <a:ea typeface="Calibri" pitchFamily="34" charset="-122"/>
                <a:cs typeface="Calibri" pitchFamily="34" charset="-120"/>
              </a:rPr>
              <a:t>Share</a:t>
            </a:r>
            <a:endParaRPr lang="en-US" sz="1800" dirty="0"/>
          </a:p>
        </p:txBody>
      </p:sp>
      <p:sp>
        <p:nvSpPr>
          <p:cNvPr id="22" name="Text 20"/>
          <p:cNvSpPr txBox="1"/>
          <p:nvPr/>
        </p:nvSpPr>
        <p:spPr>
          <a:xfrm>
            <a:off x="2926080" y="3959352"/>
            <a:ext cx="5577840" cy="594360"/>
          </a:xfrm>
          <a:prstGeom prst="rect">
            <a:avLst/>
          </a:prstGeom>
          <a:noFill/>
          <a:ln/>
        </p:spPr>
        <p:txBody>
          <a:bodyPr wrap="square" lIns="0" tIns="0" rIns="0" bIns="0" rtlCol="0" anchor="ctr"/>
          <a:lstStyle/>
          <a:p>
            <a:pPr indent="0" marL="0">
              <a:buNone/>
            </a:pPr>
            <a:r>
              <a:rPr lang="en-US" sz="1400" dirty="0">
                <a:solidFill>
                  <a:schemeClr val="tx1"/>
                </a:solidFill>
                <a:latin typeface="Calibri" pitchFamily="34" charset="0"/>
                <a:ea typeface="Calibri" pitchFamily="34" charset="-122"/>
                <a:cs typeface="Calibri" pitchFamily="34" charset="-120"/>
              </a:rPr>
              <a:t>A second chip can take over the memory, or two memories merge by adding counts.</a:t>
            </a:r>
            <a:endParaRPr lang="en-US" sz="1400" dirty="0"/>
          </a:p>
        </p:txBody>
      </p:sp>
      <p:sp>
        <p:nvSpPr>
          <p:cNvPr id="25" name="Slide Number Placeholder 0"/>
          <p:cNvSpPr>
            <a:spLocks noGrp="1"/>
          </p:cNvSpPr>
          <p:nvPr>
            <p:ph type="sldNum" sz="quarter" idx="4294967295"/>
          </p:nvPr>
        </p:nvSpPr>
        <p:spPr>
          <a:xfrm>
            <a:off x="8412480" y="48006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82296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It learns in stages and keeps what it knew</a:t>
            </a:r>
            <a:endParaRPr lang="en-US" sz="3000" dirty="0"/>
          </a:p>
        </p:txBody>
      </p:sp>
      <p:graphicFrame>
        <p:nvGraphicFramePr>
          <p:cNvPr id="3" name="Chart 0" descr=""/>
          <p:cNvGraphicFramePr/>
          <p:nvPr/>
        </p:nvGraphicFramePr>
        <p:xfrm>
          <a:off x="457200" y="1188720"/>
          <a:ext cx="5303520" cy="3474720"/>
        </p:xfrm>
        <a:graphic xmlns:a="http://schemas.openxmlformats.org/drawingml/2006/main">
          <a:graphicData uri="http://schemas.openxmlformats.org/drawingml/2006/chart">
            <c:chart xmlns:c="http://schemas.openxmlformats.org/drawingml/2006/chart" r:id="rId1"/>
          </a:graphicData>
        </a:graphic>
      </p:graphicFrame>
      <p:sp>
        <p:nvSpPr>
          <p:cNvPr id="4" name="card"/>
          <p:cNvSpPr/>
          <p:nvPr/>
        </p:nvSpPr>
        <p:spPr>
          <a:xfrm>
            <a:off x="5943600" y="1280160"/>
            <a:ext cx="2743200" cy="3291840"/>
          </a:xfrm>
          <a:prstGeom prst="roundRect">
            <a:avLst>
              <a:gd name="adj" fmla="val 3333"/>
            </a:avLst>
          </a:prstGeom>
          <a:solidFill>
            <a:schemeClr val="bg2"/>
          </a:solidFill>
          <a:ln w="12700">
            <a:solidFill>
              <a:schemeClr val="bg2"/>
            </a:solidFill>
            <a:prstDash val="solid"/>
          </a:ln>
        </p:spPr>
      </p:sp>
      <p:sp>
        <p:nvSpPr>
          <p:cNvPr id="5" name="Text 2"/>
          <p:cNvSpPr txBox="1"/>
          <p:nvPr/>
        </p:nvSpPr>
        <p:spPr>
          <a:xfrm>
            <a:off x="6126480" y="1417320"/>
            <a:ext cx="2377440" cy="365760"/>
          </a:xfrm>
          <a:prstGeom prst="rect">
            <a:avLst/>
          </a:prstGeom>
          <a:noFill/>
          <a:ln/>
        </p:spPr>
        <p:txBody>
          <a:bodyPr wrap="square" lIns="0" tIns="0" rIns="0" bIns="0" rtlCol="0" anchor="t"/>
          <a:lstStyle/>
          <a:p>
            <a:pPr indent="0" marL="0">
              <a:buNone/>
            </a:pPr>
            <a:r>
              <a:rPr lang="en-US" sz="1200" b="1" dirty="0">
                <a:solidFill>
                  <a:schemeClr val="accent2"/>
                </a:solidFill>
                <a:latin typeface="Calibri" pitchFamily="34" charset="0"/>
                <a:ea typeface="Calibri" pitchFamily="34" charset="-122"/>
                <a:cs typeface="Calibri" pitchFamily="34" charset="-120"/>
              </a:rPr>
              <a:t>SIMULATED</a:t>
            </a:r>
            <a:endParaRPr lang="en-US" sz="1200" dirty="0"/>
          </a:p>
        </p:txBody>
      </p:sp>
      <p:sp>
        <p:nvSpPr>
          <p:cNvPr id="6" name="Text 3"/>
          <p:cNvSpPr txBox="1"/>
          <p:nvPr/>
        </p:nvSpPr>
        <p:spPr>
          <a:xfrm>
            <a:off x="6126480" y="1737360"/>
            <a:ext cx="2377440" cy="137160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Exact integer model of the chip, 5 seeds. The same arithmetic runs in the RTL, checked bit for bit.</a:t>
            </a:r>
            <a:endParaRPr lang="en-US" sz="1400" dirty="0"/>
          </a:p>
        </p:txBody>
      </p:sp>
      <p:sp>
        <p:nvSpPr>
          <p:cNvPr id="7" name="Text 4"/>
          <p:cNvSpPr txBox="1"/>
          <p:nvPr/>
        </p:nvSpPr>
        <p:spPr>
          <a:xfrm>
            <a:off x="6126480" y="3200400"/>
            <a:ext cx="2377440" cy="118872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One class at a time (10 stages, today's design): digits 93.6, clothing 79.1 vs a network near 10.</a:t>
            </a:r>
            <a:endParaRPr lang="en-US" sz="1400" dirty="0"/>
          </a:p>
        </p:txBody>
      </p:sp>
      <p:sp>
        <p:nvSpPr>
          <p:cNvPr id="25" name="Slide Number Placeholder 0"/>
          <p:cNvSpPr>
            <a:spLocks noGrp="1"/>
          </p:cNvSpPr>
          <p:nvPr>
            <p:ph type="sldNum" sz="quarter" idx="4294967295"/>
          </p:nvPr>
        </p:nvSpPr>
        <p:spPr>
          <a:xfrm>
            <a:off x="8412480" y="48006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82296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A new class from one example, after shipping</a:t>
            </a:r>
            <a:endParaRPr lang="en-US" sz="3000" dirty="0"/>
          </a:p>
        </p:txBody>
      </p:sp>
      <p:graphicFrame>
        <p:nvGraphicFramePr>
          <p:cNvPr id="3" name="Chart 0" descr=""/>
          <p:cNvGraphicFramePr/>
          <p:nvPr/>
        </p:nvGraphicFramePr>
        <p:xfrm>
          <a:off x="457200" y="1188720"/>
          <a:ext cx="5303520" cy="3474720"/>
        </p:xfrm>
        <a:graphic xmlns:a="http://schemas.openxmlformats.org/drawingml/2006/main">
          <a:graphicData uri="http://schemas.openxmlformats.org/drawingml/2006/chart">
            <c:chart xmlns:c="http://schemas.openxmlformats.org/drawingml/2006/chart" r:id="rId1"/>
          </a:graphicData>
        </a:graphic>
      </p:graphicFrame>
      <p:sp>
        <p:nvSpPr>
          <p:cNvPr id="4" name="card"/>
          <p:cNvSpPr/>
          <p:nvPr/>
        </p:nvSpPr>
        <p:spPr>
          <a:xfrm>
            <a:off x="5943600" y="1280160"/>
            <a:ext cx="2743200" cy="3291840"/>
          </a:xfrm>
          <a:prstGeom prst="roundRect">
            <a:avLst>
              <a:gd name="adj" fmla="val 3333"/>
            </a:avLst>
          </a:prstGeom>
          <a:solidFill>
            <a:schemeClr val="bg2"/>
          </a:solidFill>
          <a:ln w="12700">
            <a:solidFill>
              <a:schemeClr val="bg2"/>
            </a:solidFill>
            <a:prstDash val="solid"/>
          </a:ln>
        </p:spPr>
      </p:sp>
      <p:sp>
        <p:nvSpPr>
          <p:cNvPr id="5" name="Text 2"/>
          <p:cNvSpPr txBox="1"/>
          <p:nvPr/>
        </p:nvSpPr>
        <p:spPr>
          <a:xfrm>
            <a:off x="6126480" y="1417320"/>
            <a:ext cx="2377440" cy="365760"/>
          </a:xfrm>
          <a:prstGeom prst="rect">
            <a:avLst/>
          </a:prstGeom>
          <a:noFill/>
          <a:ln/>
        </p:spPr>
        <p:txBody>
          <a:bodyPr wrap="square" lIns="0" tIns="0" rIns="0" bIns="0" rtlCol="0" anchor="t"/>
          <a:lstStyle/>
          <a:p>
            <a:pPr indent="0" marL="0">
              <a:buNone/>
            </a:pPr>
            <a:r>
              <a:rPr lang="en-US" sz="1200" b="1" dirty="0">
                <a:solidFill>
                  <a:schemeClr val="accent2"/>
                </a:solidFill>
                <a:latin typeface="Calibri" pitchFamily="34" charset="0"/>
                <a:ea typeface="Calibri" pitchFamily="34" charset="-122"/>
                <a:cs typeface="Calibri" pitchFamily="34" charset="-120"/>
              </a:rPr>
              <a:t>SIMULATED, in RTL</a:t>
            </a:r>
            <a:endParaRPr lang="en-US" sz="1200" dirty="0"/>
          </a:p>
        </p:txBody>
      </p:sp>
      <p:sp>
        <p:nvSpPr>
          <p:cNvPr id="6" name="Text 3"/>
          <p:cNvSpPr txBox="1"/>
          <p:nvPr/>
        </p:nvSpPr>
        <p:spPr>
          <a:xfrm>
            <a:off x="6126480" y="1737360"/>
            <a:ext cx="2377440" cy="182880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A novelty-gated imprint raises the table row for the new class at once, then a short sleep blends it in. Old classes stay within 1 to 5 points.</a:t>
            </a:r>
            <a:endParaRPr lang="en-US" sz="1400" dirty="0"/>
          </a:p>
        </p:txBody>
      </p:sp>
      <p:sp>
        <p:nvSpPr>
          <p:cNvPr id="7" name="Text 4"/>
          <p:cNvSpPr txBox="1"/>
          <p:nvPr/>
        </p:nvSpPr>
        <p:spPr>
          <a:xfrm>
            <a:off x="6126480" y="3657600"/>
            <a:ext cx="2377440" cy="822960"/>
          </a:xfrm>
          <a:prstGeom prst="rect">
            <a:avLst/>
          </a:prstGeom>
          <a:noFill/>
          <a:ln/>
        </p:spPr>
        <p:txBody>
          <a:bodyPr wrap="square" lIns="0" tIns="0" rIns="0" bIns="0" rtlCol="0" anchor="t"/>
          <a:lstStyle/>
          <a:p>
            <a:pPr indent="0" marL="0">
              <a:buNone/>
            </a:pPr>
            <a:r>
              <a:rPr lang="en-US" sz="1400" b="1" dirty="0">
                <a:solidFill>
                  <a:schemeClr val="accent4"/>
                </a:solidFill>
                <a:latin typeface="Calibri" pitchFamily="34" charset="0"/>
                <a:ea typeface="Calibri" pitchFamily="34" charset="-122"/>
                <a:cs typeface="Calibri" pitchFamily="34" charset="-120"/>
              </a:rPr>
              <a:t>Spoken words stay weak: we say so on the limits slide.</a:t>
            </a:r>
            <a:endParaRPr lang="en-US" sz="1400" dirty="0"/>
          </a:p>
        </p:txBody>
      </p:sp>
      <p:sp>
        <p:nvSpPr>
          <p:cNvPr id="25" name="Slide Number Placeholder 0"/>
          <p:cNvSpPr>
            <a:spLocks noGrp="1"/>
          </p:cNvSpPr>
          <p:nvPr>
            <p:ph type="sldNum" sz="quarter" idx="4294967295"/>
          </p:nvPr>
        </p:nvSpPr>
        <p:spPr>
          <a:xfrm>
            <a:off x="8412480" y="48006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82296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It hears: raw sound to word, on the chip</a:t>
            </a:r>
            <a:endParaRPr lang="en-US" sz="3000" dirty="0"/>
          </a:p>
        </p:txBody>
      </p:sp>
      <p:graphicFrame>
        <p:nvGraphicFramePr>
          <p:cNvPr id="3" name="Chart 0" descr=""/>
          <p:cNvGraphicFramePr/>
          <p:nvPr/>
        </p:nvGraphicFramePr>
        <p:xfrm>
          <a:off x="457200" y="1188720"/>
          <a:ext cx="4754880" cy="3474720"/>
        </p:xfrm>
        <a:graphic xmlns:a="http://schemas.openxmlformats.org/drawingml/2006/main">
          <a:graphicData uri="http://schemas.openxmlformats.org/drawingml/2006/chart">
            <c:chart xmlns:c="http://schemas.openxmlformats.org/drawingml/2006/chart" r:id="rId1"/>
          </a:graphicData>
        </a:graphic>
      </p:graphicFrame>
      <p:sp>
        <p:nvSpPr>
          <p:cNvPr id="4" name="card"/>
          <p:cNvSpPr/>
          <p:nvPr/>
        </p:nvSpPr>
        <p:spPr>
          <a:xfrm>
            <a:off x="5394960" y="1280160"/>
            <a:ext cx="3291840" cy="3291840"/>
          </a:xfrm>
          <a:prstGeom prst="roundRect">
            <a:avLst>
              <a:gd name="adj" fmla="val 2778"/>
            </a:avLst>
          </a:prstGeom>
          <a:solidFill>
            <a:schemeClr val="bg2"/>
          </a:solidFill>
          <a:ln w="12700">
            <a:solidFill>
              <a:schemeClr val="bg2"/>
            </a:solidFill>
            <a:prstDash val="solid"/>
          </a:ln>
        </p:spPr>
      </p:sp>
      <p:sp>
        <p:nvSpPr>
          <p:cNvPr id="5" name="Text 2"/>
          <p:cNvSpPr txBox="1"/>
          <p:nvPr/>
        </p:nvSpPr>
        <p:spPr>
          <a:xfrm>
            <a:off x="5577840" y="1417320"/>
            <a:ext cx="2926080" cy="365760"/>
          </a:xfrm>
          <a:prstGeom prst="rect">
            <a:avLst/>
          </a:prstGeom>
          <a:noFill/>
          <a:ln/>
        </p:spPr>
        <p:txBody>
          <a:bodyPr wrap="square" lIns="0" tIns="0" rIns="0" bIns="0" rtlCol="0" anchor="t"/>
          <a:lstStyle/>
          <a:p>
            <a:pPr indent="0" marL="0">
              <a:buNone/>
            </a:pPr>
            <a:r>
              <a:rPr lang="en-US" sz="1200" b="1" dirty="0">
                <a:solidFill>
                  <a:schemeClr val="accent2"/>
                </a:solidFill>
                <a:latin typeface="Calibri" pitchFamily="34" charset="0"/>
                <a:ea typeface="Calibri" pitchFamily="34" charset="-122"/>
                <a:cs typeface="Calibri" pitchFamily="34" charset="-120"/>
              </a:rPr>
              <a:t>SIMULATED, in RTL</a:t>
            </a:r>
            <a:endParaRPr lang="en-US" sz="1200" dirty="0"/>
          </a:p>
        </p:txBody>
      </p:sp>
      <p:sp>
        <p:nvSpPr>
          <p:cNvPr id="6" name="Text 3"/>
          <p:cNvSpPr txBox="1"/>
          <p:nvPr/>
        </p:nvSpPr>
        <p:spPr>
          <a:xfrm>
            <a:off x="5577840" y="1783080"/>
            <a:ext cx="2926080" cy="457200"/>
          </a:xfrm>
          <a:prstGeom prst="rect">
            <a:avLst/>
          </a:prstGeom>
          <a:noFill/>
          <a:ln/>
        </p:spPr>
        <p:txBody>
          <a:bodyPr wrap="square" lIns="0" tIns="0" rIns="0" bIns="0" rtlCol="0" anchor="t"/>
          <a:lstStyle/>
          <a:p>
            <a:pPr indent="0" marL="0">
              <a:buNone/>
            </a:pPr>
            <a:r>
              <a:rPr lang="en-US" sz="2200" b="1" dirty="0">
                <a:solidFill>
                  <a:schemeClr val="tx1"/>
                </a:solidFill>
                <a:latin typeface="Cambria" pitchFamily="34" charset="0"/>
                <a:ea typeface="Cambria" pitchFamily="34" charset="-122"/>
                <a:cs typeface="Cambria" pitchFamily="34" charset="-120"/>
              </a:rPr>
              <a:t>71.9 to 82.5 all at once</a:t>
            </a:r>
            <a:endParaRPr lang="en-US" sz="2200" dirty="0"/>
          </a:p>
        </p:txBody>
      </p:sp>
      <p:sp>
        <p:nvSpPr>
          <p:cNvPr id="7" name="Text 4"/>
          <p:cNvSpPr txBox="1"/>
          <p:nvPr/>
        </p:nvSpPr>
        <p:spPr>
          <a:xfrm>
            <a:off x="5577840" y="2331720"/>
            <a:ext cx="2926080" cy="155448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from word alignment: every word is shifted so its start lands at the same frame. Samples, cochlea, encoder and core run as one bit-exact chain.</a:t>
            </a:r>
            <a:endParaRPr lang="en-US" sz="1400" dirty="0"/>
          </a:p>
        </p:txBody>
      </p:sp>
      <p:sp>
        <p:nvSpPr>
          <p:cNvPr id="8" name="Text 5"/>
          <p:cNvSpPr txBox="1"/>
          <p:nvPr/>
        </p:nvSpPr>
        <p:spPr>
          <a:xfrm>
            <a:off x="5577840" y="3840480"/>
            <a:ext cx="2926080" cy="640080"/>
          </a:xfrm>
          <a:prstGeom prst="rect">
            <a:avLst/>
          </a:prstGeom>
          <a:noFill/>
          <a:ln/>
        </p:spPr>
        <p:txBody>
          <a:bodyPr wrap="square" lIns="0" tIns="0" rIns="0" bIns="0" rtlCol="0" anchor="t"/>
          <a:lstStyle/>
          <a:p>
            <a:pPr indent="0" marL="0">
              <a:buNone/>
            </a:pPr>
            <a:r>
              <a:rPr lang="en-US" sz="1200" dirty="0">
                <a:solidFill>
                  <a:schemeClr val="accent6"/>
                </a:solidFill>
                <a:latin typeface="Calibri" pitchFamily="34" charset="0"/>
                <a:ea typeface="Calibri" pitchFamily="34" charset="-122"/>
                <a:cs typeface="Calibri" pitchFamily="34" charset="-120"/>
              </a:rPr>
              <a:t>Needs 422 KB of memory for sound (PSRAM or an ASIC), so not on the Tang Nano yet.</a:t>
            </a:r>
            <a:endParaRPr lang="en-US" sz="1200" dirty="0"/>
          </a:p>
        </p:txBody>
      </p:sp>
      <p:sp>
        <p:nvSpPr>
          <p:cNvPr id="25" name="Slide Number Placeholder 0"/>
          <p:cNvSpPr>
            <a:spLocks noGrp="1"/>
          </p:cNvSpPr>
          <p:nvPr>
            <p:ph type="sldNum" sz="quarter" idx="4294967295"/>
          </p:nvPr>
        </p:nvSpPr>
        <p:spPr>
          <a:xfrm>
            <a:off x="8412480" y="48006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82296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Knowledge moves between chips</a:t>
            </a:r>
            <a:endParaRPr lang="en-US" sz="3000" dirty="0"/>
          </a:p>
        </p:txBody>
      </p:sp>
      <p:graphicFrame>
        <p:nvGraphicFramePr>
          <p:cNvPr id="3" name="Chart 0" descr=""/>
          <p:cNvGraphicFramePr/>
          <p:nvPr/>
        </p:nvGraphicFramePr>
        <p:xfrm>
          <a:off x="457200" y="1188720"/>
          <a:ext cx="5303520" cy="3474720"/>
        </p:xfrm>
        <a:graphic xmlns:a="http://schemas.openxmlformats.org/drawingml/2006/main">
          <a:graphicData uri="http://schemas.openxmlformats.org/drawingml/2006/chart">
            <c:chart xmlns:c="http://schemas.openxmlformats.org/drawingml/2006/chart" r:id="rId1"/>
          </a:graphicData>
        </a:graphic>
      </p:graphicFrame>
      <p:sp>
        <p:nvSpPr>
          <p:cNvPr id="4" name="card"/>
          <p:cNvSpPr/>
          <p:nvPr/>
        </p:nvSpPr>
        <p:spPr>
          <a:xfrm>
            <a:off x="5943600" y="1280160"/>
            <a:ext cx="2743200" cy="3291840"/>
          </a:xfrm>
          <a:prstGeom prst="roundRect">
            <a:avLst>
              <a:gd name="adj" fmla="val 3333"/>
            </a:avLst>
          </a:prstGeom>
          <a:solidFill>
            <a:schemeClr val="bg2"/>
          </a:solidFill>
          <a:ln w="12700">
            <a:solidFill>
              <a:schemeClr val="bg2"/>
            </a:solidFill>
            <a:prstDash val="solid"/>
          </a:ln>
        </p:spPr>
      </p:sp>
      <p:sp>
        <p:nvSpPr>
          <p:cNvPr id="5" name="Text 2"/>
          <p:cNvSpPr txBox="1"/>
          <p:nvPr/>
        </p:nvSpPr>
        <p:spPr>
          <a:xfrm>
            <a:off x="6126480" y="1417320"/>
            <a:ext cx="2377440" cy="365760"/>
          </a:xfrm>
          <a:prstGeom prst="rect">
            <a:avLst/>
          </a:prstGeom>
          <a:noFill/>
          <a:ln/>
        </p:spPr>
        <p:txBody>
          <a:bodyPr wrap="square" lIns="0" tIns="0" rIns="0" bIns="0" rtlCol="0" anchor="t"/>
          <a:lstStyle/>
          <a:p>
            <a:pPr indent="0" marL="0">
              <a:buNone/>
            </a:pPr>
            <a:r>
              <a:rPr lang="en-US" sz="1200" b="1" dirty="0">
                <a:solidFill>
                  <a:schemeClr val="accent2"/>
                </a:solidFill>
                <a:latin typeface="Calibri" pitchFamily="34" charset="0"/>
                <a:ea typeface="Calibri" pitchFamily="34" charset="-122"/>
                <a:cs typeface="Calibri" pitchFamily="34" charset="-120"/>
              </a:rPr>
              <a:t>SIMULATED, 3 seeds</a:t>
            </a:r>
            <a:endParaRPr lang="en-US" sz="1200" dirty="0"/>
          </a:p>
        </p:txBody>
      </p:sp>
      <p:sp>
        <p:nvSpPr>
          <p:cNvPr id="6" name="Text 3"/>
          <p:cNvSpPr txBox="1"/>
          <p:nvPr/>
        </p:nvSpPr>
        <p:spPr>
          <a:xfrm>
            <a:off x="6126480" y="1737360"/>
            <a:ext cx="2377440" cy="256032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Two chips trained on different classes merge by adding their counters. A board demo design reached 91.4% on all ten digits after one night (bit-exact design, PC-side emulator).</a:t>
            </a:r>
            <a:endParaRPr lang="en-US" sz="1400" dirty="0"/>
          </a:p>
        </p:txBody>
      </p:sp>
      <p:sp>
        <p:nvSpPr>
          <p:cNvPr id="25" name="Slide Number Placeholder 0"/>
          <p:cNvSpPr>
            <a:spLocks noGrp="1"/>
          </p:cNvSpPr>
          <p:nvPr>
            <p:ph type="sldNum" sz="quarter" idx="4294967295"/>
          </p:nvPr>
        </p:nvSpPr>
        <p:spPr>
          <a:xfrm>
            <a:off x="8412480" y="48006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82296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We found what limited the scores</a:t>
            </a:r>
            <a:endParaRPr lang="en-US" sz="3000" dirty="0"/>
          </a:p>
        </p:txBody>
      </p:sp>
      <p:sp>
        <p:nvSpPr>
          <p:cNvPr id="3" name="card"/>
          <p:cNvSpPr/>
          <p:nvPr/>
        </p:nvSpPr>
        <p:spPr>
          <a:xfrm>
            <a:off x="457200" y="1280160"/>
            <a:ext cx="8229600" cy="749808"/>
          </a:xfrm>
          <a:prstGeom prst="roundRect">
            <a:avLst>
              <a:gd name="adj" fmla="val 12195"/>
            </a:avLst>
          </a:prstGeom>
          <a:solidFill>
            <a:schemeClr val="bg2"/>
          </a:solidFill>
          <a:ln w="12700">
            <a:solidFill>
              <a:schemeClr val="bg2"/>
            </a:solidFill>
            <a:prstDash val="solid"/>
          </a:ln>
        </p:spPr>
      </p:sp>
      <p:sp>
        <p:nvSpPr>
          <p:cNvPr id="4" name="marker"/>
          <p:cNvSpPr/>
          <p:nvPr/>
        </p:nvSpPr>
        <p:spPr>
          <a:xfrm>
            <a:off x="594360" y="1417320"/>
            <a:ext cx="457200" cy="457200"/>
          </a:xfrm>
          <a:prstGeom prst="ellipse">
            <a:avLst/>
          </a:prstGeom>
          <a:solidFill>
            <a:schemeClr val="accent1"/>
          </a:solidFill>
          <a:ln w="12700">
            <a:solidFill>
              <a:schemeClr val="accent1"/>
            </a:solidFill>
            <a:prstDash val="solid"/>
          </a:ln>
        </p:spPr>
      </p:sp>
      <p:sp>
        <p:nvSpPr>
          <p:cNvPr id="5" name="Text 3"/>
          <p:cNvSpPr txBox="1"/>
          <p:nvPr/>
        </p:nvSpPr>
        <p:spPr>
          <a:xfrm>
            <a:off x="594360" y="1463040"/>
            <a:ext cx="457200" cy="365760"/>
          </a:xfrm>
          <a:prstGeom prst="rect">
            <a:avLst/>
          </a:prstGeom>
          <a:noFill/>
          <a:ln/>
        </p:spPr>
        <p:txBody>
          <a:bodyPr wrap="square" lIns="0" tIns="0" rIns="0" bIns="0" rtlCol="0" anchor="t"/>
          <a:lstStyle/>
          <a:p>
            <a:pPr algn="ctr" indent="0" marL="0">
              <a:buNone/>
            </a:pPr>
            <a:r>
              <a:rPr lang="en-US" sz="1800" b="1" dirty="0">
                <a:solidFill>
                  <a:schemeClr val="tx1"/>
                </a:solidFill>
                <a:latin typeface="Calibri" pitchFamily="34" charset="0"/>
                <a:ea typeface="Calibri" pitchFamily="34" charset="-122"/>
                <a:cs typeface="Calibri" pitchFamily="34" charset="-120"/>
              </a:rPr>
              <a:t>1</a:t>
            </a:r>
            <a:endParaRPr lang="en-US" sz="1800" dirty="0"/>
          </a:p>
        </p:txBody>
      </p:sp>
      <p:sp>
        <p:nvSpPr>
          <p:cNvPr id="6" name="Text 4"/>
          <p:cNvSpPr txBox="1"/>
          <p:nvPr/>
        </p:nvSpPr>
        <p:spPr>
          <a:xfrm>
            <a:off x="1234440" y="1353312"/>
            <a:ext cx="1737360" cy="594360"/>
          </a:xfrm>
          <a:prstGeom prst="rect">
            <a:avLst/>
          </a:prstGeom>
          <a:noFill/>
          <a:ln/>
        </p:spPr>
        <p:txBody>
          <a:bodyPr wrap="square" lIns="0" tIns="0" rIns="0" bIns="0" rtlCol="0" anchor="ctr"/>
          <a:lstStyle/>
          <a:p>
            <a:pPr indent="0" marL="0">
              <a:buNone/>
            </a:pPr>
            <a:r>
              <a:rPr lang="en-US" sz="1600" b="1" dirty="0">
                <a:solidFill>
                  <a:schemeClr val="tx1"/>
                </a:solidFill>
                <a:latin typeface="Calibri" pitchFamily="34" charset="0"/>
                <a:ea typeface="Calibri" pitchFamily="34" charset="-122"/>
                <a:cs typeface="Calibri" pitchFamily="34" charset="-120"/>
              </a:rPr>
              <a:t>Not the senses</a:t>
            </a:r>
            <a:endParaRPr lang="en-US" sz="1600" dirty="0"/>
          </a:p>
        </p:txBody>
      </p:sp>
      <p:sp>
        <p:nvSpPr>
          <p:cNvPr id="7" name="Text 5"/>
          <p:cNvSpPr txBox="1"/>
          <p:nvPr/>
        </p:nvSpPr>
        <p:spPr>
          <a:xfrm>
            <a:off x="2926080" y="1325880"/>
            <a:ext cx="5577840" cy="658368"/>
          </a:xfrm>
          <a:prstGeom prst="rect">
            <a:avLst/>
          </a:prstGeom>
          <a:noFill/>
          <a:ln/>
        </p:spPr>
        <p:txBody>
          <a:bodyPr wrap="square" lIns="0" tIns="0" rIns="0" bIns="0" rtlCol="0" anchor="ctr"/>
          <a:lstStyle/>
          <a:p>
            <a:pPr indent="0" marL="0">
              <a:buNone/>
            </a:pPr>
            <a:r>
              <a:rPr lang="en-US" sz="1300" dirty="0">
                <a:solidFill>
                  <a:schemeClr val="tx1"/>
                </a:solidFill>
                <a:latin typeface="Calibri" pitchFamily="34" charset="0"/>
                <a:ea typeface="Calibri" pitchFamily="34" charset="-122"/>
                <a:cs typeface="Calibri" pitchFamily="34" charset="-120"/>
              </a:rPr>
              <a:t>A plain classifier trained on the chip's own code reaches 87.9% on clothing and 98.3% on digits. The code is good enough.</a:t>
            </a:r>
            <a:endParaRPr lang="en-US" sz="1300" dirty="0"/>
          </a:p>
        </p:txBody>
      </p:sp>
      <p:sp>
        <p:nvSpPr>
          <p:cNvPr id="8" name="card"/>
          <p:cNvSpPr/>
          <p:nvPr/>
        </p:nvSpPr>
        <p:spPr>
          <a:xfrm>
            <a:off x="457200" y="2148840"/>
            <a:ext cx="8229600" cy="749808"/>
          </a:xfrm>
          <a:prstGeom prst="roundRect">
            <a:avLst>
              <a:gd name="adj" fmla="val 12195"/>
            </a:avLst>
          </a:prstGeom>
          <a:solidFill>
            <a:schemeClr val="bg2"/>
          </a:solidFill>
          <a:ln w="12700">
            <a:solidFill>
              <a:schemeClr val="bg2"/>
            </a:solidFill>
            <a:prstDash val="solid"/>
          </a:ln>
        </p:spPr>
      </p:sp>
      <p:sp>
        <p:nvSpPr>
          <p:cNvPr id="9" name="marker"/>
          <p:cNvSpPr/>
          <p:nvPr/>
        </p:nvSpPr>
        <p:spPr>
          <a:xfrm>
            <a:off x="594360" y="2286000"/>
            <a:ext cx="457200" cy="457200"/>
          </a:xfrm>
          <a:prstGeom prst="ellipse">
            <a:avLst/>
          </a:prstGeom>
          <a:solidFill>
            <a:schemeClr val="accent1"/>
          </a:solidFill>
          <a:ln w="12700">
            <a:solidFill>
              <a:schemeClr val="accent1"/>
            </a:solidFill>
            <a:prstDash val="solid"/>
          </a:ln>
        </p:spPr>
      </p:sp>
      <p:sp>
        <p:nvSpPr>
          <p:cNvPr id="10" name="Text 8"/>
          <p:cNvSpPr txBox="1"/>
          <p:nvPr/>
        </p:nvSpPr>
        <p:spPr>
          <a:xfrm>
            <a:off x="594360" y="2331720"/>
            <a:ext cx="457200" cy="365760"/>
          </a:xfrm>
          <a:prstGeom prst="rect">
            <a:avLst/>
          </a:prstGeom>
          <a:noFill/>
          <a:ln/>
        </p:spPr>
        <p:txBody>
          <a:bodyPr wrap="square" lIns="0" tIns="0" rIns="0" bIns="0" rtlCol="0" anchor="t"/>
          <a:lstStyle/>
          <a:p>
            <a:pPr algn="ctr" indent="0" marL="0">
              <a:buNone/>
            </a:pPr>
            <a:r>
              <a:rPr lang="en-US" sz="1800" b="1" dirty="0">
                <a:solidFill>
                  <a:schemeClr val="tx1"/>
                </a:solidFill>
                <a:latin typeface="Calibri" pitchFamily="34" charset="0"/>
                <a:ea typeface="Calibri" pitchFamily="34" charset="-122"/>
                <a:cs typeface="Calibri" pitchFamily="34" charset="-120"/>
              </a:rPr>
              <a:t>2</a:t>
            </a:r>
            <a:endParaRPr lang="en-US" sz="1800" dirty="0"/>
          </a:p>
        </p:txBody>
      </p:sp>
      <p:sp>
        <p:nvSpPr>
          <p:cNvPr id="11" name="Text 9"/>
          <p:cNvSpPr txBox="1"/>
          <p:nvPr/>
        </p:nvSpPr>
        <p:spPr>
          <a:xfrm>
            <a:off x="1234440" y="2221992"/>
            <a:ext cx="1737360" cy="594360"/>
          </a:xfrm>
          <a:prstGeom prst="rect">
            <a:avLst/>
          </a:prstGeom>
          <a:noFill/>
          <a:ln/>
        </p:spPr>
        <p:txBody>
          <a:bodyPr wrap="square" lIns="0" tIns="0" rIns="0" bIns="0" rtlCol="0" anchor="ctr"/>
          <a:lstStyle/>
          <a:p>
            <a:pPr indent="0" marL="0">
              <a:buNone/>
            </a:pPr>
            <a:r>
              <a:rPr lang="en-US" sz="1600" b="1" dirty="0">
                <a:solidFill>
                  <a:schemeClr val="tx1"/>
                </a:solidFill>
                <a:latin typeface="Calibri" pitchFamily="34" charset="0"/>
                <a:ea typeface="Calibri" pitchFamily="34" charset="-122"/>
                <a:cs typeface="Calibri" pitchFamily="34" charset="-120"/>
              </a:rPr>
              <a:t>The readout</a:t>
            </a:r>
            <a:endParaRPr lang="en-US" sz="1600" dirty="0"/>
          </a:p>
        </p:txBody>
      </p:sp>
      <p:sp>
        <p:nvSpPr>
          <p:cNvPr id="12" name="Text 10"/>
          <p:cNvSpPr txBox="1"/>
          <p:nvPr/>
        </p:nvSpPr>
        <p:spPr>
          <a:xfrm>
            <a:off x="2926080" y="2194560"/>
            <a:ext cx="5577840" cy="658368"/>
          </a:xfrm>
          <a:prstGeom prst="rect">
            <a:avLst/>
          </a:prstGeom>
          <a:noFill/>
          <a:ln/>
        </p:spPr>
        <p:txBody>
          <a:bodyPr wrap="square" lIns="0" tIns="0" rIns="0" bIns="0" rtlCol="0" anchor="ctr"/>
          <a:lstStyle/>
          <a:p>
            <a:pPr indent="0" marL="0">
              <a:buNone/>
            </a:pPr>
            <a:r>
              <a:rPr lang="en-US" sz="1300" dirty="0">
                <a:solidFill>
                  <a:schemeClr val="tx1"/>
                </a:solidFill>
                <a:latin typeface="Calibri" pitchFamily="34" charset="0"/>
                <a:ea typeface="Calibri" pitchFamily="34" charset="-122"/>
                <a:cs typeface="Calibri" pitchFamily="34" charset="-120"/>
              </a:rPr>
              <a:t>The chip learns its table online in one pass with 5-bit entries, which loses 3 to 4 points.</a:t>
            </a:r>
            <a:endParaRPr lang="en-US" sz="1300" dirty="0"/>
          </a:p>
        </p:txBody>
      </p:sp>
      <p:sp>
        <p:nvSpPr>
          <p:cNvPr id="13" name="card"/>
          <p:cNvSpPr/>
          <p:nvPr/>
        </p:nvSpPr>
        <p:spPr>
          <a:xfrm>
            <a:off x="457200" y="3017520"/>
            <a:ext cx="8229600" cy="749808"/>
          </a:xfrm>
          <a:prstGeom prst="roundRect">
            <a:avLst>
              <a:gd name="adj" fmla="val 12195"/>
            </a:avLst>
          </a:prstGeom>
          <a:solidFill>
            <a:schemeClr val="bg2"/>
          </a:solidFill>
          <a:ln w="12700">
            <a:solidFill>
              <a:schemeClr val="bg2"/>
            </a:solidFill>
            <a:prstDash val="solid"/>
          </a:ln>
        </p:spPr>
      </p:sp>
      <p:sp>
        <p:nvSpPr>
          <p:cNvPr id="14" name="marker"/>
          <p:cNvSpPr/>
          <p:nvPr/>
        </p:nvSpPr>
        <p:spPr>
          <a:xfrm>
            <a:off x="594360" y="3154680"/>
            <a:ext cx="457200" cy="457200"/>
          </a:xfrm>
          <a:prstGeom prst="ellipse">
            <a:avLst/>
          </a:prstGeom>
          <a:solidFill>
            <a:schemeClr val="accent3"/>
          </a:solidFill>
          <a:ln w="12700">
            <a:solidFill>
              <a:schemeClr val="accent3"/>
            </a:solidFill>
            <a:prstDash val="solid"/>
          </a:ln>
        </p:spPr>
      </p:sp>
      <p:sp>
        <p:nvSpPr>
          <p:cNvPr id="15" name="Text 13"/>
          <p:cNvSpPr txBox="1"/>
          <p:nvPr/>
        </p:nvSpPr>
        <p:spPr>
          <a:xfrm>
            <a:off x="594360" y="3200400"/>
            <a:ext cx="457200" cy="365760"/>
          </a:xfrm>
          <a:prstGeom prst="rect">
            <a:avLst/>
          </a:prstGeom>
          <a:noFill/>
          <a:ln/>
        </p:spPr>
        <p:txBody>
          <a:bodyPr wrap="square" lIns="0" tIns="0" rIns="0" bIns="0" rtlCol="0" anchor="t"/>
          <a:lstStyle/>
          <a:p>
            <a:pPr algn="ctr" indent="0" marL="0">
              <a:buNone/>
            </a:pPr>
            <a:r>
              <a:rPr lang="en-US" sz="1800" b="1" dirty="0">
                <a:solidFill>
                  <a:schemeClr val="tx1"/>
                </a:solidFill>
                <a:latin typeface="Calibri" pitchFamily="34" charset="0"/>
                <a:ea typeface="Calibri" pitchFamily="34" charset="-122"/>
                <a:cs typeface="Calibri" pitchFamily="34" charset="-120"/>
              </a:rPr>
              <a:t>3</a:t>
            </a:r>
            <a:endParaRPr lang="en-US" sz="1800" dirty="0"/>
          </a:p>
        </p:txBody>
      </p:sp>
      <p:sp>
        <p:nvSpPr>
          <p:cNvPr id="16" name="Text 14"/>
          <p:cNvSpPr txBox="1"/>
          <p:nvPr/>
        </p:nvSpPr>
        <p:spPr>
          <a:xfrm>
            <a:off x="1234440" y="3090672"/>
            <a:ext cx="1737360" cy="594360"/>
          </a:xfrm>
          <a:prstGeom prst="rect">
            <a:avLst/>
          </a:prstGeom>
          <a:noFill/>
          <a:ln/>
        </p:spPr>
        <p:txBody>
          <a:bodyPr wrap="square" lIns="0" tIns="0" rIns="0" bIns="0" rtlCol="0" anchor="ctr"/>
          <a:lstStyle/>
          <a:p>
            <a:pPr indent="0" marL="0">
              <a:buNone/>
            </a:pPr>
            <a:r>
              <a:rPr lang="en-US" sz="1600" b="1" dirty="0">
                <a:solidFill>
                  <a:schemeClr val="tx1"/>
                </a:solidFill>
                <a:latin typeface="Calibri" pitchFamily="34" charset="0"/>
                <a:ea typeface="Calibri" pitchFamily="34" charset="-122"/>
                <a:cs typeface="Calibri" pitchFamily="34" charset="-120"/>
              </a:rPr>
              <a:t>The fix</a:t>
            </a:r>
            <a:endParaRPr lang="en-US" sz="1600" dirty="0"/>
          </a:p>
        </p:txBody>
      </p:sp>
      <p:sp>
        <p:nvSpPr>
          <p:cNvPr id="17" name="Text 15"/>
          <p:cNvSpPr txBox="1"/>
          <p:nvPr/>
        </p:nvSpPr>
        <p:spPr>
          <a:xfrm>
            <a:off x="2926080" y="3063240"/>
            <a:ext cx="5577840" cy="658368"/>
          </a:xfrm>
          <a:prstGeom prst="rect">
            <a:avLst/>
          </a:prstGeom>
          <a:noFill/>
          <a:ln/>
        </p:spPr>
        <p:txBody>
          <a:bodyPr wrap="square" lIns="0" tIns="0" rIns="0" bIns="0" rtlCol="0" anchor="ctr"/>
          <a:lstStyle/>
          <a:p>
            <a:pPr indent="0" marL="0">
              <a:buNone/>
            </a:pPr>
            <a:r>
              <a:rPr lang="en-US" sz="1300" dirty="0">
                <a:solidFill>
                  <a:schemeClr val="tx1"/>
                </a:solidFill>
                <a:latin typeface="Calibri" pitchFamily="34" charset="0"/>
                <a:ea typeface="Calibri" pitchFamily="34" charset="-122"/>
                <a:cs typeface="Calibri" pitchFamily="34" charset="-120"/>
              </a:rPr>
              <a:t>A slow second table averages the fast one, slowly: clothing 83.4 to 87.6, words 83.1 to 86.4, digits 97.0 to 97.8; in stages clothing 78.4 to 81.6. Shifts and adds only; bit-exact in RTL; an ASIC option.</a:t>
            </a:r>
            <a:endParaRPr lang="en-US" sz="1300" dirty="0"/>
          </a:p>
        </p:txBody>
      </p:sp>
      <p:sp>
        <p:nvSpPr>
          <p:cNvPr id="18" name="card"/>
          <p:cNvSpPr/>
          <p:nvPr/>
        </p:nvSpPr>
        <p:spPr>
          <a:xfrm>
            <a:off x="457200" y="3886200"/>
            <a:ext cx="8229600" cy="749808"/>
          </a:xfrm>
          <a:prstGeom prst="roundRect">
            <a:avLst>
              <a:gd name="adj" fmla="val 12195"/>
            </a:avLst>
          </a:prstGeom>
          <a:solidFill>
            <a:schemeClr val="bg2"/>
          </a:solidFill>
          <a:ln w="12700">
            <a:solidFill>
              <a:schemeClr val="bg2"/>
            </a:solidFill>
            <a:prstDash val="solid"/>
          </a:ln>
        </p:spPr>
      </p:sp>
      <p:sp>
        <p:nvSpPr>
          <p:cNvPr id="19" name="marker"/>
          <p:cNvSpPr/>
          <p:nvPr/>
        </p:nvSpPr>
        <p:spPr>
          <a:xfrm>
            <a:off x="594360" y="4023360"/>
            <a:ext cx="457200" cy="457200"/>
          </a:xfrm>
          <a:prstGeom prst="ellipse">
            <a:avLst/>
          </a:prstGeom>
          <a:solidFill>
            <a:schemeClr val="accent1"/>
          </a:solidFill>
          <a:ln w="12700">
            <a:solidFill>
              <a:schemeClr val="accent1"/>
            </a:solidFill>
            <a:prstDash val="solid"/>
          </a:ln>
        </p:spPr>
      </p:sp>
      <p:sp>
        <p:nvSpPr>
          <p:cNvPr id="20" name="Text 18"/>
          <p:cNvSpPr txBox="1"/>
          <p:nvPr/>
        </p:nvSpPr>
        <p:spPr>
          <a:xfrm>
            <a:off x="594360" y="4069080"/>
            <a:ext cx="457200" cy="365760"/>
          </a:xfrm>
          <a:prstGeom prst="rect">
            <a:avLst/>
          </a:prstGeom>
          <a:noFill/>
          <a:ln/>
        </p:spPr>
        <p:txBody>
          <a:bodyPr wrap="square" lIns="0" tIns="0" rIns="0" bIns="0" rtlCol="0" anchor="t"/>
          <a:lstStyle/>
          <a:p>
            <a:pPr algn="ctr" indent="0" marL="0">
              <a:buNone/>
            </a:pPr>
            <a:r>
              <a:rPr lang="en-US" sz="1800" b="1" dirty="0">
                <a:solidFill>
                  <a:schemeClr val="tx1"/>
                </a:solidFill>
                <a:latin typeface="Calibri" pitchFamily="34" charset="0"/>
                <a:ea typeface="Calibri" pitchFamily="34" charset="-122"/>
                <a:cs typeface="Calibri" pitchFamily="34" charset="-120"/>
              </a:rPr>
              <a:t>4</a:t>
            </a:r>
            <a:endParaRPr lang="en-US" sz="1800" dirty="0"/>
          </a:p>
        </p:txBody>
      </p:sp>
      <p:sp>
        <p:nvSpPr>
          <p:cNvPr id="21" name="Text 19"/>
          <p:cNvSpPr txBox="1"/>
          <p:nvPr/>
        </p:nvSpPr>
        <p:spPr>
          <a:xfrm>
            <a:off x="1234440" y="3959352"/>
            <a:ext cx="1737360" cy="594360"/>
          </a:xfrm>
          <a:prstGeom prst="rect">
            <a:avLst/>
          </a:prstGeom>
          <a:noFill/>
          <a:ln/>
        </p:spPr>
        <p:txBody>
          <a:bodyPr wrap="square" lIns="0" tIns="0" rIns="0" bIns="0" rtlCol="0" anchor="ctr"/>
          <a:lstStyle/>
          <a:p>
            <a:pPr indent="0" marL="0">
              <a:buNone/>
            </a:pPr>
            <a:r>
              <a:rPr lang="en-US" sz="1600" b="1" dirty="0">
                <a:solidFill>
                  <a:schemeClr val="tx1"/>
                </a:solidFill>
                <a:latin typeface="Calibri" pitchFamily="34" charset="0"/>
                <a:ea typeface="Calibri" pitchFamily="34" charset="-122"/>
                <a:cs typeface="Calibri" pitchFamily="34" charset="-120"/>
              </a:rPr>
              <a:t>Next gain</a:t>
            </a:r>
            <a:endParaRPr lang="en-US" sz="1600" dirty="0"/>
          </a:p>
        </p:txBody>
      </p:sp>
      <p:sp>
        <p:nvSpPr>
          <p:cNvPr id="22" name="Text 20"/>
          <p:cNvSpPr txBox="1"/>
          <p:nvPr/>
        </p:nvSpPr>
        <p:spPr>
          <a:xfrm>
            <a:off x="2926080" y="3931920"/>
            <a:ext cx="5577840" cy="658368"/>
          </a:xfrm>
          <a:prstGeom prst="rect">
            <a:avLst/>
          </a:prstGeom>
          <a:noFill/>
          <a:ln/>
        </p:spPr>
        <p:txBody>
          <a:bodyPr wrap="square" lIns="0" tIns="0" rIns="0" bIns="0" rtlCol="0" anchor="ctr"/>
          <a:lstStyle/>
          <a:p>
            <a:pPr indent="0" marL="0">
              <a:buNone/>
            </a:pPr>
            <a:r>
              <a:rPr lang="en-US" sz="1300" dirty="0">
                <a:solidFill>
                  <a:schemeClr val="tx1"/>
                </a:solidFill>
                <a:latin typeface="Calibri" pitchFamily="34" charset="0"/>
                <a:ea typeface="Calibri" pitchFamily="34" charset="-122"/>
                <a:cs typeface="Calibri" pitchFamily="34" charset="-120"/>
              </a:rPr>
              <a:t>A finer detector grid for images adds a little more all at once, but it made staged digits worse in an earlier setting, so it is an option.</a:t>
            </a:r>
            <a:endParaRPr lang="en-US" sz="1300" dirty="0"/>
          </a:p>
        </p:txBody>
      </p:sp>
      <p:sp>
        <p:nvSpPr>
          <p:cNvPr id="25" name="Slide Number Placeholder 0"/>
          <p:cNvSpPr>
            <a:spLocks noGrp="1"/>
          </p:cNvSpPr>
          <p:nvPr>
            <p:ph type="sldNum" sz="quarter" idx="4294967295"/>
          </p:nvPr>
        </p:nvSpPr>
        <p:spPr>
          <a:xfrm>
            <a:off x="8412480" y="48006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82296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Small, cheap, and no multiplier</a:t>
            </a:r>
            <a:endParaRPr lang="en-US" sz="3000" dirty="0"/>
          </a:p>
        </p:txBody>
      </p:sp>
      <p:sp>
        <p:nvSpPr>
          <p:cNvPr id="3" name="card"/>
          <p:cNvSpPr/>
          <p:nvPr/>
        </p:nvSpPr>
        <p:spPr>
          <a:xfrm>
            <a:off x="457200" y="1188720"/>
            <a:ext cx="4023360" cy="1554480"/>
          </a:xfrm>
          <a:prstGeom prst="roundRect">
            <a:avLst>
              <a:gd name="adj" fmla="val 5882"/>
            </a:avLst>
          </a:prstGeom>
          <a:solidFill>
            <a:schemeClr val="bg2"/>
          </a:solidFill>
          <a:ln w="12700">
            <a:solidFill>
              <a:schemeClr val="bg2"/>
            </a:solidFill>
            <a:prstDash val="solid"/>
          </a:ln>
        </p:spPr>
      </p:sp>
      <p:sp>
        <p:nvSpPr>
          <p:cNvPr id="4" name="Text 2"/>
          <p:cNvSpPr txBox="1"/>
          <p:nvPr/>
        </p:nvSpPr>
        <p:spPr>
          <a:xfrm>
            <a:off x="640080" y="1298448"/>
            <a:ext cx="3657600" cy="640080"/>
          </a:xfrm>
          <a:prstGeom prst="rect">
            <a:avLst/>
          </a:prstGeom>
          <a:noFill/>
          <a:ln/>
        </p:spPr>
        <p:txBody>
          <a:bodyPr wrap="square" lIns="0" tIns="0" rIns="0" bIns="0" rtlCol="0" anchor="t"/>
          <a:lstStyle/>
          <a:p>
            <a:pPr indent="0" marL="0">
              <a:buNone/>
            </a:pPr>
            <a:r>
              <a:rPr lang="en-US" sz="3400" b="1" dirty="0">
                <a:solidFill>
                  <a:schemeClr val="accent2"/>
                </a:solidFill>
                <a:latin typeface="Cambria" pitchFamily="34" charset="0"/>
                <a:ea typeface="Cambria" pitchFamily="34" charset="-122"/>
                <a:cs typeface="Cambria" pitchFamily="34" charset="-120"/>
              </a:rPr>
              <a:t>84 KB</a:t>
            </a:r>
            <a:endParaRPr lang="en-US" sz="3400" dirty="0"/>
          </a:p>
        </p:txBody>
      </p:sp>
      <p:sp>
        <p:nvSpPr>
          <p:cNvPr id="5" name="Text 3"/>
          <p:cNvSpPr txBox="1"/>
          <p:nvPr/>
        </p:nvSpPr>
        <p:spPr>
          <a:xfrm>
            <a:off x="640080" y="1938528"/>
            <a:ext cx="3657600" cy="5029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memory for images, 137x smaller than our first version</a:t>
            </a:r>
            <a:endParaRPr lang="en-US" sz="1300" dirty="0"/>
          </a:p>
        </p:txBody>
      </p:sp>
      <p:sp>
        <p:nvSpPr>
          <p:cNvPr id="6" name="Text 4"/>
          <p:cNvSpPr txBox="1"/>
          <p:nvPr/>
        </p:nvSpPr>
        <p:spPr>
          <a:xfrm>
            <a:off x="640080" y="2450592"/>
            <a:ext cx="3657600" cy="228600"/>
          </a:xfrm>
          <a:prstGeom prst="rect">
            <a:avLst/>
          </a:prstGeom>
          <a:noFill/>
          <a:ln/>
        </p:spPr>
        <p:txBody>
          <a:bodyPr wrap="square" lIns="0" tIns="0" rIns="0" bIns="0" rtlCol="0" anchor="t"/>
          <a:lstStyle/>
          <a:p>
            <a:pPr indent="0" marL="0">
              <a:buNone/>
            </a:pPr>
            <a:r>
              <a:rPr lang="en-US" sz="1100" b="1" dirty="0">
                <a:solidFill>
                  <a:schemeClr val="accent6"/>
                </a:solidFill>
                <a:latin typeface="Calibri" pitchFamily="34" charset="0"/>
                <a:ea typeface="Calibri" pitchFamily="34" charset="-122"/>
                <a:cs typeface="Calibri" pitchFamily="34" charset="-120"/>
              </a:rPr>
              <a:t>design fact</a:t>
            </a:r>
            <a:endParaRPr lang="en-US" sz="1100" dirty="0"/>
          </a:p>
        </p:txBody>
      </p:sp>
      <p:sp>
        <p:nvSpPr>
          <p:cNvPr id="7" name="card"/>
          <p:cNvSpPr/>
          <p:nvPr/>
        </p:nvSpPr>
        <p:spPr>
          <a:xfrm>
            <a:off x="4663440" y="1188720"/>
            <a:ext cx="4023360" cy="1554480"/>
          </a:xfrm>
          <a:prstGeom prst="roundRect">
            <a:avLst>
              <a:gd name="adj" fmla="val 5882"/>
            </a:avLst>
          </a:prstGeom>
          <a:solidFill>
            <a:schemeClr val="bg2"/>
          </a:solidFill>
          <a:ln w="12700">
            <a:solidFill>
              <a:schemeClr val="bg2"/>
            </a:solidFill>
            <a:prstDash val="solid"/>
          </a:ln>
        </p:spPr>
      </p:sp>
      <p:sp>
        <p:nvSpPr>
          <p:cNvPr id="8" name="Text 6"/>
          <p:cNvSpPr txBox="1"/>
          <p:nvPr/>
        </p:nvSpPr>
        <p:spPr>
          <a:xfrm>
            <a:off x="4846320" y="1298448"/>
            <a:ext cx="3657600" cy="640080"/>
          </a:xfrm>
          <a:prstGeom prst="rect">
            <a:avLst/>
          </a:prstGeom>
          <a:noFill/>
          <a:ln/>
        </p:spPr>
        <p:txBody>
          <a:bodyPr wrap="square" lIns="0" tIns="0" rIns="0" bIns="0" rtlCol="0" anchor="t"/>
          <a:lstStyle/>
          <a:p>
            <a:pPr indent="0" marL="0">
              <a:buNone/>
            </a:pPr>
            <a:r>
              <a:rPr lang="en-US" sz="3400" b="1" dirty="0">
                <a:solidFill>
                  <a:schemeClr val="accent2"/>
                </a:solidFill>
                <a:latin typeface="Cambria" pitchFamily="34" charset="0"/>
                <a:ea typeface="Cambria" pitchFamily="34" charset="-122"/>
                <a:cs typeface="Cambria" pitchFamily="34" charset="-120"/>
              </a:rPr>
              <a:t>0</a:t>
            </a:r>
            <a:endParaRPr lang="en-US" sz="3400" dirty="0"/>
          </a:p>
        </p:txBody>
      </p:sp>
      <p:sp>
        <p:nvSpPr>
          <p:cNvPr id="9" name="Text 7"/>
          <p:cNvSpPr txBox="1"/>
          <p:nvPr/>
        </p:nvSpPr>
        <p:spPr>
          <a:xfrm>
            <a:off x="4846320" y="1938528"/>
            <a:ext cx="3657600" cy="5029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hardware multipliers used on the $25 Tang Nano 20K (89% logic, 46/46 block RAM)</a:t>
            </a:r>
            <a:endParaRPr lang="en-US" sz="1300" dirty="0"/>
          </a:p>
        </p:txBody>
      </p:sp>
      <p:sp>
        <p:nvSpPr>
          <p:cNvPr id="10" name="Text 8"/>
          <p:cNvSpPr txBox="1"/>
          <p:nvPr/>
        </p:nvSpPr>
        <p:spPr>
          <a:xfrm>
            <a:off x="4846320" y="2450592"/>
            <a:ext cx="3657600" cy="228600"/>
          </a:xfrm>
          <a:prstGeom prst="rect">
            <a:avLst/>
          </a:prstGeom>
          <a:noFill/>
          <a:ln/>
        </p:spPr>
        <p:txBody>
          <a:bodyPr wrap="square" lIns="0" tIns="0" rIns="0" bIns="0" rtlCol="0" anchor="t"/>
          <a:lstStyle/>
          <a:p>
            <a:pPr indent="0" marL="0">
              <a:buNone/>
            </a:pPr>
            <a:r>
              <a:rPr lang="en-US" sz="1100" b="1" dirty="0">
                <a:solidFill>
                  <a:schemeClr val="accent6"/>
                </a:solidFill>
                <a:latin typeface="Calibri" pitchFamily="34" charset="0"/>
                <a:ea typeface="Calibri" pitchFamily="34" charset="-122"/>
                <a:cs typeface="Calibri" pitchFamily="34" charset="-120"/>
              </a:rPr>
              <a:t>SIMULATED, place and route</a:t>
            </a:r>
            <a:endParaRPr lang="en-US" sz="1100" dirty="0"/>
          </a:p>
        </p:txBody>
      </p:sp>
      <p:sp>
        <p:nvSpPr>
          <p:cNvPr id="11" name="card"/>
          <p:cNvSpPr/>
          <p:nvPr/>
        </p:nvSpPr>
        <p:spPr>
          <a:xfrm>
            <a:off x="457200" y="2880360"/>
            <a:ext cx="4023360" cy="1554480"/>
          </a:xfrm>
          <a:prstGeom prst="roundRect">
            <a:avLst>
              <a:gd name="adj" fmla="val 5882"/>
            </a:avLst>
          </a:prstGeom>
          <a:solidFill>
            <a:schemeClr val="bg2"/>
          </a:solidFill>
          <a:ln w="12700">
            <a:solidFill>
              <a:schemeClr val="bg2"/>
            </a:solidFill>
            <a:prstDash val="solid"/>
          </a:ln>
        </p:spPr>
      </p:sp>
      <p:sp>
        <p:nvSpPr>
          <p:cNvPr id="12" name="Text 10"/>
          <p:cNvSpPr txBox="1"/>
          <p:nvPr/>
        </p:nvSpPr>
        <p:spPr>
          <a:xfrm>
            <a:off x="640080" y="2990088"/>
            <a:ext cx="3657600" cy="640080"/>
          </a:xfrm>
          <a:prstGeom prst="rect">
            <a:avLst/>
          </a:prstGeom>
          <a:noFill/>
          <a:ln/>
        </p:spPr>
        <p:txBody>
          <a:bodyPr wrap="square" lIns="0" tIns="0" rIns="0" bIns="0" rtlCol="0" anchor="t"/>
          <a:lstStyle/>
          <a:p>
            <a:pPr indent="0" marL="0">
              <a:buNone/>
            </a:pPr>
            <a:r>
              <a:rPr lang="en-US" sz="3400" b="1" dirty="0">
                <a:solidFill>
                  <a:schemeClr val="accent2"/>
                </a:solidFill>
                <a:latin typeface="Cambria" pitchFamily="34" charset="0"/>
                <a:ea typeface="Cambria" pitchFamily="34" charset="-122"/>
                <a:cs typeface="Cambria" pitchFamily="34" charset="-120"/>
              </a:rPr>
              <a:t>~74x</a:t>
            </a:r>
            <a:endParaRPr lang="en-US" sz="3400" dirty="0"/>
          </a:p>
        </p:txBody>
      </p:sp>
      <p:sp>
        <p:nvSpPr>
          <p:cNvPr id="13" name="Text 11"/>
          <p:cNvSpPr txBox="1"/>
          <p:nvPr/>
        </p:nvSpPr>
        <p:spPr>
          <a:xfrm>
            <a:off x="640080" y="3630168"/>
            <a:ext cx="3657600" cy="5029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less energy per decision than an 8-bit network, counting the operations needed (9.4 nJ vs 696 nJ)</a:t>
            </a:r>
            <a:endParaRPr lang="en-US" sz="1300" dirty="0"/>
          </a:p>
        </p:txBody>
      </p:sp>
      <p:sp>
        <p:nvSpPr>
          <p:cNvPr id="14" name="Text 12"/>
          <p:cNvSpPr txBox="1"/>
          <p:nvPr/>
        </p:nvSpPr>
        <p:spPr>
          <a:xfrm>
            <a:off x="640080" y="4142232"/>
            <a:ext cx="3657600" cy="228600"/>
          </a:xfrm>
          <a:prstGeom prst="rect">
            <a:avLst/>
          </a:prstGeom>
          <a:noFill/>
          <a:ln/>
        </p:spPr>
        <p:txBody>
          <a:bodyPr wrap="square" lIns="0" tIns="0" rIns="0" bIns="0" rtlCol="0" anchor="t"/>
          <a:lstStyle/>
          <a:p>
            <a:pPr indent="0" marL="0">
              <a:buNone/>
            </a:pPr>
            <a:r>
              <a:rPr lang="en-US" sz="1100" b="1" dirty="0">
                <a:solidFill>
                  <a:schemeClr val="accent6"/>
                </a:solidFill>
                <a:latin typeface="Calibri" pitchFamily="34" charset="0"/>
                <a:ea typeface="Calibri" pitchFamily="34" charset="-122"/>
                <a:cs typeface="Calibri" pitchFamily="34" charset="-120"/>
              </a:rPr>
              <a:t>ESTIMATED</a:t>
            </a:r>
            <a:endParaRPr lang="en-US" sz="1100" dirty="0"/>
          </a:p>
        </p:txBody>
      </p:sp>
      <p:sp>
        <p:nvSpPr>
          <p:cNvPr id="15" name="card"/>
          <p:cNvSpPr/>
          <p:nvPr/>
        </p:nvSpPr>
        <p:spPr>
          <a:xfrm>
            <a:off x="4663440" y="2880360"/>
            <a:ext cx="4023360" cy="1554480"/>
          </a:xfrm>
          <a:prstGeom prst="roundRect">
            <a:avLst>
              <a:gd name="adj" fmla="val 5882"/>
            </a:avLst>
          </a:prstGeom>
          <a:solidFill>
            <a:schemeClr val="bg2"/>
          </a:solidFill>
          <a:ln w="12700">
            <a:solidFill>
              <a:schemeClr val="bg2"/>
            </a:solidFill>
            <a:prstDash val="solid"/>
          </a:ln>
        </p:spPr>
      </p:sp>
      <p:sp>
        <p:nvSpPr>
          <p:cNvPr id="16" name="Text 14"/>
          <p:cNvSpPr txBox="1"/>
          <p:nvPr/>
        </p:nvSpPr>
        <p:spPr>
          <a:xfrm>
            <a:off x="4846320" y="2990088"/>
            <a:ext cx="3657600" cy="640080"/>
          </a:xfrm>
          <a:prstGeom prst="rect">
            <a:avLst/>
          </a:prstGeom>
          <a:noFill/>
          <a:ln/>
        </p:spPr>
        <p:txBody>
          <a:bodyPr wrap="square" lIns="0" tIns="0" rIns="0" bIns="0" rtlCol="0" anchor="t"/>
          <a:lstStyle/>
          <a:p>
            <a:pPr indent="0" marL="0">
              <a:buNone/>
            </a:pPr>
            <a:r>
              <a:rPr lang="en-US" sz="3400" b="1" dirty="0">
                <a:solidFill>
                  <a:schemeClr val="accent2"/>
                </a:solidFill>
                <a:latin typeface="Cambria" pitchFamily="34" charset="0"/>
                <a:ea typeface="Cambria" pitchFamily="34" charset="-122"/>
                <a:cs typeface="Cambria" pitchFamily="34" charset="-120"/>
              </a:rPr>
              <a:t>&lt; 1 mm2</a:t>
            </a:r>
            <a:endParaRPr lang="en-US" sz="3400" dirty="0"/>
          </a:p>
        </p:txBody>
      </p:sp>
      <p:sp>
        <p:nvSpPr>
          <p:cNvPr id="17" name="Text 15"/>
          <p:cNvSpPr txBox="1"/>
          <p:nvPr/>
        </p:nvSpPr>
        <p:spPr>
          <a:xfrm>
            <a:off x="4846320" y="3630168"/>
            <a:ext cx="3657600" cy="5029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SKY130 logic area; 18.8 mm2 with open SRAM macros</a:t>
            </a:r>
            <a:endParaRPr lang="en-US" sz="1300" dirty="0"/>
          </a:p>
        </p:txBody>
      </p:sp>
      <p:sp>
        <p:nvSpPr>
          <p:cNvPr id="18" name="Text 16"/>
          <p:cNvSpPr txBox="1"/>
          <p:nvPr/>
        </p:nvSpPr>
        <p:spPr>
          <a:xfrm>
            <a:off x="4846320" y="4142232"/>
            <a:ext cx="3657600" cy="228600"/>
          </a:xfrm>
          <a:prstGeom prst="rect">
            <a:avLst/>
          </a:prstGeom>
          <a:noFill/>
          <a:ln/>
        </p:spPr>
        <p:txBody>
          <a:bodyPr wrap="square" lIns="0" tIns="0" rIns="0" bIns="0" rtlCol="0" anchor="t"/>
          <a:lstStyle/>
          <a:p>
            <a:pPr indent="0" marL="0">
              <a:buNone/>
            </a:pPr>
            <a:r>
              <a:rPr lang="en-US" sz="1100" b="1" dirty="0">
                <a:solidFill>
                  <a:schemeClr val="accent6"/>
                </a:solidFill>
                <a:latin typeface="Calibri" pitchFamily="34" charset="0"/>
                <a:ea typeface="Calibri" pitchFamily="34" charset="-122"/>
                <a:cs typeface="Calibri" pitchFamily="34" charset="-120"/>
              </a:rPr>
              <a:t>ESTIMATED</a:t>
            </a:r>
            <a:endParaRPr lang="en-US" sz="1100" dirty="0"/>
          </a:p>
        </p:txBody>
      </p:sp>
      <p:sp>
        <p:nvSpPr>
          <p:cNvPr id="19" name="Text 17"/>
          <p:cNvSpPr txBox="1"/>
          <p:nvPr/>
        </p:nvSpPr>
        <p:spPr>
          <a:xfrm>
            <a:off x="457200" y="4526280"/>
            <a:ext cx="7955280" cy="411480"/>
          </a:xfrm>
          <a:prstGeom prst="rect">
            <a:avLst/>
          </a:prstGeom>
          <a:noFill/>
          <a:ln/>
        </p:spPr>
        <p:txBody>
          <a:bodyPr wrap="square" lIns="0" tIns="0" rIns="0" bIns="0" rtlCol="0" anchor="t"/>
          <a:lstStyle/>
          <a:p>
            <a:pPr indent="0" marL="0">
              <a:buNone/>
            </a:pPr>
            <a:r>
              <a:rPr lang="en-US" sz="1200" dirty="0">
                <a:solidFill>
                  <a:schemeClr val="accent4"/>
                </a:solidFill>
                <a:latin typeface="Calibri" pitchFamily="34" charset="0"/>
                <a:ea typeface="Calibri" pitchFamily="34" charset="-122"/>
                <a:cs typeface="Calibri" pitchFamily="34" charset="-120"/>
              </a:rPr>
              <a:t>Say it carefully: the 74x is per operation needed. The SKY130 layout estimate is 0.18 to 0.26 uJ per decision, still 20 to 28x above the operation count.</a:t>
            </a:r>
            <a:endParaRPr lang="en-US" sz="1200" dirty="0"/>
          </a:p>
        </p:txBody>
      </p:sp>
      <p:sp>
        <p:nvSpPr>
          <p:cNvPr id="25" name="Slide Number Placeholder 0"/>
          <p:cNvSpPr>
            <a:spLocks noGrp="1"/>
          </p:cNvSpPr>
          <p:nvPr>
            <p:ph type="sldNum" sz="quarter" idx="4294967295"/>
          </p:nvPr>
        </p:nvSpPr>
        <p:spPr>
          <a:xfrm>
            <a:off x="8412480" y="48006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82296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Verified bit for bit, and laid out</a:t>
            </a:r>
            <a:endParaRPr lang="en-US" sz="3000" dirty="0"/>
          </a:p>
        </p:txBody>
      </p:sp>
      <p:sp>
        <p:nvSpPr>
          <p:cNvPr id="3" name="card"/>
          <p:cNvSpPr/>
          <p:nvPr/>
        </p:nvSpPr>
        <p:spPr>
          <a:xfrm>
            <a:off x="457200" y="1280160"/>
            <a:ext cx="4023360" cy="3200400"/>
          </a:xfrm>
          <a:prstGeom prst="roundRect">
            <a:avLst>
              <a:gd name="adj" fmla="val 2857"/>
            </a:avLst>
          </a:prstGeom>
          <a:solidFill>
            <a:schemeClr val="bg2"/>
          </a:solidFill>
          <a:ln w="12700">
            <a:solidFill>
              <a:schemeClr val="bg2"/>
            </a:solidFill>
            <a:prstDash val="solid"/>
          </a:ln>
        </p:spPr>
      </p:sp>
      <p:sp>
        <p:nvSpPr>
          <p:cNvPr id="4" name="Text 2"/>
          <p:cNvSpPr txBox="1"/>
          <p:nvPr/>
        </p:nvSpPr>
        <p:spPr>
          <a:xfrm>
            <a:off x="640080" y="1417320"/>
            <a:ext cx="3657600" cy="914400"/>
          </a:xfrm>
          <a:prstGeom prst="rect">
            <a:avLst/>
          </a:prstGeom>
          <a:noFill/>
          <a:ln/>
        </p:spPr>
        <p:txBody>
          <a:bodyPr wrap="square" lIns="0" tIns="0" rIns="0" bIns="0" rtlCol="0" anchor="t"/>
          <a:lstStyle/>
          <a:p>
            <a:pPr indent="0" marL="0">
              <a:buNone/>
            </a:pPr>
            <a:r>
              <a:rPr lang="en-US" sz="5400" b="1" dirty="0">
                <a:solidFill>
                  <a:schemeClr val="accent3"/>
                </a:solidFill>
                <a:latin typeface="Cambria" pitchFamily="34" charset="0"/>
                <a:ea typeface="Cambria" pitchFamily="34" charset="-122"/>
                <a:cs typeface="Cambria" pitchFamily="34" charset="-120"/>
              </a:rPr>
              <a:t>21 / 21</a:t>
            </a:r>
            <a:endParaRPr lang="en-US" sz="5400" dirty="0"/>
          </a:p>
        </p:txBody>
      </p:sp>
      <p:sp>
        <p:nvSpPr>
          <p:cNvPr id="5" name="Text 3"/>
          <p:cNvSpPr txBox="1"/>
          <p:nvPr/>
        </p:nvSpPr>
        <p:spPr>
          <a:xfrm>
            <a:off x="640080" y="2514600"/>
            <a:ext cx="3657600" cy="164592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RTL checks pass with 0 mismatches against the integer model: core, IMPRINT, slow table, encoder, finer-grid encoder, learning detectors, cochlea, sound chain, board top, host schedule.</a:t>
            </a:r>
            <a:endParaRPr lang="en-US" sz="1400" dirty="0"/>
          </a:p>
        </p:txBody>
      </p:sp>
      <p:sp>
        <p:nvSpPr>
          <p:cNvPr id="6" name="Text 4"/>
          <p:cNvSpPr txBox="1"/>
          <p:nvPr/>
        </p:nvSpPr>
        <p:spPr>
          <a:xfrm>
            <a:off x="640080" y="4069080"/>
            <a:ext cx="3657600" cy="365760"/>
          </a:xfrm>
          <a:prstGeom prst="rect">
            <a:avLst/>
          </a:prstGeom>
          <a:noFill/>
          <a:ln/>
        </p:spPr>
        <p:txBody>
          <a:bodyPr wrap="square" lIns="0" tIns="0" rIns="0" bIns="0" rtlCol="0" anchor="t"/>
          <a:lstStyle/>
          <a:p>
            <a:pPr indent="0" marL="0">
              <a:buNone/>
            </a:pPr>
            <a:r>
              <a:rPr lang="en-US" sz="1100" b="1" dirty="0">
                <a:solidFill>
                  <a:schemeClr val="accent6"/>
                </a:solidFill>
                <a:latin typeface="Calibri" pitchFamily="34" charset="0"/>
                <a:ea typeface="Calibri" pitchFamily="34" charset="-122"/>
                <a:cs typeface="Calibri" pitchFamily="34" charset="-120"/>
              </a:rPr>
              <a:t>SIMULATED (RTL simulation)</a:t>
            </a:r>
            <a:endParaRPr lang="en-US" sz="1100" dirty="0"/>
          </a:p>
        </p:txBody>
      </p:sp>
      <p:sp>
        <p:nvSpPr>
          <p:cNvPr id="7" name="card"/>
          <p:cNvSpPr/>
          <p:nvPr/>
        </p:nvSpPr>
        <p:spPr>
          <a:xfrm>
            <a:off x="4663440" y="1280160"/>
            <a:ext cx="4023360" cy="3200400"/>
          </a:xfrm>
          <a:prstGeom prst="roundRect">
            <a:avLst>
              <a:gd name="adj" fmla="val 2857"/>
            </a:avLst>
          </a:prstGeom>
          <a:solidFill>
            <a:schemeClr val="bg2"/>
          </a:solidFill>
          <a:ln w="12700">
            <a:solidFill>
              <a:schemeClr val="bg2"/>
            </a:solidFill>
            <a:prstDash val="solid"/>
          </a:ln>
        </p:spPr>
      </p:sp>
      <p:sp>
        <p:nvSpPr>
          <p:cNvPr id="8" name="Text 6"/>
          <p:cNvSpPr txBox="1"/>
          <p:nvPr/>
        </p:nvSpPr>
        <p:spPr>
          <a:xfrm>
            <a:off x="4846320" y="1417320"/>
            <a:ext cx="3657600" cy="914400"/>
          </a:xfrm>
          <a:prstGeom prst="rect">
            <a:avLst/>
          </a:prstGeom>
          <a:noFill/>
          <a:ln/>
        </p:spPr>
        <p:txBody>
          <a:bodyPr wrap="square" lIns="0" tIns="0" rIns="0" bIns="0" rtlCol="0" anchor="t"/>
          <a:lstStyle/>
          <a:p>
            <a:pPr indent="0" marL="0">
              <a:buNone/>
            </a:pPr>
            <a:r>
              <a:rPr lang="en-US" sz="5400" b="1" dirty="0">
                <a:solidFill>
                  <a:schemeClr val="accent1"/>
                </a:solidFill>
                <a:latin typeface="Cambria" pitchFamily="34" charset="0"/>
                <a:ea typeface="Cambria" pitchFamily="34" charset="-122"/>
                <a:cs typeface="Cambria" pitchFamily="34" charset="-120"/>
              </a:rPr>
              <a:t>1</a:t>
            </a:r>
            <a:endParaRPr lang="en-US" sz="5400" dirty="0"/>
          </a:p>
        </p:txBody>
      </p:sp>
      <p:sp>
        <p:nvSpPr>
          <p:cNvPr id="9" name="Text 7"/>
          <p:cNvSpPr txBox="1"/>
          <p:nvPr/>
        </p:nvSpPr>
        <p:spPr>
          <a:xfrm>
            <a:off x="4846320" y="2514600"/>
            <a:ext cx="3657600" cy="164592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violation left in detailed routing of the SKY130 layout (from 174,309 on the first pass). The last one is a power-versus-signal short at a memory macro edge.</a:t>
            </a:r>
            <a:endParaRPr lang="en-US" sz="1400" dirty="0"/>
          </a:p>
        </p:txBody>
      </p:sp>
      <p:sp>
        <p:nvSpPr>
          <p:cNvPr id="10" name="Text 8"/>
          <p:cNvSpPr txBox="1"/>
          <p:nvPr/>
        </p:nvSpPr>
        <p:spPr>
          <a:xfrm>
            <a:off x="4846320" y="4069080"/>
            <a:ext cx="3657600" cy="365760"/>
          </a:xfrm>
          <a:prstGeom prst="rect">
            <a:avLst/>
          </a:prstGeom>
          <a:noFill/>
          <a:ln/>
        </p:spPr>
        <p:txBody>
          <a:bodyPr wrap="square" lIns="0" tIns="0" rIns="0" bIns="0" rtlCol="0" anchor="t"/>
          <a:lstStyle/>
          <a:p>
            <a:pPr indent="0" marL="0">
              <a:buNone/>
            </a:pPr>
            <a:r>
              <a:rPr lang="en-US" sz="1100" b="1" dirty="0">
                <a:solidFill>
                  <a:schemeClr val="accent6"/>
                </a:solidFill>
                <a:latin typeface="Calibri" pitchFamily="34" charset="0"/>
                <a:ea typeface="Calibri" pitchFamily="34" charset="-122"/>
                <a:cs typeface="Calibri" pitchFamily="34" charset="-120"/>
              </a:rPr>
              <a:t>ESTIMATED (open-source flow, no sign-off)</a:t>
            </a:r>
            <a:endParaRPr lang="en-US" sz="1100" dirty="0"/>
          </a:p>
        </p:txBody>
      </p:sp>
      <p:sp>
        <p:nvSpPr>
          <p:cNvPr id="25" name="Slide Number Placeholder 0"/>
          <p:cNvSpPr>
            <a:spLocks noGrp="1"/>
          </p:cNvSpPr>
          <p:nvPr>
            <p:ph type="sldNum" sz="quarter" idx="4294967295"/>
          </p:nvPr>
        </p:nvSpPr>
        <p:spPr>
          <a:xfrm>
            <a:off x="8412480" y="48006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82296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Where it is level, and where it is weaker</a:t>
            </a:r>
            <a:endParaRPr lang="en-US" sz="3000" dirty="0"/>
          </a:p>
        </p:txBody>
      </p:sp>
      <p:graphicFrame>
        <p:nvGraphicFramePr>
          <p:cNvPr id="3" name="Chart 0" descr=""/>
          <p:cNvGraphicFramePr/>
          <p:nvPr/>
        </p:nvGraphicFramePr>
        <p:xfrm>
          <a:off x="457200" y="1188720"/>
          <a:ext cx="4206240" cy="347472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4846320" y="1280160"/>
            <a:ext cx="3840480" cy="329184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latin typeface="Calibri" pitchFamily="34" charset="0"/>
                <a:ea typeface="Calibri" pitchFamily="34" charset="-122"/>
                <a:cs typeface="Calibri" pitchFamily="34" charset="-120"/>
              </a:rPr>
              <a:t>Level with a small network all at once, not better: a CNN reaches about 89 on clothing and 91 on words</a:t>
            </a:r>
            <a:endParaRPr lang="en-US" sz="1400" dirty="0"/>
          </a:p>
          <a:p>
            <a:pPr marL="342900" indent="-342900">
              <a:spcAft>
                <a:spcPts val="800"/>
              </a:spcAft>
              <a:buSzPct val="100000"/>
              <a:buChar char="•"/>
            </a:pPr>
            <a:r>
              <a:rPr lang="en-US" sz="1400" dirty="0">
                <a:solidFill>
                  <a:schemeClr val="tx1"/>
                </a:solidFill>
                <a:latin typeface="Calibri" pitchFamily="34" charset="0"/>
                <a:ea typeface="Calibri" pitchFamily="34" charset="-122"/>
                <a:cs typeface="Calibri" pitchFamily="34" charset="-120"/>
              </a:rPr>
              <a:t>In stages: clothing 81%, digits 95%, words 83%</a:t>
            </a:r>
            <a:endParaRPr lang="en-US" sz="1400" dirty="0"/>
          </a:p>
          <a:p>
            <a:pPr marL="342900" indent="-342900">
              <a:spcAft>
                <a:spcPts val="800"/>
              </a:spcAft>
              <a:buSzPct val="100000"/>
              <a:buChar char="•"/>
            </a:pPr>
            <a:r>
              <a:rPr lang="en-US" sz="1400" dirty="0">
                <a:solidFill>
                  <a:schemeClr val="tx1"/>
                </a:solidFill>
                <a:latin typeface="Calibri" pitchFamily="34" charset="0"/>
                <a:ea typeface="Calibri" pitchFamily="34" charset="-122"/>
                <a:cs typeface="Calibri" pitchFamily="34" charset="-120"/>
              </a:rPr>
              <a:t>New spoken words from 1 to 5 recordings: only 12 to 29%</a:t>
            </a:r>
            <a:endParaRPr lang="en-US" sz="1400" dirty="0"/>
          </a:p>
          <a:p>
            <a:pPr marL="342900" indent="-342900">
              <a:spcAft>
                <a:spcPts val="800"/>
              </a:spcAft>
              <a:buSzPct val="100000"/>
              <a:buChar char="•"/>
            </a:pPr>
            <a:r>
              <a:rPr lang="en-US" sz="1400" dirty="0">
                <a:solidFill>
                  <a:schemeClr val="tx1"/>
                </a:solidFill>
                <a:latin typeface="Calibri" pitchFamily="34" charset="0"/>
                <a:ea typeface="Calibri" pitchFamily="34" charset="-122"/>
                <a:cs typeface="Calibri" pitchFamily="34" charset="-120"/>
              </a:rPr>
              <a:t>Nothing measured on hardware yet; board run is next</a:t>
            </a:r>
            <a:endParaRPr lang="en-US" sz="1400" dirty="0"/>
          </a:p>
        </p:txBody>
      </p:sp>
      <p:sp>
        <p:nvSpPr>
          <p:cNvPr id="25" name="Slide Number Placeholder 0"/>
          <p:cNvSpPr>
            <a:spLocks noGrp="1"/>
          </p:cNvSpPr>
          <p:nvPr>
            <p:ph type="sldNum" sz="quarter" idx="4294967295"/>
          </p:nvPr>
        </p:nvSpPr>
        <p:spPr>
          <a:xfrm>
            <a:off x="8412480" y="48006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82296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Not the first, and clear about what is new</a:t>
            </a:r>
            <a:endParaRPr lang="en-US" sz="3000" dirty="0"/>
          </a:p>
        </p:txBody>
      </p:sp>
      <p:sp>
        <p:nvSpPr>
          <p:cNvPr id="3" name="card"/>
          <p:cNvSpPr/>
          <p:nvPr/>
        </p:nvSpPr>
        <p:spPr>
          <a:xfrm>
            <a:off x="457200" y="1280160"/>
            <a:ext cx="4023360" cy="3200400"/>
          </a:xfrm>
          <a:prstGeom prst="roundRect">
            <a:avLst>
              <a:gd name="adj" fmla="val 2857"/>
            </a:avLst>
          </a:prstGeom>
          <a:solidFill>
            <a:schemeClr val="bg2"/>
          </a:solidFill>
          <a:ln w="12700">
            <a:solidFill>
              <a:schemeClr val="bg2"/>
            </a:solidFill>
            <a:prstDash val="solid"/>
          </a:ln>
        </p:spPr>
      </p:sp>
      <p:sp>
        <p:nvSpPr>
          <p:cNvPr id="4" name="card"/>
          <p:cNvSpPr/>
          <p:nvPr/>
        </p:nvSpPr>
        <p:spPr>
          <a:xfrm>
            <a:off x="4663440" y="1280160"/>
            <a:ext cx="4023360" cy="3200400"/>
          </a:xfrm>
          <a:prstGeom prst="roundRect">
            <a:avLst>
              <a:gd name="adj" fmla="val 2857"/>
            </a:avLst>
          </a:prstGeom>
          <a:solidFill>
            <a:schemeClr val="bg2"/>
          </a:solidFill>
          <a:ln w="12700">
            <a:solidFill>
              <a:schemeClr val="bg2"/>
            </a:solidFill>
            <a:prstDash val="solid"/>
          </a:ln>
        </p:spPr>
      </p:sp>
      <p:sp>
        <p:nvSpPr>
          <p:cNvPr id="5" name="Text 3"/>
          <p:cNvSpPr txBox="1"/>
          <p:nvPr/>
        </p:nvSpPr>
        <p:spPr>
          <a:xfrm>
            <a:off x="640080" y="1417320"/>
            <a:ext cx="3657600" cy="365760"/>
          </a:xfrm>
          <a:prstGeom prst="rect">
            <a:avLst/>
          </a:prstGeom>
          <a:noFill/>
          <a:ln/>
        </p:spPr>
        <p:txBody>
          <a:bodyPr wrap="square" lIns="0" tIns="0" rIns="0" bIns="0" rtlCol="0" anchor="t"/>
          <a:lstStyle/>
          <a:p>
            <a:pPr indent="0" marL="0">
              <a:buNone/>
            </a:pPr>
            <a:r>
              <a:rPr lang="en-US" sz="2000" b="1" dirty="0">
                <a:solidFill>
                  <a:schemeClr val="accent6"/>
                </a:solidFill>
                <a:latin typeface="Cambria" pitchFamily="34" charset="0"/>
                <a:ea typeface="Cambria" pitchFamily="34" charset="-122"/>
                <a:cs typeface="Cambria" pitchFamily="34" charset="-120"/>
              </a:rPr>
              <a:t>Already exists</a:t>
            </a:r>
            <a:endParaRPr lang="en-US" sz="2000" dirty="0"/>
          </a:p>
        </p:txBody>
      </p:sp>
      <p:sp>
        <p:nvSpPr>
          <p:cNvPr id="6" name="Text 4"/>
          <p:cNvSpPr txBox="1"/>
          <p:nvPr/>
        </p:nvSpPr>
        <p:spPr>
          <a:xfrm>
            <a:off x="640080" y="1920240"/>
            <a:ext cx="3657600" cy="237744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Hyperdimensional-computing accelerators</a:t>
            </a:r>
            <a:endParaRPr lang="en-US" sz="1400" dirty="0"/>
          </a:p>
          <a:p>
            <a:pPr marL="342900" indent="-3429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Intel Loihi 2 (continual learning on spiking cores)</a:t>
            </a:r>
            <a:endParaRPr lang="en-US" sz="1400" dirty="0"/>
          </a:p>
          <a:p>
            <a:pPr marL="342900" indent="-342900">
              <a:buSzPct val="100000"/>
              <a:buChar char="•"/>
            </a:pPr>
            <a:r>
              <a:rPr lang="en-US" sz="1400" dirty="0">
                <a:solidFill>
                  <a:schemeClr val="tx1"/>
                </a:solidFill>
                <a:latin typeface="Calibri" pitchFamily="34" charset="0"/>
                <a:ea typeface="Calibri" pitchFamily="34" charset="-122"/>
                <a:cs typeface="Calibri" pitchFamily="34" charset="-120"/>
              </a:rPr>
              <a:t>Replay-based continual learning</a:t>
            </a:r>
            <a:endParaRPr lang="en-US" sz="1400" dirty="0"/>
          </a:p>
        </p:txBody>
      </p:sp>
      <p:sp>
        <p:nvSpPr>
          <p:cNvPr id="7" name="Text 5"/>
          <p:cNvSpPr txBox="1"/>
          <p:nvPr/>
        </p:nvSpPr>
        <p:spPr>
          <a:xfrm>
            <a:off x="4846320" y="1417320"/>
            <a:ext cx="3657600" cy="365760"/>
          </a:xfrm>
          <a:prstGeom prst="rect">
            <a:avLst/>
          </a:prstGeom>
          <a:noFill/>
          <a:ln/>
        </p:spPr>
        <p:txBody>
          <a:bodyPr wrap="square" lIns="0" tIns="0" rIns="0" bIns="0" rtlCol="0" anchor="t"/>
          <a:lstStyle/>
          <a:p>
            <a:pPr indent="0" marL="0">
              <a:buNone/>
            </a:pPr>
            <a:r>
              <a:rPr lang="en-US" sz="2000" b="1" dirty="0">
                <a:solidFill>
                  <a:schemeClr val="accent2"/>
                </a:solidFill>
                <a:latin typeface="Cambria" pitchFamily="34" charset="0"/>
                <a:ea typeface="Cambria" pitchFamily="34" charset="-122"/>
                <a:cs typeface="Cambria" pitchFamily="34" charset="-120"/>
              </a:rPr>
              <a:t>What we add</a:t>
            </a:r>
            <a:endParaRPr lang="en-US" sz="2000" dirty="0"/>
          </a:p>
        </p:txBody>
      </p:sp>
      <p:sp>
        <p:nvSpPr>
          <p:cNvPr id="8" name="Text 6"/>
          <p:cNvSpPr txBox="1"/>
          <p:nvPr/>
        </p:nvSpPr>
        <p:spPr>
          <a:xfrm>
            <a:off x="4846320" y="1920240"/>
            <a:ext cx="3657600" cy="24688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Dreams generated from 10-bit counters, no stored examples</a:t>
            </a:r>
            <a:endParaRPr lang="en-US" sz="1400" dirty="0"/>
          </a:p>
          <a:p>
            <a:pPr marL="342900" indent="-3429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A night that ends by itself</a:t>
            </a:r>
            <a:endParaRPr lang="en-US" sz="1400" dirty="0"/>
          </a:p>
          <a:p>
            <a:pPr marL="342900" indent="-3429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No multiplier, bit-exact from raw senses to decision</a:t>
            </a:r>
            <a:endParaRPr lang="en-US" sz="1400" dirty="0"/>
          </a:p>
          <a:p>
            <a:pPr marL="342900" indent="-342900">
              <a:buSzPct val="100000"/>
              <a:buChar char="•"/>
            </a:pPr>
            <a:r>
              <a:rPr lang="en-US" sz="1400" dirty="0">
                <a:solidFill>
                  <a:schemeClr val="tx1"/>
                </a:solidFill>
                <a:latin typeface="Calibri" pitchFamily="34" charset="0"/>
                <a:ea typeface="Calibri" pitchFamily="34" charset="-122"/>
                <a:cs typeface="Calibri" pitchFamily="34" charset="-120"/>
              </a:rPr>
              <a:t>Ahead of HDC in our test after 5 stages: digits +2.2, sound +5.7</a:t>
            </a:r>
            <a:endParaRPr lang="en-US" sz="1400" dirty="0"/>
          </a:p>
        </p:txBody>
      </p:sp>
      <p:sp>
        <p:nvSpPr>
          <p:cNvPr id="25" name="Slide Number Placeholder 0"/>
          <p:cNvSpPr>
            <a:spLocks noGrp="1"/>
          </p:cNvSpPr>
          <p:nvPr>
            <p:ph type="sldNum" sz="quarter" idx="4294967295"/>
          </p:nvPr>
        </p:nvSpPr>
        <p:spPr>
          <a:xfrm>
            <a:off x="8412480" y="48006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82296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What comes next</a:t>
            </a:r>
            <a:endParaRPr lang="en-US" sz="3000" dirty="0"/>
          </a:p>
        </p:txBody>
      </p:sp>
      <p:sp>
        <p:nvSpPr>
          <p:cNvPr id="3" name="card"/>
          <p:cNvSpPr/>
          <p:nvPr/>
        </p:nvSpPr>
        <p:spPr>
          <a:xfrm>
            <a:off x="457200" y="1371600"/>
            <a:ext cx="1965960" cy="2651760"/>
          </a:xfrm>
          <a:prstGeom prst="roundRect">
            <a:avLst>
              <a:gd name="adj" fmla="val 4651"/>
            </a:avLst>
          </a:prstGeom>
          <a:solidFill>
            <a:schemeClr val="bg2"/>
          </a:solidFill>
          <a:ln w="12700">
            <a:solidFill>
              <a:schemeClr val="bg2"/>
            </a:solidFill>
            <a:prstDash val="solid"/>
          </a:ln>
        </p:spPr>
      </p:sp>
      <p:sp>
        <p:nvSpPr>
          <p:cNvPr id="4" name="marker"/>
          <p:cNvSpPr/>
          <p:nvPr/>
        </p:nvSpPr>
        <p:spPr>
          <a:xfrm>
            <a:off x="594360" y="1508760"/>
            <a:ext cx="502920" cy="502920"/>
          </a:xfrm>
          <a:prstGeom prst="ellipse">
            <a:avLst/>
          </a:prstGeom>
          <a:solidFill>
            <a:schemeClr val="accent3"/>
          </a:solidFill>
          <a:ln w="12700">
            <a:solidFill>
              <a:schemeClr val="accent3"/>
            </a:solidFill>
            <a:prstDash val="solid"/>
          </a:ln>
        </p:spPr>
      </p:sp>
      <p:sp>
        <p:nvSpPr>
          <p:cNvPr id="5" name="Text 3"/>
          <p:cNvSpPr txBox="1"/>
          <p:nvPr/>
        </p:nvSpPr>
        <p:spPr>
          <a:xfrm>
            <a:off x="594360" y="1600200"/>
            <a:ext cx="502920" cy="365760"/>
          </a:xfrm>
          <a:prstGeom prst="rect">
            <a:avLst/>
          </a:prstGeom>
          <a:noFill/>
          <a:ln/>
        </p:spPr>
        <p:txBody>
          <a:bodyPr wrap="square" lIns="0" tIns="0" rIns="0" bIns="0" rtlCol="0" anchor="t"/>
          <a:lstStyle/>
          <a:p>
            <a:pPr algn="ctr" indent="0" marL="0">
              <a:buNone/>
            </a:pPr>
            <a:r>
              <a:rPr lang="en-US" sz="1800" b="1" dirty="0">
                <a:solidFill>
                  <a:schemeClr val="tx1"/>
                </a:solidFill>
                <a:latin typeface="Calibri" pitchFamily="34" charset="0"/>
                <a:ea typeface="Calibri" pitchFamily="34" charset="-122"/>
                <a:cs typeface="Calibri" pitchFamily="34" charset="-120"/>
              </a:rPr>
              <a:t>1</a:t>
            </a:r>
            <a:endParaRPr lang="en-US" sz="1800" dirty="0"/>
          </a:p>
        </p:txBody>
      </p:sp>
      <p:sp>
        <p:nvSpPr>
          <p:cNvPr id="6" name="Text 4"/>
          <p:cNvSpPr txBox="1"/>
          <p:nvPr/>
        </p:nvSpPr>
        <p:spPr>
          <a:xfrm>
            <a:off x="594360" y="2148840"/>
            <a:ext cx="1691640" cy="365760"/>
          </a:xfrm>
          <a:prstGeom prst="rect">
            <a:avLst/>
          </a:prstGeom>
          <a:noFill/>
          <a:ln/>
        </p:spPr>
        <p:txBody>
          <a:bodyPr wrap="square" lIns="0" tIns="0" rIns="0" bIns="0" rtlCol="0" anchor="t"/>
          <a:lstStyle/>
          <a:p>
            <a:pPr indent="0" marL="0">
              <a:buNone/>
            </a:pPr>
            <a:r>
              <a:rPr lang="en-US" sz="2000" b="1" dirty="0">
                <a:solidFill>
                  <a:schemeClr val="tx1"/>
                </a:solidFill>
                <a:latin typeface="Cambria" pitchFamily="34" charset="0"/>
                <a:ea typeface="Cambria" pitchFamily="34" charset="-122"/>
                <a:cs typeface="Cambria" pitchFamily="34" charset="-120"/>
              </a:rPr>
              <a:t>Done</a:t>
            </a:r>
            <a:endParaRPr lang="en-US" sz="2000" dirty="0"/>
          </a:p>
        </p:txBody>
      </p:sp>
      <p:sp>
        <p:nvSpPr>
          <p:cNvPr id="7" name="Text 5"/>
          <p:cNvSpPr txBox="1"/>
          <p:nvPr/>
        </p:nvSpPr>
        <p:spPr>
          <a:xfrm>
            <a:off x="594360" y="2606040"/>
            <a:ext cx="1691640" cy="137160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Model, RTL, 21 checks, slow-table option, FPGA fit, SKY130 layout estimate</a:t>
            </a:r>
            <a:endParaRPr lang="en-US" sz="1300" dirty="0"/>
          </a:p>
        </p:txBody>
      </p:sp>
      <p:sp>
        <p:nvSpPr>
          <p:cNvPr id="8" name="card"/>
          <p:cNvSpPr/>
          <p:nvPr/>
        </p:nvSpPr>
        <p:spPr>
          <a:xfrm>
            <a:off x="2560320" y="1371600"/>
            <a:ext cx="1965960" cy="2651760"/>
          </a:xfrm>
          <a:prstGeom prst="roundRect">
            <a:avLst>
              <a:gd name="adj" fmla="val 4651"/>
            </a:avLst>
          </a:prstGeom>
          <a:solidFill>
            <a:schemeClr val="bg2"/>
          </a:solidFill>
          <a:ln w="12700">
            <a:solidFill>
              <a:schemeClr val="bg2"/>
            </a:solidFill>
            <a:prstDash val="solid"/>
          </a:ln>
        </p:spPr>
      </p:sp>
      <p:sp>
        <p:nvSpPr>
          <p:cNvPr id="9" name="marker"/>
          <p:cNvSpPr/>
          <p:nvPr/>
        </p:nvSpPr>
        <p:spPr>
          <a:xfrm>
            <a:off x="2697480" y="1508760"/>
            <a:ext cx="502920" cy="502920"/>
          </a:xfrm>
          <a:prstGeom prst="ellipse">
            <a:avLst/>
          </a:prstGeom>
          <a:solidFill>
            <a:schemeClr val="accent1"/>
          </a:solidFill>
          <a:ln w="12700">
            <a:solidFill>
              <a:schemeClr val="accent1"/>
            </a:solidFill>
            <a:prstDash val="solid"/>
          </a:ln>
        </p:spPr>
      </p:sp>
      <p:sp>
        <p:nvSpPr>
          <p:cNvPr id="10" name="Text 8"/>
          <p:cNvSpPr txBox="1"/>
          <p:nvPr/>
        </p:nvSpPr>
        <p:spPr>
          <a:xfrm>
            <a:off x="2697480" y="1600200"/>
            <a:ext cx="502920" cy="365760"/>
          </a:xfrm>
          <a:prstGeom prst="rect">
            <a:avLst/>
          </a:prstGeom>
          <a:noFill/>
          <a:ln/>
        </p:spPr>
        <p:txBody>
          <a:bodyPr wrap="square" lIns="0" tIns="0" rIns="0" bIns="0" rtlCol="0" anchor="t"/>
          <a:lstStyle/>
          <a:p>
            <a:pPr algn="ctr" indent="0" marL="0">
              <a:buNone/>
            </a:pPr>
            <a:r>
              <a:rPr lang="en-US" sz="1800" b="1" dirty="0">
                <a:solidFill>
                  <a:schemeClr val="tx1"/>
                </a:solidFill>
                <a:latin typeface="Calibri" pitchFamily="34" charset="0"/>
                <a:ea typeface="Calibri" pitchFamily="34" charset="-122"/>
                <a:cs typeface="Calibri" pitchFamily="34" charset="-120"/>
              </a:rPr>
              <a:t>2</a:t>
            </a:r>
            <a:endParaRPr lang="en-US" sz="1800" dirty="0"/>
          </a:p>
        </p:txBody>
      </p:sp>
      <p:sp>
        <p:nvSpPr>
          <p:cNvPr id="11" name="Text 9"/>
          <p:cNvSpPr txBox="1"/>
          <p:nvPr/>
        </p:nvSpPr>
        <p:spPr>
          <a:xfrm>
            <a:off x="2697480" y="2148840"/>
            <a:ext cx="1691640" cy="365760"/>
          </a:xfrm>
          <a:prstGeom prst="rect">
            <a:avLst/>
          </a:prstGeom>
          <a:noFill/>
          <a:ln/>
        </p:spPr>
        <p:txBody>
          <a:bodyPr wrap="square" lIns="0" tIns="0" rIns="0" bIns="0" rtlCol="0" anchor="t"/>
          <a:lstStyle/>
          <a:p>
            <a:pPr indent="0" marL="0">
              <a:buNone/>
            </a:pPr>
            <a:r>
              <a:rPr lang="en-US" sz="2000" b="1" dirty="0">
                <a:solidFill>
                  <a:schemeClr val="tx1"/>
                </a:solidFill>
                <a:latin typeface="Cambria" pitchFamily="34" charset="0"/>
                <a:ea typeface="Cambria" pitchFamily="34" charset="-122"/>
                <a:cs typeface="Cambria" pitchFamily="34" charset="-120"/>
              </a:rPr>
              <a:t>Next</a:t>
            </a:r>
            <a:endParaRPr lang="en-US" sz="2000" dirty="0"/>
          </a:p>
        </p:txBody>
      </p:sp>
      <p:sp>
        <p:nvSpPr>
          <p:cNvPr id="12" name="Text 10"/>
          <p:cNvSpPr txBox="1"/>
          <p:nvPr/>
        </p:nvSpPr>
        <p:spPr>
          <a:xfrm>
            <a:off x="2697480" y="2606040"/>
            <a:ext cx="1691640" cy="137160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First run on the real Tang Nano: the first MEASURED numbers</a:t>
            </a:r>
            <a:endParaRPr lang="en-US" sz="1300" dirty="0"/>
          </a:p>
        </p:txBody>
      </p:sp>
      <p:sp>
        <p:nvSpPr>
          <p:cNvPr id="13" name="card"/>
          <p:cNvSpPr/>
          <p:nvPr/>
        </p:nvSpPr>
        <p:spPr>
          <a:xfrm>
            <a:off x="4663440" y="1371600"/>
            <a:ext cx="1965960" cy="2651760"/>
          </a:xfrm>
          <a:prstGeom prst="roundRect">
            <a:avLst>
              <a:gd name="adj" fmla="val 4651"/>
            </a:avLst>
          </a:prstGeom>
          <a:solidFill>
            <a:schemeClr val="bg2"/>
          </a:solidFill>
          <a:ln w="12700">
            <a:solidFill>
              <a:schemeClr val="bg2"/>
            </a:solidFill>
            <a:prstDash val="solid"/>
          </a:ln>
        </p:spPr>
      </p:sp>
      <p:sp>
        <p:nvSpPr>
          <p:cNvPr id="14" name="marker"/>
          <p:cNvSpPr/>
          <p:nvPr/>
        </p:nvSpPr>
        <p:spPr>
          <a:xfrm>
            <a:off x="4800600" y="1508760"/>
            <a:ext cx="502920" cy="502920"/>
          </a:xfrm>
          <a:prstGeom prst="ellipse">
            <a:avLst/>
          </a:prstGeom>
          <a:solidFill>
            <a:schemeClr val="accent2"/>
          </a:solidFill>
          <a:ln w="12700">
            <a:solidFill>
              <a:schemeClr val="accent2"/>
            </a:solidFill>
            <a:prstDash val="solid"/>
          </a:ln>
        </p:spPr>
      </p:sp>
      <p:sp>
        <p:nvSpPr>
          <p:cNvPr id="15" name="Text 13"/>
          <p:cNvSpPr txBox="1"/>
          <p:nvPr/>
        </p:nvSpPr>
        <p:spPr>
          <a:xfrm>
            <a:off x="4800600" y="1600200"/>
            <a:ext cx="502920" cy="365760"/>
          </a:xfrm>
          <a:prstGeom prst="rect">
            <a:avLst/>
          </a:prstGeom>
          <a:noFill/>
          <a:ln/>
        </p:spPr>
        <p:txBody>
          <a:bodyPr wrap="square" lIns="0" tIns="0" rIns="0" bIns="0" rtlCol="0" anchor="t"/>
          <a:lstStyle/>
          <a:p>
            <a:pPr algn="ctr" indent="0" marL="0">
              <a:buNone/>
            </a:pPr>
            <a:r>
              <a:rPr lang="en-US" sz="1800" b="1" dirty="0">
                <a:solidFill>
                  <a:schemeClr val="tx1"/>
                </a:solidFill>
                <a:latin typeface="Calibri" pitchFamily="34" charset="0"/>
                <a:ea typeface="Calibri" pitchFamily="34" charset="-122"/>
                <a:cs typeface="Calibri" pitchFamily="34" charset="-120"/>
              </a:rPr>
              <a:t>3</a:t>
            </a:r>
            <a:endParaRPr lang="en-US" sz="1800" dirty="0"/>
          </a:p>
        </p:txBody>
      </p:sp>
      <p:sp>
        <p:nvSpPr>
          <p:cNvPr id="16" name="Text 14"/>
          <p:cNvSpPr txBox="1"/>
          <p:nvPr/>
        </p:nvSpPr>
        <p:spPr>
          <a:xfrm>
            <a:off x="4800600" y="2148840"/>
            <a:ext cx="1691640" cy="365760"/>
          </a:xfrm>
          <a:prstGeom prst="rect">
            <a:avLst/>
          </a:prstGeom>
          <a:noFill/>
          <a:ln/>
        </p:spPr>
        <p:txBody>
          <a:bodyPr wrap="square" lIns="0" tIns="0" rIns="0" bIns="0" rtlCol="0" anchor="t"/>
          <a:lstStyle/>
          <a:p>
            <a:pPr indent="0" marL="0">
              <a:buNone/>
            </a:pPr>
            <a:r>
              <a:rPr lang="en-US" sz="2000" b="1" dirty="0">
                <a:solidFill>
                  <a:schemeClr val="tx1"/>
                </a:solidFill>
                <a:latin typeface="Cambria" pitchFamily="34" charset="0"/>
                <a:ea typeface="Cambria" pitchFamily="34" charset="-122"/>
                <a:cs typeface="Cambria" pitchFamily="34" charset="-120"/>
              </a:rPr>
              <a:t>Then</a:t>
            </a:r>
            <a:endParaRPr lang="en-US" sz="2000" dirty="0"/>
          </a:p>
        </p:txBody>
      </p:sp>
      <p:sp>
        <p:nvSpPr>
          <p:cNvPr id="17" name="Text 15"/>
          <p:cNvSpPr txBox="1"/>
          <p:nvPr/>
        </p:nvSpPr>
        <p:spPr>
          <a:xfrm>
            <a:off x="4800600" y="2606040"/>
            <a:ext cx="1691640" cy="137160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Learned word features, higher-fidelity dreams for clothing</a:t>
            </a:r>
            <a:endParaRPr lang="en-US" sz="1300" dirty="0"/>
          </a:p>
        </p:txBody>
      </p:sp>
      <p:sp>
        <p:nvSpPr>
          <p:cNvPr id="18" name="card"/>
          <p:cNvSpPr/>
          <p:nvPr/>
        </p:nvSpPr>
        <p:spPr>
          <a:xfrm>
            <a:off x="6766560" y="1371600"/>
            <a:ext cx="1965960" cy="2651760"/>
          </a:xfrm>
          <a:prstGeom prst="roundRect">
            <a:avLst>
              <a:gd name="adj" fmla="val 4651"/>
            </a:avLst>
          </a:prstGeom>
          <a:solidFill>
            <a:schemeClr val="bg2"/>
          </a:solidFill>
          <a:ln w="12700">
            <a:solidFill>
              <a:schemeClr val="bg2"/>
            </a:solidFill>
            <a:prstDash val="solid"/>
          </a:ln>
        </p:spPr>
      </p:sp>
      <p:sp>
        <p:nvSpPr>
          <p:cNvPr id="19" name="marker"/>
          <p:cNvSpPr/>
          <p:nvPr/>
        </p:nvSpPr>
        <p:spPr>
          <a:xfrm>
            <a:off x="6903720" y="1508760"/>
            <a:ext cx="502920" cy="502920"/>
          </a:xfrm>
          <a:prstGeom prst="ellipse">
            <a:avLst/>
          </a:prstGeom>
          <a:solidFill>
            <a:schemeClr val="accent5"/>
          </a:solidFill>
          <a:ln w="12700">
            <a:solidFill>
              <a:schemeClr val="accent5"/>
            </a:solidFill>
            <a:prstDash val="solid"/>
          </a:ln>
        </p:spPr>
      </p:sp>
      <p:sp>
        <p:nvSpPr>
          <p:cNvPr id="20" name="Text 18"/>
          <p:cNvSpPr txBox="1"/>
          <p:nvPr/>
        </p:nvSpPr>
        <p:spPr>
          <a:xfrm>
            <a:off x="6903720" y="1600200"/>
            <a:ext cx="502920" cy="365760"/>
          </a:xfrm>
          <a:prstGeom prst="rect">
            <a:avLst/>
          </a:prstGeom>
          <a:noFill/>
          <a:ln/>
        </p:spPr>
        <p:txBody>
          <a:bodyPr wrap="square" lIns="0" tIns="0" rIns="0" bIns="0" rtlCol="0" anchor="t"/>
          <a:lstStyle/>
          <a:p>
            <a:pPr algn="ctr" indent="0" marL="0">
              <a:buNone/>
            </a:pPr>
            <a:r>
              <a:rPr lang="en-US" sz="1800" b="1" dirty="0">
                <a:solidFill>
                  <a:schemeClr val="tx1"/>
                </a:solidFill>
                <a:latin typeface="Calibri" pitchFamily="34" charset="0"/>
                <a:ea typeface="Calibri" pitchFamily="34" charset="-122"/>
                <a:cs typeface="Calibri" pitchFamily="34" charset="-120"/>
              </a:rPr>
              <a:t>4</a:t>
            </a:r>
            <a:endParaRPr lang="en-US" sz="1800" dirty="0"/>
          </a:p>
        </p:txBody>
      </p:sp>
      <p:sp>
        <p:nvSpPr>
          <p:cNvPr id="21" name="Text 19"/>
          <p:cNvSpPr txBox="1"/>
          <p:nvPr/>
        </p:nvSpPr>
        <p:spPr>
          <a:xfrm>
            <a:off x="6903720" y="2148840"/>
            <a:ext cx="1691640" cy="365760"/>
          </a:xfrm>
          <a:prstGeom prst="rect">
            <a:avLst/>
          </a:prstGeom>
          <a:noFill/>
          <a:ln/>
        </p:spPr>
        <p:txBody>
          <a:bodyPr wrap="square" lIns="0" tIns="0" rIns="0" bIns="0" rtlCol="0" anchor="t"/>
          <a:lstStyle/>
          <a:p>
            <a:pPr indent="0" marL="0">
              <a:buNone/>
            </a:pPr>
            <a:r>
              <a:rPr lang="en-US" sz="2000" b="1" dirty="0">
                <a:solidFill>
                  <a:schemeClr val="tx1"/>
                </a:solidFill>
                <a:latin typeface="Cambria" pitchFamily="34" charset="0"/>
                <a:ea typeface="Cambria" pitchFamily="34" charset="-122"/>
                <a:cs typeface="Cambria" pitchFamily="34" charset="-120"/>
              </a:rPr>
              <a:t>Later</a:t>
            </a:r>
            <a:endParaRPr lang="en-US" sz="2000" dirty="0"/>
          </a:p>
        </p:txBody>
      </p:sp>
      <p:sp>
        <p:nvSpPr>
          <p:cNvPr id="22" name="Text 20"/>
          <p:cNvSpPr txBox="1"/>
          <p:nvPr/>
        </p:nvSpPr>
        <p:spPr>
          <a:xfrm>
            <a:off x="6903720" y="2606040"/>
            <a:ext cx="1691640" cy="137160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Write-up, demo video, area and power estimates; no fabrication yet</a:t>
            </a:r>
            <a:endParaRPr lang="en-US" sz="1300" dirty="0"/>
          </a:p>
        </p:txBody>
      </p:sp>
      <p:sp>
        <p:nvSpPr>
          <p:cNvPr id="23" name="Text 21"/>
          <p:cNvSpPr txBox="1"/>
          <p:nvPr/>
        </p:nvSpPr>
        <p:spPr>
          <a:xfrm>
            <a:off x="457200" y="4206240"/>
            <a:ext cx="8229600" cy="45720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Horizon: a provable result within 6 to 8 months, then shrink and attract investors.</a:t>
            </a:r>
            <a:endParaRPr lang="en-US" sz="1400" dirty="0"/>
          </a:p>
        </p:txBody>
      </p:sp>
      <p:sp>
        <p:nvSpPr>
          <p:cNvPr id="25" name="Slide Number Placeholder 0"/>
          <p:cNvSpPr>
            <a:spLocks noGrp="1"/>
          </p:cNvSpPr>
          <p:nvPr>
            <p:ph type="sldNum" sz="quarter" idx="4294967295"/>
          </p:nvPr>
        </p:nvSpPr>
        <p:spPr>
          <a:xfrm>
            <a:off x="8412480" y="48006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1371600"/>
            <a:ext cx="8046720" cy="1280160"/>
          </a:xfrm>
          <a:prstGeom prst="rect">
            <a:avLst/>
          </a:prstGeom>
          <a:noFill/>
          <a:ln/>
        </p:spPr>
        <p:txBody>
          <a:bodyPr wrap="square" lIns="0" tIns="0" rIns="0" bIns="0" rtlCol="0" anchor="ctr"/>
          <a:lstStyle/>
          <a:p>
            <a:pPr algn="l" indent="0" marL="0">
              <a:buNone/>
            </a:pPr>
            <a:r>
              <a:rPr lang="en-US" sz="4000" b="1" dirty="0">
                <a:solidFill>
                  <a:schemeClr val="bg1"/>
                </a:solidFill>
                <a:latin typeface="Cambria" pitchFamily="34" charset="0"/>
                <a:ea typeface="Cambria" pitchFamily="34" charset="-122"/>
                <a:cs typeface="Cambria" pitchFamily="34" charset="-120"/>
              </a:rPr>
              <a:t>A chip that keeps learning</a:t>
            </a:r>
            <a:endParaRPr lang="en-US" sz="4000" dirty="0"/>
          </a:p>
        </p:txBody>
      </p:sp>
      <p:sp>
        <p:nvSpPr>
          <p:cNvPr id="3" name="Text 1"/>
          <p:cNvSpPr txBox="1"/>
          <p:nvPr/>
        </p:nvSpPr>
        <p:spPr>
          <a:xfrm>
            <a:off x="548640" y="2834640"/>
            <a:ext cx="8046720" cy="914400"/>
          </a:xfrm>
          <a:prstGeom prst="rect">
            <a:avLst/>
          </a:prstGeom>
          <a:noFill/>
          <a:ln/>
        </p:spPr>
        <p:txBody>
          <a:bodyPr wrap="square" lIns="0" tIns="0" rIns="0" bIns="0" rtlCol="0" anchor="t"/>
          <a:lstStyle/>
          <a:p>
            <a:pPr indent="0" marL="0">
              <a:buNone/>
            </a:pPr>
            <a:r>
              <a:rPr lang="en-US" sz="1800" i="1" dirty="0">
                <a:solidFill>
                  <a:schemeClr val="accent1"/>
                </a:solidFill>
                <a:latin typeface="Calibri" pitchFamily="34" charset="0"/>
                <a:ea typeface="Calibri" pitchFamily="34" charset="-122"/>
                <a:cs typeface="Calibri" pitchFamily="34" charset="-120"/>
              </a:rPr>
              <a:t>It learns in the field, keeps what it knew, shares what it learned, and needs no multiplier. It is weaker than a network in some places, and we have said where.</a:t>
            </a:r>
            <a:endParaRPr lang="en-US" sz="1800" dirty="0"/>
          </a:p>
        </p:txBody>
      </p:sp>
      <p:sp>
        <p:nvSpPr>
          <p:cNvPr id="4" name="Text 2"/>
          <p:cNvSpPr txBox="1"/>
          <p:nvPr/>
        </p:nvSpPr>
        <p:spPr>
          <a:xfrm>
            <a:off x="548640" y="4023360"/>
            <a:ext cx="8046720" cy="365760"/>
          </a:xfrm>
          <a:prstGeom prst="rect">
            <a:avLst/>
          </a:prstGeom>
          <a:noFill/>
          <a:ln/>
        </p:spPr>
        <p:txBody>
          <a:bodyPr wrap="square" lIns="0" tIns="0" rIns="0" bIns="0" rtlCol="0" anchor="t"/>
          <a:lstStyle/>
          <a:p>
            <a:pPr indent="0" marL="0">
              <a:buNone/>
            </a:pPr>
            <a:r>
              <a:rPr lang="en-US" sz="2200" b="1" dirty="0">
                <a:solidFill>
                  <a:schemeClr val="bg1"/>
                </a:solidFill>
                <a:latin typeface="Cambria" pitchFamily="34" charset="0"/>
                <a:ea typeface="Cambria" pitchFamily="34" charset="-122"/>
                <a:cs typeface="Cambria" pitchFamily="34" charset="-120"/>
              </a:rPr>
              <a:t>Thank you. Questions?</a:t>
            </a:r>
            <a:endParaRPr lang="en-US" sz="2200" dirty="0"/>
          </a:p>
        </p:txBody>
      </p:sp>
    </p:spTree>
  </p:cSld>
  <p:clrMapOvr>
    <a:masterClrMapping/>
  </p:clrMapOvr>
</p:sld>
</file>

<file path=ppt/theme/theme1.xml><?xml version="1.0" encoding="utf-8"?>
<a:theme xmlns:a="http://schemas.openxmlformats.org/drawingml/2006/main" name="SPARK Cortex">
  <a:themeElements>
    <a:clrScheme name="SPARK Cortex">
      <a:dk1>
        <a:srgbClr val="151A3D"/>
      </a:dk1>
      <a:lt1>
        <a:srgbClr val="FFFFFF"/>
      </a:lt1>
      <a:dk2>
        <a:srgbClr val="2B3270"/>
      </a:dk2>
      <a:lt2>
        <a:srgbClr val="EEF0FA"/>
      </a:lt2>
      <a:accent1>
        <a:srgbClr val="F2A93B"/>
      </a:accent1>
      <a:accent2>
        <a:srgbClr val="5B6BD6"/>
      </a:accent2>
      <a:accent3>
        <a:srgbClr val="2FA37A"/>
      </a:accent3>
      <a:accent4>
        <a:srgbClr val="D9534F"/>
      </a:accent4>
      <a:accent5>
        <a:srgbClr val="8A93C9"/>
      </a:accent5>
      <a:accent6>
        <a:srgbClr val="6B7280"/>
      </a:accent6>
      <a:hlink>
        <a:srgbClr val="5B6BD6"/>
      </a:hlink>
      <a:folHlink>
        <a:srgbClr val="8A93C9"/>
      </a:folHlink>
    </a:clrScheme>
    <a:fontScheme name="SPARK Cortex">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SPARK Cortex</dc:title>
  <dc:subject>PptxGenJS Presentation</dc:subject>
  <dc:creator>L Lawliet (Navin), CKCET</dc:creator>
  <cp:lastModifiedBy>L Lawliet (Navin), CKCET</cp:lastModifiedBy>
  <cp:revision>1</cp:revision>
  <dcterms:created xsi:type="dcterms:W3CDTF">2026-10-18T13:08:54Z</dcterms:created>
  <dcterms:modified xsi:type="dcterms:W3CDTF">2026-10-18T13:08:54Z</dcterms:modified>
</cp:coreProperties>
</file>