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bfc07ff8-ad4b-de3f-8a64-b2dde4fbc8fd}">
          <p14:sldIdLst>
            <p14:sldId id="256"/>
          </p14:sldIdLst>
        </p14:section>
        <p14:section name="Why" id="{032574ad-e771-26d0-95df-138122d573ca}">
          <p14:sldIdLst>
            <p14:sldId id="257"/>
            <p14:sldId id="258"/>
          </p14:sldIdLst>
        </p14:section>
        <p14:section name="Results" id="{a02bf8bc-7d42-4f1b-9647-6ca4ab40d260}">
          <p14:sldIdLst>
            <p14:sldId id="259"/>
            <p14:sldId id="260"/>
            <p14:sldId id="261"/>
            <p14:sldId id="262"/>
            <p14:sldId id="263"/>
            <p14:sldId id="264"/>
            <p14:sldId id="265"/>
          </p14:sldIdLst>
        </p14:section>
        <p14:section name="Build" id="{63c43a44-5cf8-8091-e2f2-163dcba7ec3c}">
          <p14:sldIdLst>
            <p14:sldId id="266"/>
            <p14:sldId id="267"/>
          </p14:sldIdLst>
        </p14:section>
        <p14:section name="Honest" id="{464a9561-8ee5-baf6-f14f-b2c097d6adac}">
          <p14:sldIdLst>
            <p14:sldId id="268"/>
            <p14:sldId id="269"/>
          </p14:sldIdLst>
        </p14:section>
        <p14:section name="Next" id="{4141a7c8-6ec6-9f1e-c1fc-16e8c3b39bb6}">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Accuracy after learning in stages (%)</a:t>
            </a:r>
          </a:p>
        </c:rich>
      </c:tx>
      <c:layout/>
      <c:overlay val="0"/>
    </c:title>
    <c:autoTitleDeleted val="0"/>
    <c:plotArea>
      <c:layout/>
      <c:barChart>
        <c:barDir val="col"/>
        <c:grouping val="clustered"/>
        <c:varyColors val="0"/>
        <c:ser>
          <c:idx val="0"/>
          <c:order val="0"/>
          <c:tx>
            <c:strRef>
              <c:f>Sheet1!$B$1</c:f>
              <c:strCache>
                <c:ptCount val="1"/>
                <c:pt idx="0">
                  <c:v>L chip design (no stored examples)</c:v>
                </c:pt>
              </c:strCache>
            </c:strRef>
          </c:tx>
          <c:spPr>
            <a:solidFill>
              <a:srgbClr val="2FA37A"/>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20 classes</c:v>
                  </c:pt>
                </c:lvl>
              </c:multiLvlStrCache>
            </c:multiLvlStrRef>
          </c:cat>
          <c:val>
            <c:numRef>
              <c:f>Sheet1!$B$2:$B$4</c:f>
              <c:numCache>
                <c:formatCode>General</c:formatCode>
                <c:ptCount val="3"/>
                <c:pt idx="0">
                  <c:v>95.6</c:v>
                </c:pt>
                <c:pt idx="1">
                  <c:v>81</c:v>
                </c:pt>
                <c:pt idx="2">
                  <c:v>87.4</c:v>
                </c:pt>
              </c:numCache>
            </c:numRef>
          </c:val>
        </c:ser>
        <c:ser>
          <c:idx val="1"/>
          <c:order val="1"/>
          <c:tx>
            <c:strRef>
              <c:f>Sheet1!$C$1</c:f>
              <c:strCache>
                <c:ptCount val="1"/>
                <c:pt idx="0">
                  <c:v>CNN in stages (MEASURED)</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20 classes</c:v>
                  </c:pt>
                </c:lvl>
              </c:multiLvlStrCache>
            </c:multiLvlStrRef>
          </c:cat>
          <c:val>
            <c:numRef>
              <c:f>Sheet1!$C$2:$C$4</c:f>
              <c:numCache>
                <c:formatCode>General</c:formatCode>
                <c:ptCount val="3"/>
                <c:pt idx="0">
                  <c:v>19.5</c:v>
                </c:pt>
                <c:pt idx="1">
                  <c:v>20</c:v>
                </c:pt>
                <c:pt idx="2">
                  <c:v>5</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Accuracy (%)</a:t>
            </a:r>
          </a:p>
        </c:rich>
      </c:tx>
      <c:layout/>
      <c:overlay val="0"/>
    </c:title>
    <c:autoTitleDeleted val="0"/>
    <c:plotArea>
      <c:layout/>
      <c:barChart>
        <c:barDir val="col"/>
        <c:grouping val="clustered"/>
        <c:varyColors val="0"/>
        <c:ser>
          <c:idx val="0"/>
          <c:order val="0"/>
          <c:tx>
            <c:strRef>
              <c:f>Sheet1!$B$1</c:f>
              <c:strCache>
                <c:ptCount val="1"/>
                <c:pt idx="0">
                  <c:v>L chip design</c:v>
                </c:pt>
              </c:strCache>
            </c:strRef>
          </c:tx>
          <c:spPr>
            <a:solidFill>
              <a:srgbClr val="2FA37A"/>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Sheet1!$A$2:$A$5</c:f>
              <c:multiLvlStrCache>
                <c:ptCount val="4"/>
                <c:lvl>
                  <c:pt idx="0">
                    <c:v>digits</c:v>
                  </c:pt>
                  <c:pt idx="1">
                    <c:v>clothing</c:v>
                  </c:pt>
                  <c:pt idx="2">
                    <c:v>20 classes</c:v>
                  </c:pt>
                  <c:pt idx="3">
                    <c:v>35 words</c:v>
                  </c:pt>
                </c:lvl>
              </c:multiLvlStrCache>
            </c:multiLvlStrRef>
          </c:cat>
          <c:val>
            <c:numRef>
              <c:f>Sheet1!$B$2:$B$5</c:f>
              <c:numCache>
                <c:formatCode>General</c:formatCode>
                <c:ptCount val="4"/>
                <c:pt idx="0">
                  <c:v>98.45</c:v>
                </c:pt>
                <c:pt idx="1">
                  <c:v>88.93</c:v>
                </c:pt>
                <c:pt idx="2">
                  <c:v>91.18</c:v>
                </c:pt>
                <c:pt idx="3">
                  <c:v>72.4</c:v>
                </c:pt>
              </c:numCache>
            </c:numRef>
          </c:val>
        </c:ser>
        <c:ser>
          <c:idx val="1"/>
          <c:order val="1"/>
          <c:tx>
            <c:strRef>
              <c:f>Sheet1!$C$1</c:f>
              <c:strCache>
                <c:ptCount val="1"/>
                <c:pt idx="0">
                  <c:v>CNN, all data at once (MEASURED)</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Sheet1!$A$2:$A$5</c:f>
              <c:multiLvlStrCache>
                <c:ptCount val="4"/>
                <c:lvl>
                  <c:pt idx="0">
                    <c:v>digits</c:v>
                  </c:pt>
                  <c:pt idx="1">
                    <c:v>clothing</c:v>
                  </c:pt>
                  <c:pt idx="2">
                    <c:v>20 classes</c:v>
                  </c:pt>
                  <c:pt idx="3">
                    <c:v>35 words</c:v>
                  </c:pt>
                </c:lvl>
              </c:multiLvlStrCache>
            </c:multiLvlStrRef>
          </c:cat>
          <c:val>
            <c:numRef>
              <c:f>Sheet1!$C$2:$C$5</c:f>
              <c:numCache>
                <c:formatCode>General</c:formatCode>
                <c:ptCount val="4"/>
                <c:pt idx="0">
                  <c:v>98.87</c:v>
                </c:pt>
                <c:pt idx="1">
                  <c:v>90.96</c:v>
                </c:pt>
                <c:pt idx="2">
                  <c:v>90.96</c:v>
                </c:pt>
                <c:pt idx="3">
                  <c:v>72.5</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Clothing in stages, by training images (%)</a:t>
            </a:r>
          </a:p>
        </c:rich>
      </c:tx>
      <c:layout/>
      <c:overlay val="0"/>
    </c:title>
    <c:autoTitleDeleted val="0"/>
    <c:plotArea>
      <c:layout/>
      <c:barChart>
        <c:barDir val="col"/>
        <c:grouping val="clustered"/>
        <c:varyColors val="0"/>
        <c:ser>
          <c:idx val="0"/>
          <c:order val="0"/>
          <c:tx>
            <c:strRef>
              <c:f>Sheet1!$B$1</c:f>
              <c:strCache>
                <c:ptCount val="1"/>
                <c:pt idx="0">
                  <c:v>Fixed consolidation (first design)</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10,000</c:v>
                  </c:pt>
                  <c:pt idx="1">
                    <c:v>30,000</c:v>
                  </c:pt>
                  <c:pt idx="2">
                    <c:v>60,000</c:v>
                  </c:pt>
                </c:lvl>
              </c:multiLvlStrCache>
            </c:multiLvlStrRef>
          </c:cat>
          <c:val>
            <c:numRef>
              <c:f>Sheet1!$B$2:$B$4</c:f>
              <c:numCache>
                <c:formatCode>General</c:formatCode>
                <c:ptCount val="3"/>
                <c:pt idx="0">
                  <c:v>83.3</c:v>
                </c:pt>
                <c:pt idx="1">
                  <c:v>79.4</c:v>
                </c:pt>
                <c:pt idx="2">
                  <c:v>78</c:v>
                </c:pt>
              </c:numCache>
            </c:numRef>
          </c:val>
        </c:ser>
        <c:ser>
          <c:idx val="1"/>
          <c:order val="1"/>
          <c:tx>
            <c:strRef>
              <c:f>Sheet1!$C$1</c:f>
              <c:strCache>
                <c:ptCount val="1"/>
                <c:pt idx="0">
                  <c:v>Consolidation scaled with the stage size</c:v>
                </c:pt>
              </c:strCache>
            </c:strRef>
          </c:tx>
          <c:spPr>
            <a:solidFill>
              <a:srgbClr val="2FA37A"/>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10,000</c:v>
                  </c:pt>
                  <c:pt idx="1">
                    <c:v>30,000</c:v>
                  </c:pt>
                  <c:pt idx="2">
                    <c:v>60,000</c:v>
                  </c:pt>
                </c:lvl>
              </c:multiLvlStrCache>
            </c:multiLvlStrRef>
          </c:cat>
          <c:val>
            <c:numRef>
              <c:f>Sheet1!$C$2:$C$4</c:f>
              <c:numCache>
                <c:formatCode>General</c:formatCode>
                <c:ptCount val="3"/>
                <c:pt idx="0">
                  <c:v>83.3</c:v>
                </c:pt>
                <c:pt idx="1">
                  <c:v>81.2</c:v>
                </c:pt>
                <c:pt idx="2">
                  <c:v>81</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35 spoken words, learned in stages, white noise (%)</a:t>
            </a:r>
          </a:p>
        </c:rich>
      </c:tx>
      <c:layout/>
      <c:overlay val="0"/>
    </c:title>
    <c:autoTitleDeleted val="0"/>
    <c:plotArea>
      <c:layout/>
      <c:barChart>
        <c:barDir val="col"/>
        <c:grouping val="clustered"/>
        <c:varyColors val="0"/>
        <c:ser>
          <c:idx val="0"/>
          <c:order val="0"/>
          <c:tx>
            <c:strRef>
              <c:f>Sheet1!$B$1</c:f>
              <c:strCache>
                <c:ptCount val="1"/>
                <c:pt idx="0">
                  <c:v>First design</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Sheet1!$A$2:$A$5</c:f>
              <c:multiLvlStrCache>
                <c:ptCount val="4"/>
                <c:lvl>
                  <c:pt idx="0">
                    <c:v>clean</c:v>
                  </c:pt>
                  <c:pt idx="1">
                    <c:v>20 dB</c:v>
                  </c:pt>
                  <c:pt idx="2">
                    <c:v>10 dB</c:v>
                  </c:pt>
                  <c:pt idx="3">
                    <c:v>5 dB</c:v>
                  </c:pt>
                </c:lvl>
              </c:multiLvlStrCache>
            </c:multiLvlStrRef>
          </c:cat>
          <c:val>
            <c:numRef>
              <c:f>Sheet1!$B$2:$B$5</c:f>
              <c:numCache>
                <c:formatCode>General</c:formatCode>
                <c:ptCount val="4"/>
                <c:pt idx="0">
                  <c:v>68.3</c:v>
                </c:pt>
                <c:pt idx="1">
                  <c:v>56.5</c:v>
                </c:pt>
                <c:pt idx="2">
                  <c:v>39.8</c:v>
                </c:pt>
                <c:pt idx="3">
                  <c:v>27.4</c:v>
                </c:pt>
              </c:numCache>
            </c:numRef>
          </c:val>
        </c:ser>
        <c:ser>
          <c:idx val="1"/>
          <c:order val="1"/>
          <c:tx>
            <c:strRef>
              <c:f>Sheet1!$C$1</c:f>
              <c:strCache>
                <c:ptCount val="1"/>
                <c:pt idx="0">
                  <c:v>Noisy copies + second look</c:v>
                </c:pt>
              </c:strCache>
            </c:strRef>
          </c:tx>
          <c:spPr>
            <a:solidFill>
              <a:srgbClr val="2FA37A"/>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Sheet1!$A$2:$A$5</c:f>
              <c:multiLvlStrCache>
                <c:ptCount val="4"/>
                <c:lvl>
                  <c:pt idx="0">
                    <c:v>clean</c:v>
                  </c:pt>
                  <c:pt idx="1">
                    <c:v>20 dB</c:v>
                  </c:pt>
                  <c:pt idx="2">
                    <c:v>10 dB</c:v>
                  </c:pt>
                  <c:pt idx="3">
                    <c:v>5 dB</c:v>
                  </c:pt>
                </c:lvl>
              </c:multiLvlStrCache>
            </c:multiLvlStrRef>
          </c:cat>
          <c:val>
            <c:numRef>
              <c:f>Sheet1!$C$2:$C$5</c:f>
              <c:numCache>
                <c:formatCode>General</c:formatCode>
                <c:ptCount val="4"/>
                <c:pt idx="0">
                  <c:v>72.4</c:v>
                </c:pt>
                <c:pt idx="1">
                  <c:v>67.3</c:v>
                </c:pt>
                <c:pt idx="2">
                  <c:v>57.6</c:v>
                </c:pt>
                <c:pt idx="3">
                  <c:v>47.2</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Digits: picture + sound (%)</a:t>
            </a:r>
          </a:p>
        </c:rich>
      </c:tx>
      <c:layout/>
      <c:overlay val="0"/>
    </c:title>
    <c:autoTitleDeleted val="0"/>
    <c:plotArea>
      <c:layout/>
      <c:barChart>
        <c:barDir val="col"/>
        <c:grouping val="clustered"/>
        <c:varyColors val="0"/>
        <c:ser>
          <c:idx val="0"/>
          <c:order val="0"/>
          <c:tx>
            <c:strRef>
              <c:f>Sheet1!$B$1</c:f>
              <c:strCache>
                <c:ptCount val="1"/>
                <c:pt idx="0">
                  <c:v>Joint table</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clean</c:v>
                  </c:pt>
                  <c:pt idx="1">
                    <c:v>picture 25% damaged</c:v>
                  </c:pt>
                  <c:pt idx="2">
                    <c:v>picture 50% damaged</c:v>
                  </c:pt>
                </c:lvl>
              </c:multiLvlStrCache>
            </c:multiLvlStrRef>
          </c:cat>
          <c:val>
            <c:numRef>
              <c:f>Sheet1!$B$2:$B$4</c:f>
              <c:numCache>
                <c:formatCode>General</c:formatCode>
                <c:ptCount val="3"/>
                <c:pt idx="0">
                  <c:v>98.3</c:v>
                </c:pt>
                <c:pt idx="1">
                  <c:v>97.5</c:v>
                </c:pt>
                <c:pt idx="2">
                  <c:v>94.6</c:v>
                </c:pt>
              </c:numCache>
            </c:numRef>
          </c:val>
        </c:ser>
        <c:ser>
          <c:idx val="1"/>
          <c:order val="1"/>
          <c:tx>
            <c:strRef>
              <c:f>Sheet1!$C$1</c:f>
              <c:strCache>
                <c:ptCount val="1"/>
                <c:pt idx="0">
                  <c:v>Weighted by confidence</c:v>
                </c:pt>
              </c:strCache>
            </c:strRef>
          </c:tx>
          <c:spPr>
            <a:solidFill>
              <a:srgbClr val="2FA37A"/>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clean</c:v>
                  </c:pt>
                  <c:pt idx="1">
                    <c:v>picture 25% damaged</c:v>
                  </c:pt>
                  <c:pt idx="2">
                    <c:v>picture 50% damaged</c:v>
                  </c:pt>
                </c:lvl>
              </c:multiLvlStrCache>
            </c:multiLvlStrRef>
          </c:cat>
          <c:val>
            <c:numRef>
              <c:f>Sheet1!$C$2:$C$4</c:f>
              <c:numCache>
                <c:formatCode>General</c:formatCode>
                <c:ptCount val="3"/>
                <c:pt idx="0">
                  <c:v>98.9</c:v>
                </c:pt>
                <c:pt idx="1">
                  <c:v>98.4</c:v>
                </c:pt>
                <c:pt idx="2">
                  <c:v>96.2</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Accuracy on all 10 classes, 1 example per new class (%)</a:t>
            </a:r>
          </a:p>
        </c:rich>
      </c:tx>
      <c:layout/>
      <c:overlay val="0"/>
    </c:title>
    <c:autoTitleDeleted val="0"/>
    <c:plotArea>
      <c:layout/>
      <c:barChart>
        <c:barDir val="col"/>
        <c:grouping val="clustered"/>
        <c:varyColors val="0"/>
        <c:ser>
          <c:idx val="0"/>
          <c:order val="0"/>
          <c:tx>
            <c:strRef>
              <c:f>Sheet1!$B$1</c:f>
              <c:strCache>
                <c:ptCount val="1"/>
                <c:pt idx="0">
                  <c:v>Before the fix</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Sheet1!$B$2:$B$4</c:f>
              <c:numCache>
                <c:formatCode>General</c:formatCode>
                <c:ptCount val="3"/>
                <c:pt idx="0">
                  <c:v>54.1</c:v>
                </c:pt>
                <c:pt idx="1">
                  <c:v>49.7</c:v>
                </c:pt>
                <c:pt idx="2">
                  <c:v>45.2</c:v>
                </c:pt>
              </c:numCache>
            </c:numRef>
          </c:val>
        </c:ser>
        <c:ser>
          <c:idx val="1"/>
          <c:order val="1"/>
          <c:tx>
            <c:strRef>
              <c:f>Sheet1!$C$1</c:f>
              <c:strCache>
                <c:ptCount val="1"/>
                <c:pt idx="0">
                  <c:v>With IMPRINT + short sleep</c:v>
                </c:pt>
              </c:strCache>
            </c:strRef>
          </c:tx>
          <c:spPr>
            <a:solidFill>
              <a:srgbClr val="F2A93B"/>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Sheet1!$C$2:$C$4</c:f>
              <c:numCache>
                <c:formatCode>General</c:formatCode>
                <c:ptCount val="3"/>
                <c:pt idx="0">
                  <c:v>69.9</c:v>
                </c:pt>
                <c:pt idx="1">
                  <c:v>64</c:v>
                </c:pt>
                <c:pt idx="2">
                  <c:v>48.3</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Accuracy after moving knowledge (%)</a:t>
            </a:r>
          </a:p>
        </c:rich>
      </c:tx>
      <c:layout/>
      <c:overlay val="0"/>
    </c:title>
    <c:autoTitleDeleted val="0"/>
    <c:plotArea>
      <c:layout/>
      <c:barChart>
        <c:barDir val="col"/>
        <c:grouping val="clustered"/>
        <c:varyColors val="0"/>
        <c:ser>
          <c:idx val="0"/>
          <c:order val="0"/>
          <c:tx>
            <c:strRef>
              <c:f>Sheet1!$B$1</c:f>
              <c:strCache>
                <c:ptCount val="1"/>
                <c:pt idx="0">
                  <c:v>Merge two chips</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Sheet1!$B$2:$B$4</c:f>
              <c:numCache>
                <c:formatCode>General</c:formatCode>
                <c:ptCount val="3"/>
                <c:pt idx="0">
                  <c:v>93.3</c:v>
                </c:pt>
                <c:pt idx="1">
                  <c:v>81.4</c:v>
                </c:pt>
                <c:pt idx="2">
                  <c:v>64.3</c:v>
                </c:pt>
              </c:numCache>
            </c:numRef>
          </c:val>
        </c:ser>
        <c:ser>
          <c:idx val="1"/>
          <c:order val="1"/>
          <c:tx>
            <c:strRef>
              <c:f>Sheet1!$C$1</c:f>
              <c:strCache>
                <c:ptCount val="1"/>
                <c:pt idx="0">
                  <c:v>Hand-over, then learn on</c:v>
                </c:pt>
              </c:strCache>
            </c:strRef>
          </c:tx>
          <c:spPr>
            <a:solidFill>
              <a:srgbClr val="2FA37A"/>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Sheet1!$C$2:$C$4</c:f>
              <c:numCache>
                <c:formatCode>General</c:formatCode>
                <c:ptCount val="3"/>
                <c:pt idx="0">
                  <c:v>95.6</c:v>
                </c:pt>
                <c:pt idx="1">
                  <c:v>82.7</c:v>
                </c:pt>
                <c:pt idx="2">
                  <c:v>71.6</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judges. We are L Lawliet from CKCET and the project is called L. L is a small chip design that keeps learning after it ships, without forgetting what it knew, with no multiplier, no matrices and no backpropagation. One promise before the numbers: every number on these slides is labelled simulated, estimated or measured, and nothing has run on a real board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neural network learns once. Teach it in stages and it keeps only the last stage: about 20 percent on digits and clothing, and 5 percent on twenty classes. Those are measured numbers from a small CNN we trained on the same images, one seed. The usual fix is to retrain from scratch, which costs energy and means hardware cannot be updated in the field. A chip that learns in the field avoids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rule is to follow the brain, not the GPU. Senses that learn without labels. Learning by counting, one example at a time, with no backpropagation, no multiplier and no matrices. Sleep: the chip dreams old classes from small counters instead of storing examples, and a slow table consolidates the fast one. Looking again when unsure, and trusting the more confident sense. And sharing: memory is counts, so chips can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result. Learning in stages of two classes with no stored examples, the chip keeps 95.6 percent on digits and 81 on clothing with sixty thousand training images, and 87.4 percent on twenty classes. The CNN that learned in the same stages keeps about 20 and 5 percent. The chip numbers are simulated with an exact integer model, two to five seeds; the CNN numbers are measured, one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everything available at once, the chip with its second look is within half a point of a trained CNN on digits, two points behind on clothing, level on twenty classes, and level on thirty-five spoken words even though the chip learned the words in stages. The second look costs about 2.8 times the table memory. Say it plainly: a CNN is still ahead on clothing.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whether the chip holds up with more data, and found a failure: at sixty thousand images the staged result fell. The cause was consolidation timing; one fixed rule that scales the follow interval with the stage size removes the collapse, on both datasets, without a per-dataset setting. We also report that one-pass accuracy barely improves with more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sound path goes from raw samples through a cochlea and noise floor to the same counting table. With one noisy copy of each training clip and a second look, thirty-five words in stages reach 72.4 percent clean and 47 percent at 5 decibels, against 68 and 27 for the first design. The noise is simulated white noise, not real recordings.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retina and a cochlea feed one table. When a quarter of the picture is damaged, weighting each sense by how confident it is lifts digits from 97.5 to 98.4. A heard word can name pictures with no picture labels, groups can form with no labels, and the chip can notice a new class by itself. Be honest: the pictures and sounds come from different datasets that share only the digit.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brand-new class seen once was almost invisible. IMPRINT writes its mean code into the table at once and a short sleep blends it in: digits go from 54 to 70, clothing from 50 to 64. Spoken words from one to five recordings stay weak and I say so on the limits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memory is counts, two chips that learned different classes can be merged by adding their counters, or one chip hands its memory to another that keeps learning. Merge gives 93, 81 and 64 percent; hand-over gives 96, 83 and 72. This is weight transfer without 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The image memory is 84 kilobytes and fits a 25-dollar Tang Nano 20K with no hardware multipliers. Counting only the operations a decision needs it uses about 74 times less energy than an 8-bit network, an estimate. The layout estimate is higher, about a fifth of a microjoule. The second look costs about 2.8 times the table memory, and sound needs 422 kilobytes.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not just a simulator result. Every check passes bit for bit between the integer model and the RTL, covering the learning core, the sense layers, the whole sound chain, the two-sense chip, the new units that moved host steps onto the chip, and the board top. We also took it through an open-source SKY130 layout flow; routing ended at one remaining violation. This is verification in simulation, not a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want you to remember. Nothing has run on hardware. Staged clothing is about 82 percent, five points under its one-pass number, and I tried many fixes. A trained CNN is still ahead on clothing by about two points. The tests are small and the noise is simulated; the two-sense data is paired by class, not real audio-visual recordings. The second look costs about 2.8 times the memory, and a few steps still run on the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the first continual-learning chip. Hyperdimensional-computing accelerators and event-driven spiking chips such as Loihi 2, TrueNorth and SpiNNaker exist. What we add is the combination: dreams from small counters so no examples are stored, a night that ends by itself, consolidation that scales with the data, and a design with no multiplier or matrix that is bit-exact from raw senses to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next. The model and RTL are done and verified in simulation. The next milestone is the real Tang Nano board, which gives the first measured numbers. Then harder tests: a larger vocabulary, real recorded noise and a harder image set. Later, a matrix-free chip for the L language model, and external memory for sound and the second look. No fabrication is planned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L is a chip design that keeps learning after it ships. It keeps what it knew, shares what it learned, and needs no multiplier. It is weaker than a trained network in a few places, and I have told you where.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L</a:t>
            </a:r>
            <a:endParaRPr lang="en-US" sz="4000" dirty="0"/>
          </a:p>
        </p:txBody>
      </p:sp>
      <p:sp>
        <p:nvSpPr>
          <p:cNvPr id="3" name="Text 1"/>
          <p:cNvSpPr txBox="1"/>
          <p:nvPr/>
        </p:nvSpPr>
        <p:spPr>
          <a:xfrm>
            <a:off x="548640" y="2697480"/>
            <a:ext cx="8046720" cy="457200"/>
          </a:xfrm>
          <a:prstGeom prst="rect">
            <a:avLst/>
          </a:prstGeom>
          <a:noFill/>
          <a:ln/>
        </p:spPr>
        <p:txBody>
          <a:bodyPr wrap="square" lIns="0" tIns="0" rIns="0" bIns="0" rtlCol="0" anchor="t"/>
          <a:lstStyle/>
          <a:p>
            <a:pPr indent="0" marL="0">
              <a:buNone/>
            </a:pPr>
            <a:r>
              <a:rPr lang="en-US" sz="2200" i="1" dirty="0">
                <a:solidFill>
                  <a:schemeClr val="accent1"/>
                </a:solidFill>
                <a:latin typeface="Calibri" pitchFamily="34" charset="0"/>
                <a:ea typeface="Calibri" pitchFamily="34" charset="-122"/>
                <a:cs typeface="Calibri" pitchFamily="34" charset="-120"/>
              </a:rPr>
              <a:t>A brain-principled chip that keeps learning after it ships</a:t>
            </a:r>
            <a:endParaRPr lang="en-US" sz="2200" dirty="0"/>
          </a:p>
        </p:txBody>
      </p:sp>
      <p:sp>
        <p:nvSpPr>
          <p:cNvPr id="4" name="Text 2"/>
          <p:cNvSpPr txBox="1"/>
          <p:nvPr/>
        </p:nvSpPr>
        <p:spPr>
          <a:xfrm>
            <a:off x="548640" y="4023360"/>
            <a:ext cx="8046720" cy="365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L Lawliet  |  Navin (Kakashi), CKCET  |  PALS innoWAH! 2026-27</a:t>
            </a:r>
            <a:endParaRPr lang="en-US" sz="1400" dirty="0"/>
          </a:p>
        </p:txBody>
      </p:sp>
      <p:sp>
        <p:nvSpPr>
          <p:cNvPr id="5" name="Text 3"/>
          <p:cNvSpPr txBox="1"/>
          <p:nvPr/>
        </p:nvSpPr>
        <p:spPr>
          <a:xfrm>
            <a:off x="548640" y="4389120"/>
            <a:ext cx="8046720" cy="36576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Every number is labelled SIMULATED, ESTIMATED or MEASURED. The chip has not run on hardware yet: say it first, then show what is verified.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AI stops learning the day it ships</a:t>
            </a:r>
            <a:endParaRPr lang="en-US" sz="3000" dirty="0"/>
          </a:p>
        </p:txBody>
      </p:sp>
      <p:sp>
        <p:nvSpPr>
          <p:cNvPr id="3" name="card"/>
          <p:cNvSpPr/>
          <p:nvPr/>
        </p:nvSpPr>
        <p:spPr>
          <a:xfrm>
            <a:off x="457200" y="1371600"/>
            <a:ext cx="2560320" cy="2103120"/>
          </a:xfrm>
          <a:prstGeom prst="roundRect">
            <a:avLst>
              <a:gd name="adj" fmla="val 4348"/>
            </a:avLst>
          </a:prstGeom>
          <a:solidFill>
            <a:schemeClr val="bg2"/>
          </a:solidFill>
          <a:ln w="12700">
            <a:solidFill>
              <a:schemeClr val="bg2"/>
            </a:solidFill>
            <a:prstDash val="solid"/>
          </a:ln>
        </p:spPr>
      </p:sp>
      <p:sp>
        <p:nvSpPr>
          <p:cNvPr id="4" name="Text 2"/>
          <p:cNvSpPr txBox="1"/>
          <p:nvPr/>
        </p:nvSpPr>
        <p:spPr>
          <a:xfrm>
            <a:off x="640080" y="1554480"/>
            <a:ext cx="219456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19.5%</a:t>
            </a:r>
            <a:endParaRPr lang="en-US" sz="5400" dirty="0"/>
          </a:p>
        </p:txBody>
      </p:sp>
      <p:sp>
        <p:nvSpPr>
          <p:cNvPr id="5" name="Text 3"/>
          <p:cNvSpPr txBox="1"/>
          <p:nvPr/>
        </p:nvSpPr>
        <p:spPr>
          <a:xfrm>
            <a:off x="640080" y="2606040"/>
            <a:ext cx="21945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digits: a small CNN that learns in 5 stages keeps only the last stage</a:t>
            </a:r>
            <a:endParaRPr lang="en-US" sz="1400" dirty="0"/>
          </a:p>
        </p:txBody>
      </p:sp>
      <p:sp>
        <p:nvSpPr>
          <p:cNvPr id="6" name="card"/>
          <p:cNvSpPr/>
          <p:nvPr/>
        </p:nvSpPr>
        <p:spPr>
          <a:xfrm>
            <a:off x="3291840" y="1371600"/>
            <a:ext cx="2560320" cy="2103120"/>
          </a:xfrm>
          <a:prstGeom prst="roundRect">
            <a:avLst>
              <a:gd name="adj" fmla="val 4348"/>
            </a:avLst>
          </a:prstGeom>
          <a:solidFill>
            <a:schemeClr val="bg2"/>
          </a:solidFill>
          <a:ln w="12700">
            <a:solidFill>
              <a:schemeClr val="bg2"/>
            </a:solidFill>
            <a:prstDash val="solid"/>
          </a:ln>
        </p:spPr>
      </p:sp>
      <p:sp>
        <p:nvSpPr>
          <p:cNvPr id="7" name="Text 5"/>
          <p:cNvSpPr txBox="1"/>
          <p:nvPr/>
        </p:nvSpPr>
        <p:spPr>
          <a:xfrm>
            <a:off x="3474720" y="1554480"/>
            <a:ext cx="219456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20.0%</a:t>
            </a:r>
            <a:endParaRPr lang="en-US" sz="5400" dirty="0"/>
          </a:p>
        </p:txBody>
      </p:sp>
      <p:sp>
        <p:nvSpPr>
          <p:cNvPr id="8" name="Text 6"/>
          <p:cNvSpPr txBox="1"/>
          <p:nvPr/>
        </p:nvSpPr>
        <p:spPr>
          <a:xfrm>
            <a:off x="3474720" y="2606040"/>
            <a:ext cx="21945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clothing: same test, 60,000 images, same forgetting</a:t>
            </a:r>
            <a:endParaRPr lang="en-US" sz="1400" dirty="0"/>
          </a:p>
        </p:txBody>
      </p:sp>
      <p:sp>
        <p:nvSpPr>
          <p:cNvPr id="9" name="card"/>
          <p:cNvSpPr/>
          <p:nvPr/>
        </p:nvSpPr>
        <p:spPr>
          <a:xfrm>
            <a:off x="6126480" y="1371600"/>
            <a:ext cx="2560320" cy="2103120"/>
          </a:xfrm>
          <a:prstGeom prst="roundRect">
            <a:avLst>
              <a:gd name="adj" fmla="val 4348"/>
            </a:avLst>
          </a:prstGeom>
          <a:solidFill>
            <a:schemeClr val="bg2"/>
          </a:solidFill>
          <a:ln w="12700">
            <a:solidFill>
              <a:schemeClr val="bg2"/>
            </a:solidFill>
            <a:prstDash val="solid"/>
          </a:ln>
        </p:spPr>
      </p:sp>
      <p:sp>
        <p:nvSpPr>
          <p:cNvPr id="10" name="Text 8"/>
          <p:cNvSpPr txBox="1"/>
          <p:nvPr/>
        </p:nvSpPr>
        <p:spPr>
          <a:xfrm>
            <a:off x="6309360" y="1554480"/>
            <a:ext cx="219456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5.0%</a:t>
            </a:r>
            <a:endParaRPr lang="en-US" sz="5400" dirty="0"/>
          </a:p>
        </p:txBody>
      </p:sp>
      <p:sp>
        <p:nvSpPr>
          <p:cNvPr id="11" name="Text 9"/>
          <p:cNvSpPr txBox="1"/>
          <p:nvPr/>
        </p:nvSpPr>
        <p:spPr>
          <a:xfrm>
            <a:off x="6309360" y="2606040"/>
            <a:ext cx="21945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20 classes in 10 stages: almost everything is forgotten</a:t>
            </a:r>
            <a:endParaRPr lang="en-US" sz="1400" dirty="0"/>
          </a:p>
        </p:txBody>
      </p:sp>
      <p:sp>
        <p:nvSpPr>
          <p:cNvPr id="12" name="Text 10"/>
          <p:cNvSpPr txBox="1"/>
          <p:nvPr/>
        </p:nvSpPr>
        <p:spPr>
          <a:xfrm>
            <a:off x="457200" y="3749040"/>
            <a:ext cx="8229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MEASURED: a CNN we trained on the same images, one seed. Fixing forgetting today means retraining from scratch: more energy, more heat, hardware thrown away when it can no longer be updated.</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idea: a brain, as a chip</a:t>
            </a:r>
            <a:endParaRPr lang="en-US" sz="3000" dirty="0"/>
          </a:p>
        </p:txBody>
      </p:sp>
      <p:sp>
        <p:nvSpPr>
          <p:cNvPr id="3" name="card"/>
          <p:cNvSpPr/>
          <p:nvPr/>
        </p:nvSpPr>
        <p:spPr>
          <a:xfrm>
            <a:off x="457200" y="1143000"/>
            <a:ext cx="8229600" cy="621792"/>
          </a:xfrm>
          <a:prstGeom prst="roundRect">
            <a:avLst>
              <a:gd name="adj" fmla="val 14706"/>
            </a:avLst>
          </a:prstGeom>
          <a:solidFill>
            <a:schemeClr val="bg2"/>
          </a:solidFill>
          <a:ln w="12700">
            <a:solidFill>
              <a:schemeClr val="bg2"/>
            </a:solidFill>
            <a:prstDash val="solid"/>
          </a:ln>
        </p:spPr>
      </p:sp>
      <p:sp>
        <p:nvSpPr>
          <p:cNvPr id="4" name="marker"/>
          <p:cNvSpPr/>
          <p:nvPr/>
        </p:nvSpPr>
        <p:spPr>
          <a:xfrm>
            <a:off x="566928" y="1234440"/>
            <a:ext cx="420624" cy="420624"/>
          </a:xfrm>
          <a:prstGeom prst="ellipse">
            <a:avLst/>
          </a:prstGeom>
          <a:solidFill>
            <a:schemeClr val="accent1"/>
          </a:solidFill>
          <a:ln w="12700">
            <a:solidFill>
              <a:schemeClr val="accent1"/>
            </a:solidFill>
            <a:prstDash val="solid"/>
          </a:ln>
        </p:spPr>
      </p:sp>
      <p:sp>
        <p:nvSpPr>
          <p:cNvPr id="5" name="Text 3"/>
          <p:cNvSpPr txBox="1"/>
          <p:nvPr/>
        </p:nvSpPr>
        <p:spPr>
          <a:xfrm>
            <a:off x="566928" y="1289304"/>
            <a:ext cx="420624"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143000" y="1207008"/>
            <a:ext cx="2011680" cy="4572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Senses</a:t>
            </a:r>
            <a:endParaRPr lang="en-US" sz="1500" dirty="0"/>
          </a:p>
        </p:txBody>
      </p:sp>
      <p:sp>
        <p:nvSpPr>
          <p:cNvPr id="7" name="Text 5"/>
          <p:cNvSpPr txBox="1"/>
          <p:nvPr/>
        </p:nvSpPr>
        <p:spPr>
          <a:xfrm>
            <a:off x="3108960" y="1207008"/>
            <a:ext cx="5394960" cy="5029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Eyes and ears turn pixels and sound into a sparse code. Detectors learn by themselves, no labels.</a:t>
            </a:r>
            <a:endParaRPr lang="en-US" sz="1200" dirty="0"/>
          </a:p>
        </p:txBody>
      </p:sp>
      <p:sp>
        <p:nvSpPr>
          <p:cNvPr id="8" name="card"/>
          <p:cNvSpPr/>
          <p:nvPr/>
        </p:nvSpPr>
        <p:spPr>
          <a:xfrm>
            <a:off x="457200" y="1847088"/>
            <a:ext cx="8229600" cy="621792"/>
          </a:xfrm>
          <a:prstGeom prst="roundRect">
            <a:avLst>
              <a:gd name="adj" fmla="val 14706"/>
            </a:avLst>
          </a:prstGeom>
          <a:solidFill>
            <a:schemeClr val="bg2"/>
          </a:solidFill>
          <a:ln w="12700">
            <a:solidFill>
              <a:schemeClr val="bg2"/>
            </a:solidFill>
            <a:prstDash val="solid"/>
          </a:ln>
        </p:spPr>
      </p:sp>
      <p:sp>
        <p:nvSpPr>
          <p:cNvPr id="9" name="marker"/>
          <p:cNvSpPr/>
          <p:nvPr/>
        </p:nvSpPr>
        <p:spPr>
          <a:xfrm>
            <a:off x="566928" y="1938528"/>
            <a:ext cx="420624" cy="420624"/>
          </a:xfrm>
          <a:prstGeom prst="ellipse">
            <a:avLst/>
          </a:prstGeom>
          <a:solidFill>
            <a:schemeClr val="accent1"/>
          </a:solidFill>
          <a:ln w="12700">
            <a:solidFill>
              <a:schemeClr val="accent1"/>
            </a:solidFill>
            <a:prstDash val="solid"/>
          </a:ln>
        </p:spPr>
      </p:sp>
      <p:sp>
        <p:nvSpPr>
          <p:cNvPr id="10" name="Text 8"/>
          <p:cNvSpPr txBox="1"/>
          <p:nvPr/>
        </p:nvSpPr>
        <p:spPr>
          <a:xfrm>
            <a:off x="566928" y="1993392"/>
            <a:ext cx="420624"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43000" y="1911096"/>
            <a:ext cx="2011680" cy="4572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Learn by counting</a:t>
            </a:r>
            <a:endParaRPr lang="en-US" sz="1500" dirty="0"/>
          </a:p>
        </p:txBody>
      </p:sp>
      <p:sp>
        <p:nvSpPr>
          <p:cNvPr id="12" name="Text 10"/>
          <p:cNvSpPr txBox="1"/>
          <p:nvPr/>
        </p:nvSpPr>
        <p:spPr>
          <a:xfrm>
            <a:off x="3108960" y="1911096"/>
            <a:ext cx="5394960" cy="5029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Each example is counted into a small fast table. No backpropagation, no multiplier, no matrices.</a:t>
            </a:r>
            <a:endParaRPr lang="en-US" sz="1200" dirty="0"/>
          </a:p>
        </p:txBody>
      </p:sp>
      <p:sp>
        <p:nvSpPr>
          <p:cNvPr id="13" name="card"/>
          <p:cNvSpPr/>
          <p:nvPr/>
        </p:nvSpPr>
        <p:spPr>
          <a:xfrm>
            <a:off x="457200" y="2551176"/>
            <a:ext cx="8229600" cy="621792"/>
          </a:xfrm>
          <a:prstGeom prst="roundRect">
            <a:avLst>
              <a:gd name="adj" fmla="val 14706"/>
            </a:avLst>
          </a:prstGeom>
          <a:solidFill>
            <a:schemeClr val="bg2"/>
          </a:solidFill>
          <a:ln w="12700">
            <a:solidFill>
              <a:schemeClr val="bg2"/>
            </a:solidFill>
            <a:prstDash val="solid"/>
          </a:ln>
        </p:spPr>
      </p:sp>
      <p:sp>
        <p:nvSpPr>
          <p:cNvPr id="14" name="marker"/>
          <p:cNvSpPr/>
          <p:nvPr/>
        </p:nvSpPr>
        <p:spPr>
          <a:xfrm>
            <a:off x="566928" y="2642616"/>
            <a:ext cx="420624" cy="420624"/>
          </a:xfrm>
          <a:prstGeom prst="ellipse">
            <a:avLst/>
          </a:prstGeom>
          <a:solidFill>
            <a:schemeClr val="accent1"/>
          </a:solidFill>
          <a:ln w="12700">
            <a:solidFill>
              <a:schemeClr val="accent1"/>
            </a:solidFill>
            <a:prstDash val="solid"/>
          </a:ln>
        </p:spPr>
      </p:sp>
      <p:sp>
        <p:nvSpPr>
          <p:cNvPr id="15" name="Text 13"/>
          <p:cNvSpPr txBox="1"/>
          <p:nvPr/>
        </p:nvSpPr>
        <p:spPr>
          <a:xfrm>
            <a:off x="566928" y="2697480"/>
            <a:ext cx="420624"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143000" y="2615184"/>
            <a:ext cx="2011680" cy="4572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Dream and sleep</a:t>
            </a:r>
            <a:endParaRPr lang="en-US" sz="1500" dirty="0"/>
          </a:p>
        </p:txBody>
      </p:sp>
      <p:sp>
        <p:nvSpPr>
          <p:cNvPr id="17" name="Text 15"/>
          <p:cNvSpPr txBox="1"/>
          <p:nvPr/>
        </p:nvSpPr>
        <p:spPr>
          <a:xfrm>
            <a:off x="3108960" y="2615184"/>
            <a:ext cx="5394960" cy="5029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Old classes are replayed from 10-bit counters, so nothing is stored. A slow table consolidates the fast one.</a:t>
            </a:r>
            <a:endParaRPr lang="en-US" sz="1200" dirty="0"/>
          </a:p>
        </p:txBody>
      </p:sp>
      <p:sp>
        <p:nvSpPr>
          <p:cNvPr id="18" name="card"/>
          <p:cNvSpPr/>
          <p:nvPr/>
        </p:nvSpPr>
        <p:spPr>
          <a:xfrm>
            <a:off x="457200" y="3255264"/>
            <a:ext cx="8229600" cy="621792"/>
          </a:xfrm>
          <a:prstGeom prst="roundRect">
            <a:avLst>
              <a:gd name="adj" fmla="val 14706"/>
            </a:avLst>
          </a:prstGeom>
          <a:solidFill>
            <a:schemeClr val="bg2"/>
          </a:solidFill>
          <a:ln w="12700">
            <a:solidFill>
              <a:schemeClr val="bg2"/>
            </a:solidFill>
            <a:prstDash val="solid"/>
          </a:ln>
        </p:spPr>
      </p:sp>
      <p:sp>
        <p:nvSpPr>
          <p:cNvPr id="19" name="marker"/>
          <p:cNvSpPr/>
          <p:nvPr/>
        </p:nvSpPr>
        <p:spPr>
          <a:xfrm>
            <a:off x="566928" y="3346704"/>
            <a:ext cx="420624" cy="420624"/>
          </a:xfrm>
          <a:prstGeom prst="ellipse">
            <a:avLst/>
          </a:prstGeom>
          <a:solidFill>
            <a:schemeClr val="accent1"/>
          </a:solidFill>
          <a:ln w="12700">
            <a:solidFill>
              <a:schemeClr val="accent1"/>
            </a:solidFill>
            <a:prstDash val="solid"/>
          </a:ln>
        </p:spPr>
      </p:sp>
      <p:sp>
        <p:nvSpPr>
          <p:cNvPr id="20" name="Text 18"/>
          <p:cNvSpPr txBox="1"/>
          <p:nvPr/>
        </p:nvSpPr>
        <p:spPr>
          <a:xfrm>
            <a:off x="566928" y="3401568"/>
            <a:ext cx="420624"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1143000" y="3319272"/>
            <a:ext cx="2011680" cy="4572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Look again</a:t>
            </a:r>
            <a:endParaRPr lang="en-US" sz="1500" dirty="0"/>
          </a:p>
        </p:txBody>
      </p:sp>
      <p:sp>
        <p:nvSpPr>
          <p:cNvPr id="22" name="Text 20"/>
          <p:cNvSpPr txBox="1"/>
          <p:nvPr/>
        </p:nvSpPr>
        <p:spPr>
          <a:xfrm>
            <a:off x="3108960" y="3319272"/>
            <a:ext cx="5394960" cy="5029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When unsure, a second look at a finer code; when two senses disagree, trust the more confident one.</a:t>
            </a:r>
            <a:endParaRPr lang="en-US" sz="1200" dirty="0"/>
          </a:p>
        </p:txBody>
      </p:sp>
      <p:sp>
        <p:nvSpPr>
          <p:cNvPr id="23" name="card"/>
          <p:cNvSpPr/>
          <p:nvPr/>
        </p:nvSpPr>
        <p:spPr>
          <a:xfrm>
            <a:off x="457200" y="3959352"/>
            <a:ext cx="8229600" cy="621792"/>
          </a:xfrm>
          <a:prstGeom prst="roundRect">
            <a:avLst>
              <a:gd name="adj" fmla="val 14706"/>
            </a:avLst>
          </a:prstGeom>
          <a:solidFill>
            <a:schemeClr val="bg2"/>
          </a:solidFill>
          <a:ln w="12700">
            <a:solidFill>
              <a:schemeClr val="bg2"/>
            </a:solidFill>
            <a:prstDash val="solid"/>
          </a:ln>
        </p:spPr>
      </p:sp>
      <p:sp>
        <p:nvSpPr>
          <p:cNvPr id="24" name="marker"/>
          <p:cNvSpPr/>
          <p:nvPr/>
        </p:nvSpPr>
        <p:spPr>
          <a:xfrm>
            <a:off x="566928" y="4050792"/>
            <a:ext cx="420624" cy="420624"/>
          </a:xfrm>
          <a:prstGeom prst="ellipse">
            <a:avLst/>
          </a:prstGeom>
          <a:solidFill>
            <a:schemeClr val="accent1"/>
          </a:solidFill>
          <a:ln w="12700">
            <a:solidFill>
              <a:schemeClr val="accent1"/>
            </a:solidFill>
            <a:prstDash val="solid"/>
          </a:ln>
        </p:spPr>
      </p:sp>
      <p:sp>
        <p:nvSpPr>
          <p:cNvPr id="25" name="Text 23"/>
          <p:cNvSpPr txBox="1"/>
          <p:nvPr/>
        </p:nvSpPr>
        <p:spPr>
          <a:xfrm>
            <a:off x="566928" y="4105656"/>
            <a:ext cx="420624"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5</a:t>
            </a:r>
            <a:endParaRPr lang="en-US" sz="1500" dirty="0"/>
          </a:p>
        </p:txBody>
      </p:sp>
      <p:sp>
        <p:nvSpPr>
          <p:cNvPr id="26" name="Text 24"/>
          <p:cNvSpPr txBox="1"/>
          <p:nvPr/>
        </p:nvSpPr>
        <p:spPr>
          <a:xfrm>
            <a:off x="1143000" y="4023360"/>
            <a:ext cx="2011680" cy="4572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Share</a:t>
            </a:r>
            <a:endParaRPr lang="en-US" sz="1500" dirty="0"/>
          </a:p>
        </p:txBody>
      </p:sp>
      <p:sp>
        <p:nvSpPr>
          <p:cNvPr id="27" name="Text 25"/>
          <p:cNvSpPr txBox="1"/>
          <p:nvPr/>
        </p:nvSpPr>
        <p:spPr>
          <a:xfrm>
            <a:off x="3108960" y="4023360"/>
            <a:ext cx="5394960" cy="5029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 second chip takes over the memory, or two memories merge by adding counts.</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It learns in stages and keeps what it knew</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(chip), MEASURED (CNN)</a:t>
            </a:r>
            <a:endParaRPr lang="en-US" sz="1200" dirty="0"/>
          </a:p>
        </p:txBody>
      </p:sp>
      <p:sp>
        <p:nvSpPr>
          <p:cNvPr id="6" name="Text 3"/>
          <p:cNvSpPr txBox="1"/>
          <p:nvPr/>
        </p:nvSpPr>
        <p:spPr>
          <a:xfrm>
            <a:off x="6126480" y="1783080"/>
            <a:ext cx="2377440" cy="2011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Exact integer model of the chip, 2-5 seeds, the full test sets. Digits and clothing: 60,000 training images in 5 stages of 2 classes. 20 classes: digits plus clothing in 10 stages.</a:t>
            </a:r>
            <a:endParaRPr lang="en-US" sz="1300" dirty="0"/>
          </a:p>
        </p:txBody>
      </p:sp>
      <p:sp>
        <p:nvSpPr>
          <p:cNvPr id="7" name="Text 4"/>
          <p:cNvSpPr txBox="1"/>
          <p:nvPr/>
        </p:nvSpPr>
        <p:spPr>
          <a:xfrm>
            <a:off x="6126480" y="3840480"/>
            <a:ext cx="2377440" cy="64008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Stored examples: none. Memory: 84 KB for images.</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Close to a CNN trained on everything</a:t>
            </a:r>
            <a:endParaRPr lang="en-US" sz="3000" dirty="0"/>
          </a:p>
        </p:txBody>
      </p:sp>
      <p:graphicFrame>
        <p:nvGraphicFramePr>
          <p:cNvPr id="3" name="Chart 0" descr=""/>
          <p:cNvGraphicFramePr/>
          <p:nvPr/>
        </p:nvGraphicFramePr>
        <p:xfrm>
          <a:off x="457200" y="1188720"/>
          <a:ext cx="548640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6126480" y="1280160"/>
            <a:ext cx="2560320" cy="3291840"/>
          </a:xfrm>
          <a:prstGeom prst="roundRect">
            <a:avLst>
              <a:gd name="adj" fmla="val 3571"/>
            </a:avLst>
          </a:prstGeom>
          <a:solidFill>
            <a:schemeClr val="bg2"/>
          </a:solidFill>
          <a:ln w="12700">
            <a:solidFill>
              <a:schemeClr val="bg2"/>
            </a:solidFill>
            <a:prstDash val="solid"/>
          </a:ln>
        </p:spPr>
      </p:sp>
      <p:sp>
        <p:nvSpPr>
          <p:cNvPr id="5" name="Text 2"/>
          <p:cNvSpPr txBox="1"/>
          <p:nvPr/>
        </p:nvSpPr>
        <p:spPr>
          <a:xfrm>
            <a:off x="6309360" y="1417320"/>
            <a:ext cx="219456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vs MEASURED</a:t>
            </a:r>
            <a:endParaRPr lang="en-US" sz="1200" dirty="0"/>
          </a:p>
        </p:txBody>
      </p:sp>
      <p:sp>
        <p:nvSpPr>
          <p:cNvPr id="6" name="Text 3"/>
          <p:cNvSpPr txBox="1"/>
          <p:nvPr/>
        </p:nvSpPr>
        <p:spPr>
          <a:xfrm>
            <a:off x="6309360" y="1783080"/>
            <a:ext cx="2194560" cy="21031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One pass with a second look on a finer code (digits, clothing: 60,000 images). 20 classes: one pass, no second look. Words: the chip learned in stages and the CNN all at once.</a:t>
            </a:r>
            <a:endParaRPr lang="en-US" sz="1200" dirty="0"/>
          </a:p>
        </p:txBody>
      </p:sp>
      <p:sp>
        <p:nvSpPr>
          <p:cNvPr id="7" name="Text 4"/>
          <p:cNvSpPr txBox="1"/>
          <p:nvPr/>
        </p:nvSpPr>
        <p:spPr>
          <a:xfrm>
            <a:off x="6309360" y="3931920"/>
            <a:ext cx="2194560" cy="54864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A trained CNN is still ahead on clothing by 2 points.</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It scales: more data does not break it</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3 seeds</a:t>
            </a:r>
            <a:endParaRPr lang="en-US" sz="1200" dirty="0"/>
          </a:p>
        </p:txBody>
      </p:sp>
      <p:sp>
        <p:nvSpPr>
          <p:cNvPr id="6" name="Text 3"/>
          <p:cNvSpPr txBox="1"/>
          <p:nvPr/>
        </p:nvSpPr>
        <p:spPr>
          <a:xfrm>
            <a:off x="6126480" y="1783080"/>
            <a:ext cx="2377440" cy="21945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We tested 6x more data and found the staged result fell. One fixed rule fixed it: follow the slow table every max(100, stage size / 30) examples. Digits: 93.4 to 95.6 at 60,000 images.</a:t>
            </a:r>
            <a:endParaRPr lang="en-US" sz="1300" dirty="0"/>
          </a:p>
        </p:txBody>
      </p:sp>
      <p:sp>
        <p:nvSpPr>
          <p:cNvPr id="7" name="Text 4"/>
          <p:cNvSpPr txBox="1"/>
          <p:nvPr/>
        </p:nvSpPr>
        <p:spPr>
          <a:xfrm>
            <a:off x="6126480" y="3977640"/>
            <a:ext cx="2377440" cy="54864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One pass barely improves with more data (clothing 86.6 to 87.6).</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It hears, and noise stops hurting as much</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3 seeds</a:t>
            </a:r>
            <a:endParaRPr lang="en-US" sz="1200" dirty="0"/>
          </a:p>
        </p:txBody>
      </p:sp>
      <p:sp>
        <p:nvSpPr>
          <p:cNvPr id="6" name="Text 3"/>
          <p:cNvSpPr txBox="1"/>
          <p:nvPr/>
        </p:nvSpPr>
        <p:spPr>
          <a:xfrm>
            <a:off x="6126480" y="1783080"/>
            <a:ext cx="2377440" cy="21945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Raw sound to word through an integer cochlea, noise floor, word alignment and the same counting table, bit-exact in RTL. Training also on one noisy copy of each clip adds no memory.</a:t>
            </a:r>
            <a:endParaRPr lang="en-US" sz="1300" dirty="0"/>
          </a:p>
        </p:txBody>
      </p:sp>
      <p:sp>
        <p:nvSpPr>
          <p:cNvPr id="7" name="Text 4"/>
          <p:cNvSpPr txBox="1"/>
          <p:nvPr/>
        </p:nvSpPr>
        <p:spPr>
          <a:xfrm>
            <a:off x="6126480" y="3977640"/>
            <a:ext cx="2377440" cy="64008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Sound needs 422 KB: an ASIC or external memory, not the Tang Nano.</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Two senses help each other</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2-3 seeds</a:t>
            </a:r>
            <a:endParaRPr lang="en-US" sz="1200" dirty="0"/>
          </a:p>
        </p:txBody>
      </p:sp>
      <p:sp>
        <p:nvSpPr>
          <p:cNvPr id="6" name="Text 3"/>
          <p:cNvSpPr txBox="1"/>
          <p:nvPr/>
        </p:nvSpPr>
        <p:spPr>
          <a:xfrm>
            <a:off x="6126480" y="1783080"/>
            <a:ext cx="2377440" cy="2377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The ear names pictures with no picture labels: 93.9 after sleep cleaning</a:t>
            </a:r>
            <a:endParaRPr lang="en-US" sz="1200" dirty="0"/>
          </a:p>
          <a:p>
            <a:pPr marL="342900" indent="-3429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Groups form with no labels: 96.1 to 97.0 with 30 names</a:t>
            </a:r>
            <a:endParaRPr lang="en-US" sz="1200" dirty="0"/>
          </a:p>
          <a:p>
            <a:pPr marL="342900" indent="-342900">
              <a:buSzPct val="100000"/>
              <a:buChar char="•"/>
            </a:pPr>
            <a:r>
              <a:rPr lang="en-US" sz="1200" dirty="0">
                <a:solidFill>
                  <a:schemeClr val="tx1"/>
                </a:solidFill>
                <a:latin typeface="Calibri" pitchFamily="34" charset="0"/>
                <a:ea typeface="Calibri" pitchFamily="34" charset="-122"/>
                <a:cs typeface="Calibri" pitchFamily="34" charset="-120"/>
              </a:rPr>
              <a:t>New classes noticed from inside: 99% of flagged pairs are new</a:t>
            </a:r>
            <a:endParaRPr lang="en-US" sz="1200" dirty="0"/>
          </a:p>
        </p:txBody>
      </p:sp>
      <p:sp>
        <p:nvSpPr>
          <p:cNvPr id="7" name="Text 4"/>
          <p:cNvSpPr txBox="1"/>
          <p:nvPr/>
        </p:nvSpPr>
        <p:spPr>
          <a:xfrm>
            <a:off x="6126480" y="3977640"/>
            <a:ext cx="2377440" cy="54864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Pictures and sounds are paired by class, not real recordings of one scene.</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 new class from one example, after shipping</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in RTL</a:t>
            </a:r>
            <a:endParaRPr lang="en-US" sz="1200" dirty="0"/>
          </a:p>
        </p:txBody>
      </p:sp>
      <p:sp>
        <p:nvSpPr>
          <p:cNvPr id="6" name="Text 3"/>
          <p:cNvSpPr txBox="1"/>
          <p:nvPr/>
        </p:nvSpPr>
        <p:spPr>
          <a:xfrm>
            <a:off x="6126480" y="1783080"/>
            <a:ext cx="2377440" cy="1828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 novelty-gated imprint writes the new class into the table at once, then a short sleep blends it in. Old classes stay within 1 to 5 points.</a:t>
            </a:r>
            <a:endParaRPr lang="en-US" sz="1300" dirty="0"/>
          </a:p>
        </p:txBody>
      </p:sp>
      <p:sp>
        <p:nvSpPr>
          <p:cNvPr id="7" name="Text 4"/>
          <p:cNvSpPr txBox="1"/>
          <p:nvPr/>
        </p:nvSpPr>
        <p:spPr>
          <a:xfrm>
            <a:off x="6126480" y="3749040"/>
            <a:ext cx="2377440" cy="731520"/>
          </a:xfrm>
          <a:prstGeom prst="rect">
            <a:avLst/>
          </a:prstGeom>
          <a:noFill/>
          <a:ln/>
        </p:spPr>
        <p:txBody>
          <a:bodyPr wrap="square" lIns="0" tIns="0" rIns="0" bIns="0" rtlCol="0" anchor="t"/>
          <a:lstStyle/>
          <a:p>
            <a:pPr indent="0" marL="0">
              <a:buNone/>
            </a:pPr>
            <a:r>
              <a:rPr lang="en-US" sz="1300" b="1" dirty="0">
                <a:solidFill>
                  <a:schemeClr val="accent4"/>
                </a:solidFill>
                <a:latin typeface="Calibri" pitchFamily="34" charset="0"/>
                <a:ea typeface="Calibri" pitchFamily="34" charset="-122"/>
                <a:cs typeface="Calibri" pitchFamily="34" charset="-120"/>
              </a:rPr>
              <a:t>Spoken words from 1 to 5 recordings stay weak.</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Knowledge moves between chips</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3 seeds</a:t>
            </a:r>
            <a:endParaRPr lang="en-US" sz="1200" dirty="0"/>
          </a:p>
        </p:txBody>
      </p:sp>
      <p:sp>
        <p:nvSpPr>
          <p:cNvPr id="6" name="Text 3"/>
          <p:cNvSpPr txBox="1"/>
          <p:nvPr/>
        </p:nvSpPr>
        <p:spPr>
          <a:xfrm>
            <a:off x="6126480" y="1783080"/>
            <a:ext cx="2377440" cy="25603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Because memory is counts, two chips that learned different classes merge by adding counters. No retraining on a server. The board demo design reached 91.4% on all ten digits after one night (PC-side emulator).</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Small, cheap, and no multiplier</a:t>
            </a:r>
            <a:endParaRPr lang="en-US" sz="3000" dirty="0"/>
          </a:p>
        </p:txBody>
      </p:sp>
      <p:sp>
        <p:nvSpPr>
          <p:cNvPr id="3" name="card"/>
          <p:cNvSpPr/>
          <p:nvPr/>
        </p:nvSpPr>
        <p:spPr>
          <a:xfrm>
            <a:off x="457200" y="1188720"/>
            <a:ext cx="4023360" cy="1554480"/>
          </a:xfrm>
          <a:prstGeom prst="roundRect">
            <a:avLst>
              <a:gd name="adj" fmla="val 5882"/>
            </a:avLst>
          </a:prstGeom>
          <a:solidFill>
            <a:schemeClr val="bg2"/>
          </a:solidFill>
          <a:ln w="12700">
            <a:solidFill>
              <a:schemeClr val="bg2"/>
            </a:solidFill>
            <a:prstDash val="solid"/>
          </a:ln>
        </p:spPr>
      </p:sp>
      <p:sp>
        <p:nvSpPr>
          <p:cNvPr id="4" name="Text 2"/>
          <p:cNvSpPr txBox="1"/>
          <p:nvPr/>
        </p:nvSpPr>
        <p:spPr>
          <a:xfrm>
            <a:off x="640080" y="1298448"/>
            <a:ext cx="3657600" cy="64008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84 KB</a:t>
            </a:r>
            <a:endParaRPr lang="en-US" sz="3400" dirty="0"/>
          </a:p>
        </p:txBody>
      </p:sp>
      <p:sp>
        <p:nvSpPr>
          <p:cNvPr id="5" name="Text 3"/>
          <p:cNvSpPr txBox="1"/>
          <p:nvPr/>
        </p:nvSpPr>
        <p:spPr>
          <a:xfrm>
            <a:off x="640080" y="1938528"/>
            <a:ext cx="365760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memory for images (second look: about 2.8x)</a:t>
            </a:r>
            <a:endParaRPr lang="en-US" sz="1300" dirty="0"/>
          </a:p>
        </p:txBody>
      </p:sp>
      <p:sp>
        <p:nvSpPr>
          <p:cNvPr id="6" name="Text 4"/>
          <p:cNvSpPr txBox="1"/>
          <p:nvPr/>
        </p:nvSpPr>
        <p:spPr>
          <a:xfrm>
            <a:off x="640080" y="2450592"/>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design fact</a:t>
            </a:r>
            <a:endParaRPr lang="en-US" sz="1100" dirty="0"/>
          </a:p>
        </p:txBody>
      </p:sp>
      <p:sp>
        <p:nvSpPr>
          <p:cNvPr id="7" name="card"/>
          <p:cNvSpPr/>
          <p:nvPr/>
        </p:nvSpPr>
        <p:spPr>
          <a:xfrm>
            <a:off x="4663440" y="1188720"/>
            <a:ext cx="4023360" cy="1554480"/>
          </a:xfrm>
          <a:prstGeom prst="roundRect">
            <a:avLst>
              <a:gd name="adj" fmla="val 5882"/>
            </a:avLst>
          </a:prstGeom>
          <a:solidFill>
            <a:schemeClr val="bg2"/>
          </a:solidFill>
          <a:ln w="12700">
            <a:solidFill>
              <a:schemeClr val="bg2"/>
            </a:solidFill>
            <a:prstDash val="solid"/>
          </a:ln>
        </p:spPr>
      </p:sp>
      <p:sp>
        <p:nvSpPr>
          <p:cNvPr id="8" name="Text 6"/>
          <p:cNvSpPr txBox="1"/>
          <p:nvPr/>
        </p:nvSpPr>
        <p:spPr>
          <a:xfrm>
            <a:off x="4846320" y="1298448"/>
            <a:ext cx="3657600" cy="64008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0</a:t>
            </a:r>
            <a:endParaRPr lang="en-US" sz="3400" dirty="0"/>
          </a:p>
        </p:txBody>
      </p:sp>
      <p:sp>
        <p:nvSpPr>
          <p:cNvPr id="9" name="Text 7"/>
          <p:cNvSpPr txBox="1"/>
          <p:nvPr/>
        </p:nvSpPr>
        <p:spPr>
          <a:xfrm>
            <a:off x="4846320" y="1938528"/>
            <a:ext cx="365760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hardware multipliers on the $25 Tang Nano 20K (89% logic, 46/46 block RAM)</a:t>
            </a:r>
            <a:endParaRPr lang="en-US" sz="1300" dirty="0"/>
          </a:p>
        </p:txBody>
      </p:sp>
      <p:sp>
        <p:nvSpPr>
          <p:cNvPr id="10" name="Text 8"/>
          <p:cNvSpPr txBox="1"/>
          <p:nvPr/>
        </p:nvSpPr>
        <p:spPr>
          <a:xfrm>
            <a:off x="4846320" y="2450592"/>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SIMULATED, place and route</a:t>
            </a:r>
            <a:endParaRPr lang="en-US" sz="1100" dirty="0"/>
          </a:p>
        </p:txBody>
      </p:sp>
      <p:sp>
        <p:nvSpPr>
          <p:cNvPr id="11" name="card"/>
          <p:cNvSpPr/>
          <p:nvPr/>
        </p:nvSpPr>
        <p:spPr>
          <a:xfrm>
            <a:off x="457200" y="2880360"/>
            <a:ext cx="4023360" cy="1554480"/>
          </a:xfrm>
          <a:prstGeom prst="roundRect">
            <a:avLst>
              <a:gd name="adj" fmla="val 5882"/>
            </a:avLst>
          </a:prstGeom>
          <a:solidFill>
            <a:schemeClr val="bg2"/>
          </a:solidFill>
          <a:ln w="12700">
            <a:solidFill>
              <a:schemeClr val="bg2"/>
            </a:solidFill>
            <a:prstDash val="solid"/>
          </a:ln>
        </p:spPr>
      </p:sp>
      <p:sp>
        <p:nvSpPr>
          <p:cNvPr id="12" name="Text 10"/>
          <p:cNvSpPr txBox="1"/>
          <p:nvPr/>
        </p:nvSpPr>
        <p:spPr>
          <a:xfrm>
            <a:off x="640080" y="2990088"/>
            <a:ext cx="3657600" cy="64008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~74x</a:t>
            </a:r>
            <a:endParaRPr lang="en-US" sz="3400" dirty="0"/>
          </a:p>
        </p:txBody>
      </p:sp>
      <p:sp>
        <p:nvSpPr>
          <p:cNvPr id="13" name="Text 11"/>
          <p:cNvSpPr txBox="1"/>
          <p:nvPr/>
        </p:nvSpPr>
        <p:spPr>
          <a:xfrm>
            <a:off x="640080" y="3630168"/>
            <a:ext cx="365760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less energy per decision than an 8-bit network, counting the operations needed (9.4 nJ vs 696 nJ)</a:t>
            </a:r>
            <a:endParaRPr lang="en-US" sz="1300" dirty="0"/>
          </a:p>
        </p:txBody>
      </p:sp>
      <p:sp>
        <p:nvSpPr>
          <p:cNvPr id="14" name="Text 12"/>
          <p:cNvSpPr txBox="1"/>
          <p:nvPr/>
        </p:nvSpPr>
        <p:spPr>
          <a:xfrm>
            <a:off x="640080" y="4142232"/>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ESTIMATED</a:t>
            </a:r>
            <a:endParaRPr lang="en-US" sz="1100" dirty="0"/>
          </a:p>
        </p:txBody>
      </p:sp>
      <p:sp>
        <p:nvSpPr>
          <p:cNvPr id="15" name="card"/>
          <p:cNvSpPr/>
          <p:nvPr/>
        </p:nvSpPr>
        <p:spPr>
          <a:xfrm>
            <a:off x="4663440" y="2880360"/>
            <a:ext cx="4023360" cy="1554480"/>
          </a:xfrm>
          <a:prstGeom prst="roundRect">
            <a:avLst>
              <a:gd name="adj" fmla="val 5882"/>
            </a:avLst>
          </a:prstGeom>
          <a:solidFill>
            <a:schemeClr val="bg2"/>
          </a:solidFill>
          <a:ln w="12700">
            <a:solidFill>
              <a:schemeClr val="bg2"/>
            </a:solidFill>
            <a:prstDash val="solid"/>
          </a:ln>
        </p:spPr>
      </p:sp>
      <p:sp>
        <p:nvSpPr>
          <p:cNvPr id="16" name="Text 14"/>
          <p:cNvSpPr txBox="1"/>
          <p:nvPr/>
        </p:nvSpPr>
        <p:spPr>
          <a:xfrm>
            <a:off x="4846320" y="2990088"/>
            <a:ext cx="3657600" cy="64008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422 KB</a:t>
            </a:r>
            <a:endParaRPr lang="en-US" sz="3400" dirty="0"/>
          </a:p>
        </p:txBody>
      </p:sp>
      <p:sp>
        <p:nvSpPr>
          <p:cNvPr id="17" name="Text 15"/>
          <p:cNvSpPr txBox="1"/>
          <p:nvPr/>
        </p:nvSpPr>
        <p:spPr>
          <a:xfrm>
            <a:off x="4846320" y="3630168"/>
            <a:ext cx="365760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sound memory: needs external memory or an ASIC</a:t>
            </a:r>
            <a:endParaRPr lang="en-US" sz="1300" dirty="0"/>
          </a:p>
        </p:txBody>
      </p:sp>
      <p:sp>
        <p:nvSpPr>
          <p:cNvPr id="18" name="Text 16"/>
          <p:cNvSpPr txBox="1"/>
          <p:nvPr/>
        </p:nvSpPr>
        <p:spPr>
          <a:xfrm>
            <a:off x="4846320" y="4142232"/>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design fact</a:t>
            </a:r>
            <a:endParaRPr lang="en-US" sz="1100" dirty="0"/>
          </a:p>
        </p:txBody>
      </p:sp>
      <p:sp>
        <p:nvSpPr>
          <p:cNvPr id="19" name="Text 17"/>
          <p:cNvSpPr txBox="1"/>
          <p:nvPr/>
        </p:nvSpPr>
        <p:spPr>
          <a:xfrm>
            <a:off x="457200" y="4526280"/>
            <a:ext cx="7955280" cy="41148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Say it carefully: the 74x is per operation needed. The SKY130 layout estimate is 0.18 to 0.26 uJ per decision, 20 to 28x above the operation count.</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Verified bit for bit, and laid out</a:t>
            </a:r>
            <a:endParaRPr lang="en-US" sz="3000" dirty="0"/>
          </a:p>
        </p:txBody>
      </p:sp>
      <p:sp>
        <p:nvSpPr>
          <p:cNvPr id="3" name="card"/>
          <p:cNvSpPr/>
          <p:nvPr/>
        </p:nvSpPr>
        <p:spPr>
          <a:xfrm>
            <a:off x="457200" y="1280160"/>
            <a:ext cx="4023360" cy="3200400"/>
          </a:xfrm>
          <a:prstGeom prst="roundRect">
            <a:avLst>
              <a:gd name="adj" fmla="val 2857"/>
            </a:avLst>
          </a:prstGeom>
          <a:solidFill>
            <a:schemeClr val="bg2"/>
          </a:solidFill>
          <a:ln w="12700">
            <a:solidFill>
              <a:schemeClr val="bg2"/>
            </a:solidFill>
            <a:prstDash val="solid"/>
          </a:ln>
        </p:spPr>
      </p:sp>
      <p:sp>
        <p:nvSpPr>
          <p:cNvPr id="4" name="Text 2"/>
          <p:cNvSpPr txBox="1"/>
          <p:nvPr/>
        </p:nvSpPr>
        <p:spPr>
          <a:xfrm>
            <a:off x="640080" y="1417320"/>
            <a:ext cx="3657600" cy="91440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38 / 38</a:t>
            </a:r>
            <a:endParaRPr lang="en-US" sz="5400" dirty="0"/>
          </a:p>
        </p:txBody>
      </p:sp>
      <p:sp>
        <p:nvSpPr>
          <p:cNvPr id="5" name="Text 3"/>
          <p:cNvSpPr txBox="1"/>
          <p:nvPr/>
        </p:nvSpPr>
        <p:spPr>
          <a:xfrm>
            <a:off x="640080" y="2514600"/>
            <a:ext cx="3657600" cy="1737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RTL checks, 0 mismatches against the integer model: core, tail memory, IMPRINT, slow table, encoders, cochlea, sound chain, two-sense chip, cue weighting, second look, threshold and novelty units, clustering, board top, host schedule.</a:t>
            </a:r>
            <a:endParaRPr lang="en-US" sz="1200" dirty="0"/>
          </a:p>
        </p:txBody>
      </p:sp>
      <p:sp>
        <p:nvSpPr>
          <p:cNvPr id="6" name="Text 4"/>
          <p:cNvSpPr txBox="1"/>
          <p:nvPr/>
        </p:nvSpPr>
        <p:spPr>
          <a:xfrm>
            <a:off x="640080" y="4114800"/>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SIMULATED (RTL simulation)</a:t>
            </a:r>
            <a:endParaRPr lang="en-US" sz="1100" dirty="0"/>
          </a:p>
        </p:txBody>
      </p:sp>
      <p:sp>
        <p:nvSpPr>
          <p:cNvPr id="7" name="card"/>
          <p:cNvSpPr/>
          <p:nvPr/>
        </p:nvSpPr>
        <p:spPr>
          <a:xfrm>
            <a:off x="4663440" y="1280160"/>
            <a:ext cx="4023360" cy="3200400"/>
          </a:xfrm>
          <a:prstGeom prst="roundRect">
            <a:avLst>
              <a:gd name="adj" fmla="val 2857"/>
            </a:avLst>
          </a:prstGeom>
          <a:solidFill>
            <a:schemeClr val="bg2"/>
          </a:solidFill>
          <a:ln w="12700">
            <a:solidFill>
              <a:schemeClr val="bg2"/>
            </a:solidFill>
            <a:prstDash val="solid"/>
          </a:ln>
        </p:spPr>
      </p:sp>
      <p:sp>
        <p:nvSpPr>
          <p:cNvPr id="8" name="Text 6"/>
          <p:cNvSpPr txBox="1"/>
          <p:nvPr/>
        </p:nvSpPr>
        <p:spPr>
          <a:xfrm>
            <a:off x="4846320" y="1417320"/>
            <a:ext cx="365760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9" name="Text 7"/>
          <p:cNvSpPr txBox="1"/>
          <p:nvPr/>
        </p:nvSpPr>
        <p:spPr>
          <a:xfrm>
            <a:off x="4846320" y="2514600"/>
            <a:ext cx="3657600" cy="1645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violation left in detailed routing of the SKY130 layout (from 174,309 on the first pass), a power-versus-signal short at a memory macro edge.</a:t>
            </a:r>
            <a:endParaRPr lang="en-US" sz="1300" dirty="0"/>
          </a:p>
        </p:txBody>
      </p:sp>
      <p:sp>
        <p:nvSpPr>
          <p:cNvPr id="10" name="Text 8"/>
          <p:cNvSpPr txBox="1"/>
          <p:nvPr/>
        </p:nvSpPr>
        <p:spPr>
          <a:xfrm>
            <a:off x="4846320" y="4114800"/>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ESTIMATED (open-source flow, no sign-off)</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Where it is level, and where it is weaker</a:t>
            </a:r>
            <a:endParaRPr lang="en-US" sz="3000" dirty="0"/>
          </a:p>
        </p:txBody>
      </p:sp>
      <p:sp>
        <p:nvSpPr>
          <p:cNvPr id="3" name="Text 1"/>
          <p:cNvSpPr txBox="1"/>
          <p:nvPr/>
        </p:nvSpPr>
        <p:spPr>
          <a:xfrm>
            <a:off x="457200" y="1280160"/>
            <a:ext cx="8229600" cy="32918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Nothing is measured on hardware yet: every chip number is simulated</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Staged clothing about 82%, 5 points below its one pass; many ideas tried</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A trained CNN is ahead by about 2 points on clothing when all data is available</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Small tests: digits, clothing, 20 classes, up to 35 words; noise is simulated; two-sense data is paired by class</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Second look costs about 2.8x memory; a few steps still run on the host</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Not the first, and clear about what is new</a:t>
            </a:r>
            <a:endParaRPr lang="en-US" sz="3000" dirty="0"/>
          </a:p>
        </p:txBody>
      </p:sp>
      <p:sp>
        <p:nvSpPr>
          <p:cNvPr id="3" name="card"/>
          <p:cNvSpPr/>
          <p:nvPr/>
        </p:nvSpPr>
        <p:spPr>
          <a:xfrm>
            <a:off x="457200" y="1280160"/>
            <a:ext cx="4023360" cy="3200400"/>
          </a:xfrm>
          <a:prstGeom prst="roundRect">
            <a:avLst>
              <a:gd name="adj" fmla="val 2857"/>
            </a:avLst>
          </a:prstGeom>
          <a:solidFill>
            <a:schemeClr val="bg2"/>
          </a:solidFill>
          <a:ln w="12700">
            <a:solidFill>
              <a:schemeClr val="bg2"/>
            </a:solidFill>
            <a:prstDash val="solid"/>
          </a:ln>
        </p:spPr>
      </p:sp>
      <p:sp>
        <p:nvSpPr>
          <p:cNvPr id="4" name="card"/>
          <p:cNvSpPr/>
          <p:nvPr/>
        </p:nvSpPr>
        <p:spPr>
          <a:xfrm>
            <a:off x="4663440" y="1280160"/>
            <a:ext cx="4023360" cy="3200400"/>
          </a:xfrm>
          <a:prstGeom prst="roundRect">
            <a:avLst>
              <a:gd name="adj" fmla="val 2857"/>
            </a:avLst>
          </a:prstGeom>
          <a:solidFill>
            <a:schemeClr val="bg2"/>
          </a:solidFill>
          <a:ln w="12700">
            <a:solidFill>
              <a:schemeClr val="bg2"/>
            </a:solidFill>
            <a:prstDash val="solid"/>
          </a:ln>
        </p:spPr>
      </p:sp>
      <p:sp>
        <p:nvSpPr>
          <p:cNvPr id="5" name="Text 3"/>
          <p:cNvSpPr txBox="1"/>
          <p:nvPr/>
        </p:nvSpPr>
        <p:spPr>
          <a:xfrm>
            <a:off x="640080" y="1417320"/>
            <a:ext cx="3657600" cy="365760"/>
          </a:xfrm>
          <a:prstGeom prst="rect">
            <a:avLst/>
          </a:prstGeom>
          <a:noFill/>
          <a:ln/>
        </p:spPr>
        <p:txBody>
          <a:bodyPr wrap="square" lIns="0" tIns="0" rIns="0" bIns="0" rtlCol="0" anchor="t"/>
          <a:lstStyle/>
          <a:p>
            <a:pPr indent="0" marL="0">
              <a:buNone/>
            </a:pPr>
            <a:r>
              <a:rPr lang="en-US" sz="2000" b="1" dirty="0">
                <a:solidFill>
                  <a:schemeClr val="accent6"/>
                </a:solidFill>
                <a:latin typeface="Cambria" pitchFamily="34" charset="0"/>
                <a:ea typeface="Cambria" pitchFamily="34" charset="-122"/>
                <a:cs typeface="Cambria" pitchFamily="34" charset="-120"/>
              </a:rPr>
              <a:t>Already exists</a:t>
            </a:r>
            <a:endParaRPr lang="en-US" sz="2000" dirty="0"/>
          </a:p>
        </p:txBody>
      </p:sp>
      <p:sp>
        <p:nvSpPr>
          <p:cNvPr id="6" name="Text 4"/>
          <p:cNvSpPr txBox="1"/>
          <p:nvPr/>
        </p:nvSpPr>
        <p:spPr>
          <a:xfrm>
            <a:off x="640080" y="1920240"/>
            <a:ext cx="365760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Hyperdimensional-computing accelerators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Intel Loihi 2, TrueNorth, SpiNNaker (event-driven spiking chips)</a:t>
            </a:r>
            <a:endParaRPr lang="en-US" sz="1500" dirty="0"/>
          </a:p>
          <a:p>
            <a:pPr marL="342900" indent="-342900">
              <a:buSzPct val="100000"/>
              <a:buChar char="•"/>
            </a:pPr>
            <a:r>
              <a:rPr lang="en-US" sz="1500" dirty="0">
                <a:solidFill>
                  <a:schemeClr val="tx1"/>
                </a:solidFill>
                <a:latin typeface="Calibri" pitchFamily="34" charset="0"/>
                <a:ea typeface="Calibri" pitchFamily="34" charset="-122"/>
                <a:cs typeface="Calibri" pitchFamily="34" charset="-120"/>
              </a:rPr>
              <a:t>Replay-based continual learning</a:t>
            </a:r>
            <a:endParaRPr lang="en-US" sz="1500" dirty="0"/>
          </a:p>
        </p:txBody>
      </p:sp>
      <p:sp>
        <p:nvSpPr>
          <p:cNvPr id="7" name="Text 5"/>
          <p:cNvSpPr txBox="1"/>
          <p:nvPr/>
        </p:nvSpPr>
        <p:spPr>
          <a:xfrm>
            <a:off x="4846320" y="1417320"/>
            <a:ext cx="365760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What we add</a:t>
            </a:r>
            <a:endParaRPr lang="en-US" sz="2000" dirty="0"/>
          </a:p>
        </p:txBody>
      </p:sp>
      <p:sp>
        <p:nvSpPr>
          <p:cNvPr id="8" name="Text 6"/>
          <p:cNvSpPr txBox="1"/>
          <p:nvPr/>
        </p:nvSpPr>
        <p:spPr>
          <a:xfrm>
            <a:off x="4846320" y="1920240"/>
            <a:ext cx="365760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Dreams from 10-bit counters, no stored examples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 night that ends by itself; consolidation that scales with the data</a:t>
            </a:r>
            <a:endParaRPr lang="en-US" sz="1400" dirty="0"/>
          </a:p>
          <a:p>
            <a:pPr marL="342900" indent="-342900">
              <a:buSzPct val="100000"/>
              <a:buChar char="•"/>
            </a:pPr>
            <a:r>
              <a:rPr lang="en-US" sz="1400" dirty="0">
                <a:solidFill>
                  <a:schemeClr val="tx1"/>
                </a:solidFill>
                <a:latin typeface="Calibri" pitchFamily="34" charset="0"/>
                <a:ea typeface="Calibri" pitchFamily="34" charset="-122"/>
                <a:cs typeface="Calibri" pitchFamily="34" charset="-120"/>
              </a:rPr>
              <a:t>No multiplier or matrix, bit-exact from raw senses to decision, with grouping and thresholds on the chip</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comes next</a:t>
            </a:r>
            <a:endParaRPr lang="en-US" sz="3000" dirty="0"/>
          </a:p>
        </p:txBody>
      </p:sp>
      <p:sp>
        <p:nvSpPr>
          <p:cNvPr id="3" name="card"/>
          <p:cNvSpPr/>
          <p:nvPr/>
        </p:nvSpPr>
        <p:spPr>
          <a:xfrm>
            <a:off x="457200" y="1371600"/>
            <a:ext cx="1965960" cy="2651760"/>
          </a:xfrm>
          <a:prstGeom prst="roundRect">
            <a:avLst>
              <a:gd name="adj" fmla="val 4651"/>
            </a:avLst>
          </a:prstGeom>
          <a:solidFill>
            <a:schemeClr val="bg2"/>
          </a:solidFill>
          <a:ln w="12700">
            <a:solidFill>
              <a:schemeClr val="bg2"/>
            </a:solidFill>
            <a:prstDash val="solid"/>
          </a:ln>
        </p:spPr>
      </p:sp>
      <p:sp>
        <p:nvSpPr>
          <p:cNvPr id="4" name="marker"/>
          <p:cNvSpPr/>
          <p:nvPr/>
        </p:nvSpPr>
        <p:spPr>
          <a:xfrm>
            <a:off x="594360" y="1508760"/>
            <a:ext cx="502920" cy="502920"/>
          </a:xfrm>
          <a:prstGeom prst="ellipse">
            <a:avLst/>
          </a:prstGeom>
          <a:solidFill>
            <a:schemeClr val="accent3"/>
          </a:solidFill>
          <a:ln w="12700">
            <a:solidFill>
              <a:schemeClr val="accent3"/>
            </a:solidFill>
            <a:prstDash val="solid"/>
          </a:ln>
        </p:spPr>
      </p:sp>
      <p:sp>
        <p:nvSpPr>
          <p:cNvPr id="5" name="Text 3"/>
          <p:cNvSpPr txBox="1"/>
          <p:nvPr/>
        </p:nvSpPr>
        <p:spPr>
          <a:xfrm>
            <a:off x="594360" y="1600200"/>
            <a:ext cx="50292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594360" y="2148840"/>
            <a:ext cx="1737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Done</a:t>
            </a:r>
            <a:endParaRPr lang="en-US" sz="1700" dirty="0"/>
          </a:p>
        </p:txBody>
      </p:sp>
      <p:sp>
        <p:nvSpPr>
          <p:cNvPr id="7" name="Text 5"/>
          <p:cNvSpPr txBox="1"/>
          <p:nvPr/>
        </p:nvSpPr>
        <p:spPr>
          <a:xfrm>
            <a:off x="594360" y="2560320"/>
            <a:ext cx="1737360" cy="13716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Model, RTL with every check passing, second look, tail memory, on-chip thresholds and grouping, scale tests</a:t>
            </a:r>
            <a:endParaRPr lang="en-US" sz="1100" dirty="0"/>
          </a:p>
        </p:txBody>
      </p:sp>
      <p:sp>
        <p:nvSpPr>
          <p:cNvPr id="8" name="card"/>
          <p:cNvSpPr/>
          <p:nvPr/>
        </p:nvSpPr>
        <p:spPr>
          <a:xfrm>
            <a:off x="2560320" y="1371600"/>
            <a:ext cx="1965960" cy="2651760"/>
          </a:xfrm>
          <a:prstGeom prst="roundRect">
            <a:avLst>
              <a:gd name="adj" fmla="val 4651"/>
            </a:avLst>
          </a:prstGeom>
          <a:solidFill>
            <a:schemeClr val="bg2"/>
          </a:solidFill>
          <a:ln w="12700">
            <a:solidFill>
              <a:schemeClr val="bg2"/>
            </a:solidFill>
            <a:prstDash val="solid"/>
          </a:ln>
        </p:spPr>
      </p:sp>
      <p:sp>
        <p:nvSpPr>
          <p:cNvPr id="9" name="marker"/>
          <p:cNvSpPr/>
          <p:nvPr/>
        </p:nvSpPr>
        <p:spPr>
          <a:xfrm>
            <a:off x="2697480" y="150876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2697480" y="1600200"/>
            <a:ext cx="50292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2697480" y="2148840"/>
            <a:ext cx="1737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Next</a:t>
            </a:r>
            <a:endParaRPr lang="en-US" sz="1700" dirty="0"/>
          </a:p>
        </p:txBody>
      </p:sp>
      <p:sp>
        <p:nvSpPr>
          <p:cNvPr id="12" name="Text 10"/>
          <p:cNvSpPr txBox="1"/>
          <p:nvPr/>
        </p:nvSpPr>
        <p:spPr>
          <a:xfrm>
            <a:off x="2697480" y="2560320"/>
            <a:ext cx="1737360" cy="13716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Run on the real Tang Nano: the first MEASURED numbers</a:t>
            </a:r>
            <a:endParaRPr lang="en-US" sz="1100" dirty="0"/>
          </a:p>
        </p:txBody>
      </p:sp>
      <p:sp>
        <p:nvSpPr>
          <p:cNvPr id="13" name="card"/>
          <p:cNvSpPr/>
          <p:nvPr/>
        </p:nvSpPr>
        <p:spPr>
          <a:xfrm>
            <a:off x="4663440" y="1371600"/>
            <a:ext cx="1965960" cy="2651760"/>
          </a:xfrm>
          <a:prstGeom prst="roundRect">
            <a:avLst>
              <a:gd name="adj" fmla="val 4651"/>
            </a:avLst>
          </a:prstGeom>
          <a:solidFill>
            <a:schemeClr val="bg2"/>
          </a:solidFill>
          <a:ln w="12700">
            <a:solidFill>
              <a:schemeClr val="bg2"/>
            </a:solidFill>
            <a:prstDash val="solid"/>
          </a:ln>
        </p:spPr>
      </p:sp>
      <p:sp>
        <p:nvSpPr>
          <p:cNvPr id="14" name="marker"/>
          <p:cNvSpPr/>
          <p:nvPr/>
        </p:nvSpPr>
        <p:spPr>
          <a:xfrm>
            <a:off x="4800600" y="1508760"/>
            <a:ext cx="502920" cy="502920"/>
          </a:xfrm>
          <a:prstGeom prst="ellipse">
            <a:avLst/>
          </a:prstGeom>
          <a:solidFill>
            <a:schemeClr val="accent2"/>
          </a:solidFill>
          <a:ln w="12700">
            <a:solidFill>
              <a:schemeClr val="accent2"/>
            </a:solidFill>
            <a:prstDash val="solid"/>
          </a:ln>
        </p:spPr>
      </p:sp>
      <p:sp>
        <p:nvSpPr>
          <p:cNvPr id="15" name="Text 13"/>
          <p:cNvSpPr txBox="1"/>
          <p:nvPr/>
        </p:nvSpPr>
        <p:spPr>
          <a:xfrm>
            <a:off x="4800600" y="1600200"/>
            <a:ext cx="50292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4800600" y="2148840"/>
            <a:ext cx="1737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Then</a:t>
            </a:r>
            <a:endParaRPr lang="en-US" sz="1700" dirty="0"/>
          </a:p>
        </p:txBody>
      </p:sp>
      <p:sp>
        <p:nvSpPr>
          <p:cNvPr id="17" name="Text 15"/>
          <p:cNvSpPr txBox="1"/>
          <p:nvPr/>
        </p:nvSpPr>
        <p:spPr>
          <a:xfrm>
            <a:off x="4800600" y="2560320"/>
            <a:ext cx="1737360" cy="13716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Harder tests: larger vocabulary, real recorded noise, a harder image set</a:t>
            </a:r>
            <a:endParaRPr lang="en-US" sz="1100" dirty="0"/>
          </a:p>
        </p:txBody>
      </p:sp>
      <p:sp>
        <p:nvSpPr>
          <p:cNvPr id="18" name="card"/>
          <p:cNvSpPr/>
          <p:nvPr/>
        </p:nvSpPr>
        <p:spPr>
          <a:xfrm>
            <a:off x="6766560" y="1371600"/>
            <a:ext cx="1965960" cy="2651760"/>
          </a:xfrm>
          <a:prstGeom prst="roundRect">
            <a:avLst>
              <a:gd name="adj" fmla="val 4651"/>
            </a:avLst>
          </a:prstGeom>
          <a:solidFill>
            <a:schemeClr val="bg2"/>
          </a:solidFill>
          <a:ln w="12700">
            <a:solidFill>
              <a:schemeClr val="bg2"/>
            </a:solidFill>
            <a:prstDash val="solid"/>
          </a:ln>
        </p:spPr>
      </p:sp>
      <p:sp>
        <p:nvSpPr>
          <p:cNvPr id="19" name="marker"/>
          <p:cNvSpPr/>
          <p:nvPr/>
        </p:nvSpPr>
        <p:spPr>
          <a:xfrm>
            <a:off x="6903720" y="1508760"/>
            <a:ext cx="502920" cy="502920"/>
          </a:xfrm>
          <a:prstGeom prst="ellipse">
            <a:avLst/>
          </a:prstGeom>
          <a:solidFill>
            <a:schemeClr val="accent5"/>
          </a:solidFill>
          <a:ln w="12700">
            <a:solidFill>
              <a:schemeClr val="accent5"/>
            </a:solidFill>
            <a:prstDash val="solid"/>
          </a:ln>
        </p:spPr>
      </p:sp>
      <p:sp>
        <p:nvSpPr>
          <p:cNvPr id="20" name="Text 18"/>
          <p:cNvSpPr txBox="1"/>
          <p:nvPr/>
        </p:nvSpPr>
        <p:spPr>
          <a:xfrm>
            <a:off x="6903720" y="1600200"/>
            <a:ext cx="50292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6903720" y="2148840"/>
            <a:ext cx="1737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Later</a:t>
            </a:r>
            <a:endParaRPr lang="en-US" sz="1700" dirty="0"/>
          </a:p>
        </p:txBody>
      </p:sp>
      <p:sp>
        <p:nvSpPr>
          <p:cNvPr id="22" name="Text 20"/>
          <p:cNvSpPr txBox="1"/>
          <p:nvPr/>
        </p:nvSpPr>
        <p:spPr>
          <a:xfrm>
            <a:off x="6903720" y="2560320"/>
            <a:ext cx="1737360" cy="13716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Matrix-free chip for the L language model; ASIC memory for sound and the second look</a:t>
            </a:r>
            <a:endParaRPr lang="en-US" sz="1100" dirty="0"/>
          </a:p>
        </p:txBody>
      </p:sp>
      <p:sp>
        <p:nvSpPr>
          <p:cNvPr id="23" name="Text 21"/>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Horizon: a provable result within 6 to 8 months, then shrink and attract investors. No fabrication is planned yet.</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A chip that keeps learning</a:t>
            </a:r>
            <a:endParaRPr lang="en-US" sz="4000" dirty="0"/>
          </a:p>
        </p:txBody>
      </p:sp>
      <p:sp>
        <p:nvSpPr>
          <p:cNvPr id="3" name="Text 1"/>
          <p:cNvSpPr txBox="1"/>
          <p:nvPr/>
        </p:nvSpPr>
        <p:spPr>
          <a:xfrm>
            <a:off x="548640" y="2834640"/>
            <a:ext cx="8046720" cy="914400"/>
          </a:xfrm>
          <a:prstGeom prst="rect">
            <a:avLst/>
          </a:prstGeom>
          <a:noFill/>
          <a:ln/>
        </p:spPr>
        <p:txBody>
          <a:bodyPr wrap="square" lIns="0" tIns="0" rIns="0" bIns="0" rtlCol="0" anchor="t"/>
          <a:lstStyle/>
          <a:p>
            <a:pPr indent="0" marL="0">
              <a:buNone/>
            </a:pPr>
            <a:r>
              <a:rPr lang="en-US" sz="1800" i="1" dirty="0">
                <a:solidFill>
                  <a:schemeClr val="accent1"/>
                </a:solidFill>
                <a:latin typeface="Calibri" pitchFamily="34" charset="0"/>
                <a:ea typeface="Calibri" pitchFamily="34" charset="-122"/>
                <a:cs typeface="Calibri" pitchFamily="34" charset="-120"/>
              </a:rPr>
              <a:t>It learns in the field, keeps what it knew, shares what it learned, and needs no multiplier. It is weaker than a trained network in some places, and we have said where.</a:t>
            </a:r>
            <a:endParaRPr lang="en-US" sz="1800" dirty="0"/>
          </a:p>
        </p:txBody>
      </p:sp>
      <p:sp>
        <p:nvSpPr>
          <p:cNvPr id="4" name="Text 2"/>
          <p:cNvSpPr txBox="1"/>
          <p:nvPr/>
        </p:nvSpPr>
        <p:spPr>
          <a:xfrm>
            <a:off x="548640" y="4023360"/>
            <a:ext cx="8046720" cy="36576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Thank you. Questions?</a:t>
            </a:r>
            <a:endParaRPr lang="en-US" sz="2200" dirty="0"/>
          </a:p>
        </p:txBody>
      </p:sp>
    </p:spTree>
  </p:cSld>
  <p:clrMapOvr>
    <a:masterClrMapping/>
  </p:clrMapOvr>
</p:sld>
</file>

<file path=ppt/theme/theme1.xml><?xml version="1.0" encoding="utf-8"?>
<a:theme xmlns:a="http://schemas.openxmlformats.org/drawingml/2006/main" name="L">
  <a:themeElements>
    <a:clrScheme name="L">
      <a:dk1>
        <a:srgbClr val="151A3D"/>
      </a:dk1>
      <a:lt1>
        <a:srgbClr val="FFFFFF"/>
      </a:lt1>
      <a:dk2>
        <a:srgbClr val="2B3270"/>
      </a:dk2>
      <a:lt2>
        <a:srgbClr val="EEF0FA"/>
      </a:lt2>
      <a:accent1>
        <a:srgbClr val="F2A93B"/>
      </a:accent1>
      <a:accent2>
        <a:srgbClr val="5B6BD6"/>
      </a:accent2>
      <a:accent3>
        <a:srgbClr val="2FA37A"/>
      </a:accent3>
      <a:accent4>
        <a:srgbClr val="D9534F"/>
      </a:accent4>
      <a:accent5>
        <a:srgbClr val="8A93C9"/>
      </a:accent5>
      <a:accent6>
        <a:srgbClr val="6B7280"/>
      </a:accent6>
      <a:hlink>
        <a:srgbClr val="5B6BD6"/>
      </a:hlink>
      <a:folHlink>
        <a:srgbClr val="8A93C9"/>
      </a:folHlink>
    </a:clrScheme>
    <a:fontScheme nam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dc:title>
  <dc:subject>PptxGenJS Presentation</dc:subject>
  <dc:creator>L Lawliet (Navin), CKCET</dc:creator>
  <cp:lastModifiedBy>L Lawliet (Navin), CKCET</cp:lastModifiedBy>
  <cp:revision>1</cp:revision>
  <dcterms:created xsi:type="dcterms:W3CDTF">2026-10-22T10:12:39Z</dcterms:created>
  <dcterms:modified xsi:type="dcterms:W3CDTF">2026-10-22T10:12:39Z</dcterms:modified>
</cp:coreProperties>
</file>