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abd375a9-7095-07fd-a7b2-eca2b76bb588}">
          <p14:sldIdLst>
            <p14:sldId id="256"/>
          </p14:sldIdLst>
        </p14:section>
        <p14:section name="Why" id="{2d3deca2-ad86-84e8-635c-2147a89318b9}">
          <p14:sldIdLst>
            <p14:sldId id="257"/>
            <p14:sldId id="258"/>
          </p14:sldIdLst>
        </p14:section>
        <p14:section name="Results" id="{29614bab-de19-7474-d1f5-67abd267ddd7}">
          <p14:sldIdLst>
            <p14:sldId id="259"/>
            <p14:sldId id="260"/>
            <p14:sldId id="261"/>
            <p14:sldId id="262"/>
            <p14:sldId id="263"/>
            <p14:sldId id="264"/>
            <p14:sldId id="265"/>
          </p14:sldIdLst>
        </p14:section>
        <p14:section name="Build" id="{b662091f-514f-98bd-1719-c8ae63c24758}">
          <p14:sldIdLst>
            <p14:sldId id="266"/>
            <p14:sldId id="267"/>
          </p14:sldIdLst>
        </p14:section>
        <p14:section name="Honest" id="{bf5cc849-e9cc-beb1-8ca0-3847ad4598f2}">
          <p14:sldIdLst>
            <p14:sldId id="268"/>
            <p14:sldId id="269"/>
            <p14:sldId id="270"/>
            <p14:sldId id="271"/>
          </p14:sldIdLst>
        </p14:section>
        <p14:section name="Next" id="{72f6f034-01de-077b-ce46-d2d3fd582523}">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learning in stages (%)</a:t>
            </a:r>
          </a:p>
        </c:rich>
      </c:tx>
      <c:layout/>
      <c:overlay val="0"/>
    </c:title>
    <c:autoTitleDeleted val="0"/>
    <c:plotArea>
      <c:layout/>
      <c:barChart>
        <c:barDir val="col"/>
        <c:grouping val="clustered"/>
        <c:varyColors val="0"/>
        <c:ser>
          <c:idx val="0"/>
          <c:order val="0"/>
          <c:tx>
            <c:strRef>
              <c:f>Sheet1!$B$1</c:f>
              <c:strCache>
                <c:ptCount val="1"/>
                <c:pt idx="0">
                  <c:v>L chip design (no stored examples)</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Sheet1!$B$2:$B$4</c:f>
              <c:numCache>
                <c:formatCode>General</c:formatCode>
                <c:ptCount val="3"/>
                <c:pt idx="0">
                  <c:v>95.6</c:v>
                </c:pt>
                <c:pt idx="1">
                  <c:v>81</c:v>
                </c:pt>
                <c:pt idx="2">
                  <c:v>87.4</c:v>
                </c:pt>
              </c:numCache>
            </c:numRef>
          </c:val>
        </c:ser>
        <c:ser>
          <c:idx val="1"/>
          <c:order val="1"/>
          <c:tx>
            <c:strRef>
              <c:f>Sheet1!$C$1</c:f>
              <c:strCache>
                <c:ptCount val="1"/>
                <c:pt idx="0">
                  <c:v>CNN in stages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Sheet1!$C$2:$C$4</c:f>
              <c:numCache>
                <c:formatCode>General</c:formatCode>
                <c:ptCount val="3"/>
                <c:pt idx="0">
                  <c:v>19.5</c:v>
                </c:pt>
                <c:pt idx="1">
                  <c:v>20</c:v>
                </c:pt>
                <c:pt idx="2">
                  <c:v>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t>
            </a:r>
          </a:p>
        </c:rich>
      </c:tx>
      <c:layout/>
      <c:overlay val="0"/>
    </c:title>
    <c:autoTitleDeleted val="0"/>
    <c:plotArea>
      <c:layout/>
      <c:barChart>
        <c:barDir val="col"/>
        <c:grouping val="clustered"/>
        <c:varyColors val="0"/>
        <c:ser>
          <c:idx val="0"/>
          <c:order val="0"/>
          <c:tx>
            <c:strRef>
              <c:f>Sheet1!$B$1</c:f>
              <c:strCache>
                <c:ptCount val="1"/>
                <c:pt idx="0">
                  <c:v>L chip design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Sheet1!$B$2:$B$5</c:f>
              <c:numCache>
                <c:formatCode>General</c:formatCode>
                <c:ptCount val="4"/>
                <c:pt idx="0">
                  <c:v>98.45</c:v>
                </c:pt>
                <c:pt idx="1">
                  <c:v>88.93</c:v>
                </c:pt>
                <c:pt idx="2">
                  <c:v>91.18</c:v>
                </c:pt>
                <c:pt idx="3">
                  <c:v>72.4</c:v>
                </c:pt>
              </c:numCache>
            </c:numRef>
          </c:val>
        </c:ser>
        <c:ser>
          <c:idx val="1"/>
          <c:order val="1"/>
          <c:tx>
            <c:strRef>
              <c:f>Sheet1!$C$1</c:f>
              <c:strCache>
                <c:ptCount val="1"/>
                <c:pt idx="0">
                  <c:v>CNN, all data at once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Sheet1!$C$2:$C$5</c:f>
              <c:numCache>
                <c:formatCode>General</c:formatCode>
                <c:ptCount val="4"/>
                <c:pt idx="0">
                  <c:v>98.87</c:v>
                </c:pt>
                <c:pt idx="1">
                  <c:v>90.96</c:v>
                </c:pt>
                <c:pt idx="2">
                  <c:v>90.96</c:v>
                </c:pt>
                <c:pt idx="3">
                  <c:v>72.5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Clothing in stages, by training images (%)</a:t>
            </a:r>
          </a:p>
        </c:rich>
      </c:tx>
      <c:layout/>
      <c:overlay val="0"/>
    </c:title>
    <c:autoTitleDeleted val="0"/>
    <c:plotArea>
      <c:layout/>
      <c:barChart>
        <c:barDir val="col"/>
        <c:grouping val="clustered"/>
        <c:varyColors val="0"/>
        <c:ser>
          <c:idx val="0"/>
          <c:order val="0"/>
          <c:tx>
            <c:strRef>
              <c:f>Sheet1!$B$1</c:f>
              <c:strCache>
                <c:ptCount val="1"/>
                <c:pt idx="0">
                  <c:v>Fixed consolidation (first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Sheet1!$B$2:$B$4</c:f>
              <c:numCache>
                <c:formatCode>General</c:formatCode>
                <c:ptCount val="3"/>
                <c:pt idx="0">
                  <c:v>83.3</c:v>
                </c:pt>
                <c:pt idx="1">
                  <c:v>79.4</c:v>
                </c:pt>
                <c:pt idx="2">
                  <c:v>78</c:v>
                </c:pt>
              </c:numCache>
            </c:numRef>
          </c:val>
        </c:ser>
        <c:ser>
          <c:idx val="1"/>
          <c:order val="1"/>
          <c:tx>
            <c:strRef>
              <c:f>Sheet1!$C$1</c:f>
              <c:strCache>
                <c:ptCount val="1"/>
                <c:pt idx="0">
                  <c:v>Consolidation scaled with the stage size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Sheet1!$C$2:$C$4</c:f>
              <c:numCache>
                <c:formatCode>General</c:formatCode>
                <c:ptCount val="3"/>
                <c:pt idx="0">
                  <c:v>83.3</c:v>
                </c:pt>
                <c:pt idx="1">
                  <c:v>81.2</c:v>
                </c:pt>
                <c:pt idx="2">
                  <c:v>81</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35 spoken words, learned in stages, white noise (%)</a:t>
            </a:r>
          </a:p>
        </c:rich>
      </c:tx>
      <c:layout/>
      <c:overlay val="0"/>
    </c:title>
    <c:autoTitleDeleted val="0"/>
    <c:plotArea>
      <c:layout/>
      <c:barChart>
        <c:barDir val="col"/>
        <c:grouping val="clustered"/>
        <c:varyColors val="0"/>
        <c:ser>
          <c:idx val="0"/>
          <c:order val="0"/>
          <c:tx>
            <c:strRef>
              <c:f>Sheet1!$B$1</c:f>
              <c:strCache>
                <c:ptCount val="1"/>
                <c:pt idx="0">
                  <c:v>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Sheet1!$B$2:$B$5</c:f>
              <c:numCache>
                <c:formatCode>General</c:formatCode>
                <c:ptCount val="4"/>
                <c:pt idx="0">
                  <c:v>68.3</c:v>
                </c:pt>
                <c:pt idx="1">
                  <c:v>56.5</c:v>
                </c:pt>
                <c:pt idx="2">
                  <c:v>39.8</c:v>
                </c:pt>
                <c:pt idx="3">
                  <c:v>27.4</c:v>
                </c:pt>
              </c:numCache>
            </c:numRef>
          </c:val>
        </c:ser>
        <c:ser>
          <c:idx val="1"/>
          <c:order val="1"/>
          <c:tx>
            <c:strRef>
              <c:f>Sheet1!$C$1</c:f>
              <c:strCache>
                <c:ptCount val="1"/>
                <c:pt idx="0">
                  <c:v>Noisy copies + second look</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Sheet1!$C$2:$C$5</c:f>
              <c:numCache>
                <c:formatCode>General</c:formatCode>
                <c:ptCount val="4"/>
                <c:pt idx="0">
                  <c:v>72.4</c:v>
                </c:pt>
                <c:pt idx="1">
                  <c:v>67.3</c:v>
                </c:pt>
                <c:pt idx="2">
                  <c:v>57.6</c:v>
                </c:pt>
                <c:pt idx="3">
                  <c:v>47.2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Digits: picture + sound (%)</a:t>
            </a:r>
          </a:p>
        </c:rich>
      </c:tx>
      <c:layout/>
      <c:overlay val="0"/>
    </c:title>
    <c:autoTitleDeleted val="0"/>
    <c:plotArea>
      <c:layout/>
      <c:barChart>
        <c:barDir val="col"/>
        <c:grouping val="clustered"/>
        <c:varyColors val="0"/>
        <c:ser>
          <c:idx val="0"/>
          <c:order val="0"/>
          <c:tx>
            <c:strRef>
              <c:f>Sheet1!$B$1</c:f>
              <c:strCache>
                <c:ptCount val="1"/>
                <c:pt idx="0">
                  <c:v>Joint table</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Sheet1!$B$2:$B$4</c:f>
              <c:numCache>
                <c:formatCode>General</c:formatCode>
                <c:ptCount val="3"/>
                <c:pt idx="0">
                  <c:v>98.3</c:v>
                </c:pt>
                <c:pt idx="1">
                  <c:v>97.5</c:v>
                </c:pt>
                <c:pt idx="2">
                  <c:v>94.6</c:v>
                </c:pt>
              </c:numCache>
            </c:numRef>
          </c:val>
        </c:ser>
        <c:ser>
          <c:idx val="1"/>
          <c:order val="1"/>
          <c:tx>
            <c:strRef>
              <c:f>Sheet1!$C$1</c:f>
              <c:strCache>
                <c:ptCount val="1"/>
                <c:pt idx="0">
                  <c:v>Weighted by confidence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Sheet1!$C$2:$C$4</c:f>
              <c:numCache>
                <c:formatCode>General</c:formatCode>
                <c:ptCount val="3"/>
                <c:pt idx="0">
                  <c:v>98.9</c:v>
                </c:pt>
                <c:pt idx="1">
                  <c:v>98.4</c:v>
                </c:pt>
                <c:pt idx="2">
                  <c:v>96.2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10 classes, 1 example per new class (%)</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54.1</c:v>
                </c:pt>
                <c:pt idx="1">
                  <c:v>49.7</c:v>
                </c:pt>
                <c:pt idx="2">
                  <c:v>45.2</c:v>
                </c:pt>
              </c:numCache>
            </c:numRef>
          </c:val>
        </c:ser>
        <c:ser>
          <c:idx val="1"/>
          <c:order val="1"/>
          <c:tx>
            <c:strRef>
              <c:f>Sheet1!$C$1</c:f>
              <c:strCache>
                <c:ptCount val="1"/>
                <c:pt idx="0">
                  <c:v>With IMPRINT + short sleep</c:v>
                </c:pt>
              </c:strCache>
            </c:strRef>
          </c:tx>
          <c:spPr>
            <a:solidFill>
              <a:srgbClr val="F2A93B"/>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69.9</c:v>
                </c:pt>
                <c:pt idx="1">
                  <c:v>64</c:v>
                </c:pt>
                <c:pt idx="2">
                  <c:v>48.3</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moving knowledge (%)</a:t>
            </a:r>
          </a:p>
        </c:rich>
      </c:tx>
      <c:layout/>
      <c:overlay val="0"/>
    </c:title>
    <c:autoTitleDeleted val="0"/>
    <c:plotArea>
      <c:layout/>
      <c:barChart>
        <c:barDir val="col"/>
        <c:grouping val="clustered"/>
        <c:varyColors val="0"/>
        <c:ser>
          <c:idx val="0"/>
          <c:order val="0"/>
          <c:tx>
            <c:strRef>
              <c:f>Sheet1!$B$1</c:f>
              <c:strCache>
                <c:ptCount val="1"/>
                <c:pt idx="0">
                  <c:v>Merge two chips</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93.3</c:v>
                </c:pt>
                <c:pt idx="1">
                  <c:v>81.4</c:v>
                </c:pt>
                <c:pt idx="2">
                  <c:v>64.3</c:v>
                </c:pt>
              </c:numCache>
            </c:numRef>
          </c:val>
        </c:ser>
        <c:ser>
          <c:idx val="1"/>
          <c:order val="1"/>
          <c:tx>
            <c:strRef>
              <c:f>Sheet1!$C$1</c:f>
              <c:strCache>
                <c:ptCount val="1"/>
                <c:pt idx="0">
                  <c:v>Hand-over, then learn on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95.6</c:v>
                </c:pt>
                <c:pt idx="1">
                  <c:v>82.7</c:v>
                </c:pt>
                <c:pt idx="2">
                  <c:v>71.6</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judges. We are L Lawliet from CKCET and the project is called L. L is a small chip design that keeps learning after it ships, without forgetting what it knew, with no multiplier, no matrices and no backpropagation. One promise before the numbers: every number on these slides is labelled simulated, estimated or measured, and nothing has run on a real board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neural network learns once. Teach it in stages and it keeps only the last stage: about 20 percent on digits and clothing, and 5 percent on twenty classes. Those are measured numbers from a small CNN we trained on the same images, one seed. The usual fix is to retrain from scratch, which costs energy and means hardware cannot be updated in the field. A chip that learns in the field avoids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rule is to follow the brain, not the GPU. Senses that learn without labels. Learning by counting, one example at a time, with no backpropagation, no multiplier and no matrices. Sleep: the chip dreams old classes from small counters instead of storing examples, and a slow table consolidates the fast one. Looking again when unsure, and trusting the more confident sense. And sharing: memory is counts, so chips can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result. Learning in stages of two classes with no stored examples, the chip keeps 95.6 percent on digits and 81 on clothing with sixty thousand training images, and 87.4 percent on twenty classes. The CNN that learned in the same stages keeps about 20 and 5 percent. The chip numbers are simulated with an exact integer model, two to five seeds; the CNN numbers are measured, one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everything available at once, the chip with its second look is within half a point of a trained CNN on digits, two points behind on clothing, level on twenty classes, and level on thirty-five spoken words even though the chip learned the words in stages. The second look costs about 2.8 times the table memory. Say it plainly: a CNN is still ahead on clothing.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whether the chip holds up with more data, and found a failure: at sixty thousand images the staged result fell. The cause was consolidation timing; one fixed rule that scales the follow interval with the stage size removes the collapse, on both datasets, without a per-dataset setting. We also report that one-pass accuracy barely improves with more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sound path goes from raw samples through a cochlea and noise floor to the same counting table. With one noisy copy of each training clip and a second look, thirty-five words in stages reach 72.4 percent clean and 47 percent at 5 decibels, against 68 and 27 for the first design. The noise is simulated white noise, not real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retina and a cochlea feed one table. When a quarter of the picture is damaged, weighting each sense by how confident it is lifts digits from 97.5 to 98.4. A heard word can name pictures with no picture labels, groups can form with no labels, and the chip can notice a new class by itself. Be honest: the pictures and sounds come from different datasets that share only the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brand-new class seen once was almost invisible. IMPRINT writes its mean code into the table at once and a short sleep blends it in: digits go from 54 to 70, clothing from 50 to 64. Spoken words from one to five recordings stay weak and I say so on the limits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chip works alone; sharing is an option. Because the memory is counts, two chips that learned different classes can be merged by adding their counters, or one chip hands its memory to another that keeps learning. Merge gives 93, 81 and 64 percent; hand-over gives 96, 83 and 72. A normal network cannot merge two separately trained copies like this. A GPU cluster joins many GPUs for size and speed, which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The image memory is 84 kilobytes and fits a 25-dollar Tang Nano 20K with no hardware multipliers. Counting only the operations a decision needs it uses about 74 times less energy than an 8-bit network, an estimate. The layout estimate is higher, about a fifth of a microjoule. The second look costs about 2.8 times the table memory, and sound needs 422 kilobytes.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not just a simulator result. Every check passes bit for bit between the integer model and the RTL, covering the learning core, the sense layers, the whole sound chain, the two-sense chip, the new units that moved host steps onto the chip, and the board top. We also took it through an open-source SKY130 layout flow; routing ended at one remaining violation. This is verification in simulation, not a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scope. L solves a small part of the AI problem: devices that must keep learning in the field without retraining on a server and without being thrown away. That is simulated, and the energy figure is an estimate. L does not solve what is driving GPU and memory prices today, which is large language models and image generators in data centres. It also cannot run existing models: it is a dedicated chip for its own model. And nothing is measured on hardware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hypothesis, said as a hypothesis. A brain-style model with a constant-size state, sparse event-driven activity and low-bit weights, on a chip built for it, should need much less memory traffic and energy per token than a transformer on a GPU at the same quality. That could reduce the demand for scarce high-bandwidth memory and the heat and water of serving. The model has to be proven first, because the chip can only exploit those properties. It is falsified if the quality edge disappears at larger sizes or when matrix-free, if a fused GPU version gets within about three times of the simulated chip, or if a transformer chip with the same memory matches the energy per token. The thresholds are my proposals,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want you to remember. Nothing has run on hardware. Staged clothing is about 82 percent, five points under its one-pass number, and I tried many fixes. A trained CNN is still ahead on clothing by about two points. The tests are small and the noise is simulated; the two-sense data is paired by class, not real audio-visual recordings. The second look costs about 2.8 times the memory, and a few steps still run on the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the first continual-learning chip. Hyperdimensional-computing accelerators and event-driven spiking chips such as Loihi 2, TrueNorth and SpiNNaker exist. What we add is the combination: dreams from small counters so no examples are stored, a night that ends by itself, consolidation that scales with the data, and a design with no multiplier or matrix that is bit-exact from raw senses to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The model and RTL are done and verified in simulation. The next milestone is the real Tang Nano board, which gives the first measured numbers. Then harder tests: a larger vocabulary, real recorded noise and a harder image set. Later, a matrix-free chip for the L language model, and external memory for sound and the second look. No fabrication is planned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plan to approach the bigger problem on two tracks. Track one is the L chip, which is done in simulation and next goes to a real board. Track two is the L AI model for language, which has small-scale evidence only, so it goes through gates: first measure the model, then compare against a fused GPU implementation and stop if the GPU is already close, then check that a matrix-free version keeps its quality. Only then a simulator and an FPGA. Later we study memory: whether the constant-size state and event-driven reads can move work from scarce high-bandwidth memory to cheaper DRAM or on-chip memory. That is a question to study, not a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fabrication. The open 130 nanometre flow is good for a prototype but not comparable to a GPU. Today's data-centre GPUs use a five-nanometre-class process and dies up to about 800 square millimetres. Reaching that node costs tens of millions of dollars and needs foundry access we do not have, so we will not claim it. The plan is to write the design independent of the node, compare energy against GPUs at a GPU-class node using published scaling, which is an uncertain estimate, prove the design on an FPGA, and tape out at an accessible mature node, around 28 to 65 nanometres through a university or shuttle programme, when funded. Silicon CMOS is the only practical material for dense logic: mature, high yield, full tools. Its limits are cost at advanced nodes, heat, SRAM that no longer shrinks as fast, and supply concentrated in a few fabs. Other materials are not ready for dense logic. All cost figures are estimates from memory of public reports; verify before quoting.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L is a chip design that keeps learning after it ships. It keeps what it knew, shares what it learned, and needs no multiplier. It is weaker than a trained network in a few places, and I have told you where.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L</a:t>
            </a:r>
            <a:endParaRPr lang="en-US" sz="4000" dirty="0"/>
          </a:p>
        </p:txBody>
      </p:sp>
      <p:sp>
        <p:nvSpPr>
          <p:cNvPr id="3" name="Text 1"/>
          <p:cNvSpPr txBox="1"/>
          <p:nvPr/>
        </p:nvSpPr>
        <p:spPr>
          <a:xfrm>
            <a:off x="548640" y="2697480"/>
            <a:ext cx="8046720" cy="457200"/>
          </a:xfrm>
          <a:prstGeom prst="rect">
            <a:avLst/>
          </a:prstGeom>
          <a:noFill/>
          <a:ln/>
        </p:spPr>
        <p:txBody>
          <a:bodyPr wrap="square" lIns="0" tIns="0" rIns="0" bIns="0" rtlCol="0" anchor="t"/>
          <a:lstStyle/>
          <a:p>
            <a:pPr indent="0" marL="0">
              <a:buNone/>
            </a:pPr>
            <a:r>
              <a:rPr lang="en-US" sz="2200" i="1" dirty="0">
                <a:solidFill>
                  <a:schemeClr val="accent1"/>
                </a:solidFill>
                <a:latin typeface="Calibri" pitchFamily="34" charset="0"/>
                <a:ea typeface="Calibri" pitchFamily="34" charset="-122"/>
                <a:cs typeface="Calibri" pitchFamily="34" charset="-120"/>
              </a:rPr>
              <a:t>A brain-principled chip that keeps learning after it ships</a:t>
            </a:r>
            <a:endParaRPr lang="en-US" sz="22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 Lawliet  |  Navin (Kakashi), CKCET  |  PALS innoWAH! 2026-27</a:t>
            </a:r>
            <a:endParaRPr lang="en-US" sz="1400" dirty="0"/>
          </a:p>
        </p:txBody>
      </p:sp>
      <p:sp>
        <p:nvSpPr>
          <p:cNvPr id="5" name="Text 3"/>
          <p:cNvSpPr txBox="1"/>
          <p:nvPr/>
        </p:nvSpPr>
        <p:spPr>
          <a:xfrm>
            <a:off x="548640" y="4389120"/>
            <a:ext cx="8046720" cy="36576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Every number is labelled SIMULATED, ESTIMATED or MEASURED. The chip has not run on hardware yet: say it first, then show what is verified.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AI stops learning the day it ships</a:t>
            </a:r>
            <a:endParaRPr lang="en-US" sz="3000" dirty="0"/>
          </a:p>
        </p:txBody>
      </p:sp>
      <p:sp>
        <p:nvSpPr>
          <p:cNvPr id="3" name="card"/>
          <p:cNvSpPr/>
          <p:nvPr/>
        </p:nvSpPr>
        <p:spPr>
          <a:xfrm>
            <a:off x="457200" y="1371600"/>
            <a:ext cx="2560320"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64008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19.5%</a:t>
            </a:r>
            <a:endParaRPr lang="en-US" sz="5400" dirty="0"/>
          </a:p>
        </p:txBody>
      </p:sp>
      <p:sp>
        <p:nvSpPr>
          <p:cNvPr id="5" name="Text 3"/>
          <p:cNvSpPr txBox="1"/>
          <p:nvPr/>
        </p:nvSpPr>
        <p:spPr>
          <a:xfrm>
            <a:off x="64008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digits: a small CNN that learns in 5 stages keeps only the last stage</a:t>
            </a:r>
            <a:endParaRPr lang="en-US" sz="1400" dirty="0"/>
          </a:p>
        </p:txBody>
      </p:sp>
      <p:sp>
        <p:nvSpPr>
          <p:cNvPr id="6" name="card"/>
          <p:cNvSpPr/>
          <p:nvPr/>
        </p:nvSpPr>
        <p:spPr>
          <a:xfrm>
            <a:off x="3291840" y="1371600"/>
            <a:ext cx="2560320"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347472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20.0%</a:t>
            </a:r>
            <a:endParaRPr lang="en-US" sz="5400" dirty="0"/>
          </a:p>
        </p:txBody>
      </p:sp>
      <p:sp>
        <p:nvSpPr>
          <p:cNvPr id="8" name="Text 6"/>
          <p:cNvSpPr txBox="1"/>
          <p:nvPr/>
        </p:nvSpPr>
        <p:spPr>
          <a:xfrm>
            <a:off x="347472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clothing: same test, 60,000 images, same forgetting</a:t>
            </a:r>
            <a:endParaRPr lang="en-US" sz="1400" dirty="0"/>
          </a:p>
        </p:txBody>
      </p:sp>
      <p:sp>
        <p:nvSpPr>
          <p:cNvPr id="9" name="card"/>
          <p:cNvSpPr/>
          <p:nvPr/>
        </p:nvSpPr>
        <p:spPr>
          <a:xfrm>
            <a:off x="6126480" y="1371600"/>
            <a:ext cx="2560320"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630936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5.0%</a:t>
            </a:r>
            <a:endParaRPr lang="en-US" sz="5400" dirty="0"/>
          </a:p>
        </p:txBody>
      </p:sp>
      <p:sp>
        <p:nvSpPr>
          <p:cNvPr id="11" name="Text 9"/>
          <p:cNvSpPr txBox="1"/>
          <p:nvPr/>
        </p:nvSpPr>
        <p:spPr>
          <a:xfrm>
            <a:off x="630936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20 classes in 10 stages: almost everything is forgotten</a:t>
            </a:r>
            <a:endParaRPr lang="en-US" sz="1400" dirty="0"/>
          </a:p>
        </p:txBody>
      </p:sp>
      <p:sp>
        <p:nvSpPr>
          <p:cNvPr id="12" name="Text 10"/>
          <p:cNvSpPr txBox="1"/>
          <p:nvPr/>
        </p:nvSpPr>
        <p:spPr>
          <a:xfrm>
            <a:off x="457200" y="3749040"/>
            <a:ext cx="8229600" cy="9144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MEASURED: a CNN we trained on the same images, one seed. Fixing forgetting today means retraining from scratch: more energy, more heat, hardware thrown away when it can no longer be updated.</a:t>
            </a:r>
            <a:endParaRPr lang="en-US" sz="15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idea: a brain, as a chip</a:t>
            </a:r>
            <a:endParaRPr lang="en-US" sz="3000" dirty="0"/>
          </a:p>
        </p:txBody>
      </p:sp>
      <p:sp>
        <p:nvSpPr>
          <p:cNvPr id="3" name="card"/>
          <p:cNvSpPr/>
          <p:nvPr/>
        </p:nvSpPr>
        <p:spPr>
          <a:xfrm>
            <a:off x="457200" y="1143000"/>
            <a:ext cx="8229600" cy="621792"/>
          </a:xfrm>
          <a:prstGeom prst="roundRect">
            <a:avLst>
              <a:gd name="adj" fmla="val 14706"/>
            </a:avLst>
          </a:prstGeom>
          <a:solidFill>
            <a:schemeClr val="bg2"/>
          </a:solidFill>
          <a:ln w="12700">
            <a:solidFill>
              <a:schemeClr val="bg2"/>
            </a:solidFill>
            <a:prstDash val="solid"/>
          </a:ln>
        </p:spPr>
      </p:sp>
      <p:sp>
        <p:nvSpPr>
          <p:cNvPr id="4" name="marker"/>
          <p:cNvSpPr/>
          <p:nvPr/>
        </p:nvSpPr>
        <p:spPr>
          <a:xfrm>
            <a:off x="566928" y="123444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566928" y="1289304"/>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07008"/>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Senses</a:t>
            </a:r>
            <a:endParaRPr lang="en-US" sz="1500" dirty="0"/>
          </a:p>
        </p:txBody>
      </p:sp>
      <p:sp>
        <p:nvSpPr>
          <p:cNvPr id="7" name="Text 5"/>
          <p:cNvSpPr txBox="1"/>
          <p:nvPr/>
        </p:nvSpPr>
        <p:spPr>
          <a:xfrm>
            <a:off x="3108960" y="1207008"/>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Eyes and ears turn pixels and sound into a sparse code. Detectors learn by themselves, no labels.</a:t>
            </a:r>
            <a:endParaRPr lang="en-US" sz="1200" dirty="0"/>
          </a:p>
        </p:txBody>
      </p:sp>
      <p:sp>
        <p:nvSpPr>
          <p:cNvPr id="8" name="card"/>
          <p:cNvSpPr/>
          <p:nvPr/>
        </p:nvSpPr>
        <p:spPr>
          <a:xfrm>
            <a:off x="457200" y="1847088"/>
            <a:ext cx="8229600" cy="621792"/>
          </a:xfrm>
          <a:prstGeom prst="roundRect">
            <a:avLst>
              <a:gd name="adj" fmla="val 14706"/>
            </a:avLst>
          </a:prstGeom>
          <a:solidFill>
            <a:schemeClr val="bg2"/>
          </a:solidFill>
          <a:ln w="12700">
            <a:solidFill>
              <a:schemeClr val="bg2"/>
            </a:solidFill>
            <a:prstDash val="solid"/>
          </a:ln>
        </p:spPr>
      </p:sp>
      <p:sp>
        <p:nvSpPr>
          <p:cNvPr id="9" name="marker"/>
          <p:cNvSpPr/>
          <p:nvPr/>
        </p:nvSpPr>
        <p:spPr>
          <a:xfrm>
            <a:off x="566928" y="1938528"/>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566928" y="1993392"/>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43000" y="1911096"/>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Learn by counting</a:t>
            </a:r>
            <a:endParaRPr lang="en-US" sz="1500" dirty="0"/>
          </a:p>
        </p:txBody>
      </p:sp>
      <p:sp>
        <p:nvSpPr>
          <p:cNvPr id="12" name="Text 10"/>
          <p:cNvSpPr txBox="1"/>
          <p:nvPr/>
        </p:nvSpPr>
        <p:spPr>
          <a:xfrm>
            <a:off x="3108960" y="1911096"/>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Each example is counted into a small fast table. No backpropagation, no multiplier, no matrices.</a:t>
            </a:r>
            <a:endParaRPr lang="en-US" sz="1200" dirty="0"/>
          </a:p>
        </p:txBody>
      </p:sp>
      <p:sp>
        <p:nvSpPr>
          <p:cNvPr id="13" name="card"/>
          <p:cNvSpPr/>
          <p:nvPr/>
        </p:nvSpPr>
        <p:spPr>
          <a:xfrm>
            <a:off x="457200" y="2551176"/>
            <a:ext cx="8229600" cy="621792"/>
          </a:xfrm>
          <a:prstGeom prst="roundRect">
            <a:avLst>
              <a:gd name="adj" fmla="val 14706"/>
            </a:avLst>
          </a:prstGeom>
          <a:solidFill>
            <a:schemeClr val="bg2"/>
          </a:solidFill>
          <a:ln w="12700">
            <a:solidFill>
              <a:schemeClr val="bg2"/>
            </a:solidFill>
            <a:prstDash val="solid"/>
          </a:ln>
        </p:spPr>
      </p:sp>
      <p:sp>
        <p:nvSpPr>
          <p:cNvPr id="14" name="marker"/>
          <p:cNvSpPr/>
          <p:nvPr/>
        </p:nvSpPr>
        <p:spPr>
          <a:xfrm>
            <a:off x="566928" y="2642616"/>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566928" y="2697480"/>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143000" y="2615184"/>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Dream and sleep</a:t>
            </a:r>
            <a:endParaRPr lang="en-US" sz="1500" dirty="0"/>
          </a:p>
        </p:txBody>
      </p:sp>
      <p:sp>
        <p:nvSpPr>
          <p:cNvPr id="17" name="Text 15"/>
          <p:cNvSpPr txBox="1"/>
          <p:nvPr/>
        </p:nvSpPr>
        <p:spPr>
          <a:xfrm>
            <a:off x="3108960" y="2615184"/>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Old classes are replayed from 10-bit counters, so nothing is stored. A slow table consolidates the fast one.</a:t>
            </a:r>
            <a:endParaRPr lang="en-US" sz="1200" dirty="0"/>
          </a:p>
        </p:txBody>
      </p:sp>
      <p:sp>
        <p:nvSpPr>
          <p:cNvPr id="18" name="card"/>
          <p:cNvSpPr/>
          <p:nvPr/>
        </p:nvSpPr>
        <p:spPr>
          <a:xfrm>
            <a:off x="457200" y="3255264"/>
            <a:ext cx="8229600" cy="621792"/>
          </a:xfrm>
          <a:prstGeom prst="roundRect">
            <a:avLst>
              <a:gd name="adj" fmla="val 14706"/>
            </a:avLst>
          </a:prstGeom>
          <a:solidFill>
            <a:schemeClr val="bg2"/>
          </a:solidFill>
          <a:ln w="12700">
            <a:solidFill>
              <a:schemeClr val="bg2"/>
            </a:solidFill>
            <a:prstDash val="solid"/>
          </a:ln>
        </p:spPr>
      </p:sp>
      <p:sp>
        <p:nvSpPr>
          <p:cNvPr id="19" name="marker"/>
          <p:cNvSpPr/>
          <p:nvPr/>
        </p:nvSpPr>
        <p:spPr>
          <a:xfrm>
            <a:off x="566928" y="3346704"/>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566928" y="3401568"/>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1" name="Text 19"/>
          <p:cNvSpPr txBox="1"/>
          <p:nvPr/>
        </p:nvSpPr>
        <p:spPr>
          <a:xfrm>
            <a:off x="1143000" y="3319272"/>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Look again</a:t>
            </a:r>
            <a:endParaRPr lang="en-US" sz="1500" dirty="0"/>
          </a:p>
        </p:txBody>
      </p:sp>
      <p:sp>
        <p:nvSpPr>
          <p:cNvPr id="22" name="Text 20"/>
          <p:cNvSpPr txBox="1"/>
          <p:nvPr/>
        </p:nvSpPr>
        <p:spPr>
          <a:xfrm>
            <a:off x="3108960" y="3319272"/>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When unsure, a second look at a finer code; when two senses disagree, trust the more confident one.</a:t>
            </a:r>
            <a:endParaRPr lang="en-US" sz="1200" dirty="0"/>
          </a:p>
        </p:txBody>
      </p:sp>
      <p:sp>
        <p:nvSpPr>
          <p:cNvPr id="23" name="card"/>
          <p:cNvSpPr/>
          <p:nvPr/>
        </p:nvSpPr>
        <p:spPr>
          <a:xfrm>
            <a:off x="457200" y="3959352"/>
            <a:ext cx="8229600" cy="621792"/>
          </a:xfrm>
          <a:prstGeom prst="roundRect">
            <a:avLst>
              <a:gd name="adj" fmla="val 14706"/>
            </a:avLst>
          </a:prstGeom>
          <a:solidFill>
            <a:schemeClr val="bg2"/>
          </a:solidFill>
          <a:ln w="12700">
            <a:solidFill>
              <a:schemeClr val="bg2"/>
            </a:solidFill>
            <a:prstDash val="solid"/>
          </a:ln>
        </p:spPr>
      </p:sp>
      <p:sp>
        <p:nvSpPr>
          <p:cNvPr id="24" name="marker"/>
          <p:cNvSpPr/>
          <p:nvPr/>
        </p:nvSpPr>
        <p:spPr>
          <a:xfrm>
            <a:off x="566928" y="4050792"/>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566928" y="4105656"/>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5</a:t>
            </a:r>
            <a:endParaRPr lang="en-US" sz="1500" dirty="0"/>
          </a:p>
        </p:txBody>
      </p:sp>
      <p:sp>
        <p:nvSpPr>
          <p:cNvPr id="26" name="Text 24"/>
          <p:cNvSpPr txBox="1"/>
          <p:nvPr/>
        </p:nvSpPr>
        <p:spPr>
          <a:xfrm>
            <a:off x="1143000" y="4023360"/>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Share (optional)</a:t>
            </a:r>
            <a:endParaRPr lang="en-US" sz="1500" dirty="0"/>
          </a:p>
        </p:txBody>
      </p:sp>
      <p:sp>
        <p:nvSpPr>
          <p:cNvPr id="27" name="Text 25"/>
          <p:cNvSpPr txBox="1"/>
          <p:nvPr/>
        </p:nvSpPr>
        <p:spPr>
          <a:xfrm>
            <a:off x="3108960" y="4023360"/>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Two chips can merge what they learned by adding counts, or one hands its memory to the other. A normal network cannot do this.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learns in stages and keeps what it knew</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(chip), MEASURED (CNN)</a:t>
            </a:r>
            <a:endParaRPr lang="en-US" sz="1200" dirty="0"/>
          </a:p>
        </p:txBody>
      </p:sp>
      <p:sp>
        <p:nvSpPr>
          <p:cNvPr id="6" name="Text 3"/>
          <p:cNvSpPr txBox="1"/>
          <p:nvPr/>
        </p:nvSpPr>
        <p:spPr>
          <a:xfrm>
            <a:off x="6126480" y="1783080"/>
            <a:ext cx="2377440" cy="2011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Exact integer model of the chip, 2-5 seeds, the full test sets. Digits and clothing: 60,000 training images in 5 stages of 2 classes. 20 classes: digits plus clothing in 10 stages.</a:t>
            </a:r>
            <a:endParaRPr lang="en-US" sz="1300" dirty="0"/>
          </a:p>
        </p:txBody>
      </p:sp>
      <p:sp>
        <p:nvSpPr>
          <p:cNvPr id="7" name="Text 4"/>
          <p:cNvSpPr txBox="1"/>
          <p:nvPr/>
        </p:nvSpPr>
        <p:spPr>
          <a:xfrm>
            <a:off x="6126480" y="3840480"/>
            <a:ext cx="2377440" cy="640080"/>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Stored examples: none. Memory: 84 KB for images.</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Close to a CNN trained on everything</a:t>
            </a:r>
            <a:endParaRPr lang="en-US" sz="3000" dirty="0"/>
          </a:p>
        </p:txBody>
      </p:sp>
      <p:graphicFrame>
        <p:nvGraphicFramePr>
          <p:cNvPr id="3" name="Chart 0" descr=""/>
          <p:cNvGraphicFramePr/>
          <p:nvPr/>
        </p:nvGraphicFramePr>
        <p:xfrm>
          <a:off x="457200" y="1188720"/>
          <a:ext cx="548640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6126480" y="1280160"/>
            <a:ext cx="2560320" cy="3291840"/>
          </a:xfrm>
          <a:prstGeom prst="roundRect">
            <a:avLst>
              <a:gd name="adj" fmla="val 3571"/>
            </a:avLst>
          </a:prstGeom>
          <a:solidFill>
            <a:schemeClr val="bg2"/>
          </a:solidFill>
          <a:ln w="12700">
            <a:solidFill>
              <a:schemeClr val="bg2"/>
            </a:solidFill>
            <a:prstDash val="solid"/>
          </a:ln>
        </p:spPr>
      </p:sp>
      <p:sp>
        <p:nvSpPr>
          <p:cNvPr id="5" name="Text 2"/>
          <p:cNvSpPr txBox="1"/>
          <p:nvPr/>
        </p:nvSpPr>
        <p:spPr>
          <a:xfrm>
            <a:off x="6309360" y="1417320"/>
            <a:ext cx="219456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vs MEASURED</a:t>
            </a:r>
            <a:endParaRPr lang="en-US" sz="1200" dirty="0"/>
          </a:p>
        </p:txBody>
      </p:sp>
      <p:sp>
        <p:nvSpPr>
          <p:cNvPr id="6" name="Text 3"/>
          <p:cNvSpPr txBox="1"/>
          <p:nvPr/>
        </p:nvSpPr>
        <p:spPr>
          <a:xfrm>
            <a:off x="6309360" y="1783080"/>
            <a:ext cx="2194560" cy="21031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pass with a second look on a finer code (digits, clothing: 60,000 images). 20 classes: one pass, no second look. Words: the chip learned in stages and the CNN all at once.</a:t>
            </a:r>
            <a:endParaRPr lang="en-US" sz="1200" dirty="0"/>
          </a:p>
        </p:txBody>
      </p:sp>
      <p:sp>
        <p:nvSpPr>
          <p:cNvPr id="7" name="Text 4"/>
          <p:cNvSpPr txBox="1"/>
          <p:nvPr/>
        </p:nvSpPr>
        <p:spPr>
          <a:xfrm>
            <a:off x="6309360" y="3931920"/>
            <a:ext cx="2194560" cy="54864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A trained CNN is still ahead on clothing by 2 points.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scales: more data does not break it</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We tested 6x more data and found the staged result fell. One fixed rule fixed it: follow the slow table every max(100, stage size / 30) examples. Digits: 93.4 to 95.6 at 60,000 images.</a:t>
            </a:r>
            <a:endParaRPr lang="en-US" sz="13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One pass barely improves with more data (clothing 86.6 to 87.6).</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hears, and noise stops hurting as much</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Raw sound to word through an integer cochlea, noise floor, word alignment and the same counting table, bit-exact in RTL. Training also on one noisy copy of each clip adds no memory.</a:t>
            </a:r>
            <a:endParaRPr lang="en-US" sz="1300" dirty="0"/>
          </a:p>
        </p:txBody>
      </p:sp>
      <p:sp>
        <p:nvSpPr>
          <p:cNvPr id="7" name="Text 4"/>
          <p:cNvSpPr txBox="1"/>
          <p:nvPr/>
        </p:nvSpPr>
        <p:spPr>
          <a:xfrm>
            <a:off x="6126480" y="3977640"/>
            <a:ext cx="2377440" cy="64008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Sound needs 422 KB: an ASIC or external memory, not the Tang Nano.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senses help each other</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2-3 seeds</a:t>
            </a:r>
            <a:endParaRPr lang="en-US" sz="1200" dirty="0"/>
          </a:p>
        </p:txBody>
      </p:sp>
      <p:sp>
        <p:nvSpPr>
          <p:cNvPr id="6" name="Text 3"/>
          <p:cNvSpPr txBox="1"/>
          <p:nvPr/>
        </p:nvSpPr>
        <p:spPr>
          <a:xfrm>
            <a:off x="6126480" y="1783080"/>
            <a:ext cx="2377440" cy="2377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The ear names pictures with no picture labels: 93.9 after sleep cleaning</a:t>
            </a:r>
            <a:endParaRPr lang="en-US" sz="1200" dirty="0"/>
          </a:p>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Groups form with no labels: 96.1 to 97.0 with 30 names</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New classes noticed from inside: 99% of flagged pairs are new</a:t>
            </a:r>
            <a:endParaRPr lang="en-US" sz="12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Pictures and sounds are paired by class, not real recordings of one scene.</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new class from one example, after shipping</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6126480" y="1783080"/>
            <a:ext cx="237744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novelty-gated imprint writes the new class into the table at once, then a short sleep blends it in. Old classes stay within 1 to 5 points.</a:t>
            </a:r>
            <a:endParaRPr lang="en-US" sz="1300" dirty="0"/>
          </a:p>
        </p:txBody>
      </p:sp>
      <p:sp>
        <p:nvSpPr>
          <p:cNvPr id="7" name="Text 4"/>
          <p:cNvSpPr txBox="1"/>
          <p:nvPr/>
        </p:nvSpPr>
        <p:spPr>
          <a:xfrm>
            <a:off x="6126480" y="3749040"/>
            <a:ext cx="2377440" cy="73152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Spoken words from 1 to 5 recordings stay weak.</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chips can share what they learned</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6517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this is an option. Because memory is counts, two chips that learned different classes merge by adding counters, with no retraining. A trained network cannot merge this way. The board demo design reached 91.4% on all ten digits after one night (PC-side emulator).</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Small, cheap, and no multiplier</a:t>
            </a:r>
            <a:endParaRPr lang="en-US" sz="3000" dirty="0"/>
          </a:p>
        </p:txBody>
      </p:sp>
      <p:sp>
        <p:nvSpPr>
          <p:cNvPr id="3" name="card"/>
          <p:cNvSpPr/>
          <p:nvPr/>
        </p:nvSpPr>
        <p:spPr>
          <a:xfrm>
            <a:off x="457200" y="1188720"/>
            <a:ext cx="4023360" cy="1554480"/>
          </a:xfrm>
          <a:prstGeom prst="roundRect">
            <a:avLst>
              <a:gd name="adj" fmla="val 5882"/>
            </a:avLst>
          </a:prstGeom>
          <a:solidFill>
            <a:schemeClr val="bg2"/>
          </a:solidFill>
          <a:ln w="12700">
            <a:solidFill>
              <a:schemeClr val="bg2"/>
            </a:solidFill>
            <a:prstDash val="solid"/>
          </a:ln>
        </p:spPr>
      </p:sp>
      <p:sp>
        <p:nvSpPr>
          <p:cNvPr id="4" name="Text 2"/>
          <p:cNvSpPr txBox="1"/>
          <p:nvPr/>
        </p:nvSpPr>
        <p:spPr>
          <a:xfrm>
            <a:off x="64008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84 KB</a:t>
            </a:r>
            <a:endParaRPr lang="en-US" sz="3400" dirty="0"/>
          </a:p>
        </p:txBody>
      </p:sp>
      <p:sp>
        <p:nvSpPr>
          <p:cNvPr id="5" name="Text 3"/>
          <p:cNvSpPr txBox="1"/>
          <p:nvPr/>
        </p:nvSpPr>
        <p:spPr>
          <a:xfrm>
            <a:off x="64008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memory for images (second look: about 2.8x)</a:t>
            </a:r>
            <a:endParaRPr lang="en-US" sz="1300" dirty="0"/>
          </a:p>
        </p:txBody>
      </p:sp>
      <p:sp>
        <p:nvSpPr>
          <p:cNvPr id="6" name="Text 4"/>
          <p:cNvSpPr txBox="1"/>
          <p:nvPr/>
        </p:nvSpPr>
        <p:spPr>
          <a:xfrm>
            <a:off x="64008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7" name="card"/>
          <p:cNvSpPr/>
          <p:nvPr/>
        </p:nvSpPr>
        <p:spPr>
          <a:xfrm>
            <a:off x="4663440" y="1188720"/>
            <a:ext cx="4023360" cy="1554480"/>
          </a:xfrm>
          <a:prstGeom prst="roundRect">
            <a:avLst>
              <a:gd name="adj" fmla="val 5882"/>
            </a:avLst>
          </a:prstGeom>
          <a:solidFill>
            <a:schemeClr val="bg2"/>
          </a:solidFill>
          <a:ln w="12700">
            <a:solidFill>
              <a:schemeClr val="bg2"/>
            </a:solidFill>
            <a:prstDash val="solid"/>
          </a:ln>
        </p:spPr>
      </p:sp>
      <p:sp>
        <p:nvSpPr>
          <p:cNvPr id="8" name="Text 6"/>
          <p:cNvSpPr txBox="1"/>
          <p:nvPr/>
        </p:nvSpPr>
        <p:spPr>
          <a:xfrm>
            <a:off x="484632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0</a:t>
            </a:r>
            <a:endParaRPr lang="en-US" sz="3400" dirty="0"/>
          </a:p>
        </p:txBody>
      </p:sp>
      <p:sp>
        <p:nvSpPr>
          <p:cNvPr id="9" name="Text 7"/>
          <p:cNvSpPr txBox="1"/>
          <p:nvPr/>
        </p:nvSpPr>
        <p:spPr>
          <a:xfrm>
            <a:off x="484632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hardware multipliers on the $25 Tang Nano 20K (89% logic, 46/46 block RAM)</a:t>
            </a:r>
            <a:endParaRPr lang="en-US" sz="1300" dirty="0"/>
          </a:p>
        </p:txBody>
      </p:sp>
      <p:sp>
        <p:nvSpPr>
          <p:cNvPr id="10" name="Text 8"/>
          <p:cNvSpPr txBox="1"/>
          <p:nvPr/>
        </p:nvSpPr>
        <p:spPr>
          <a:xfrm>
            <a:off x="484632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place and route</a:t>
            </a:r>
            <a:endParaRPr lang="en-US" sz="1100" dirty="0"/>
          </a:p>
        </p:txBody>
      </p:sp>
      <p:sp>
        <p:nvSpPr>
          <p:cNvPr id="11" name="card"/>
          <p:cNvSpPr/>
          <p:nvPr/>
        </p:nvSpPr>
        <p:spPr>
          <a:xfrm>
            <a:off x="457200" y="2880360"/>
            <a:ext cx="4023360" cy="1554480"/>
          </a:xfrm>
          <a:prstGeom prst="roundRect">
            <a:avLst>
              <a:gd name="adj" fmla="val 5882"/>
            </a:avLst>
          </a:prstGeom>
          <a:solidFill>
            <a:schemeClr val="bg2"/>
          </a:solidFill>
          <a:ln w="12700">
            <a:solidFill>
              <a:schemeClr val="bg2"/>
            </a:solidFill>
            <a:prstDash val="solid"/>
          </a:ln>
        </p:spPr>
      </p:sp>
      <p:sp>
        <p:nvSpPr>
          <p:cNvPr id="12" name="Text 10"/>
          <p:cNvSpPr txBox="1"/>
          <p:nvPr/>
        </p:nvSpPr>
        <p:spPr>
          <a:xfrm>
            <a:off x="64008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~74x</a:t>
            </a:r>
            <a:endParaRPr lang="en-US" sz="3400" dirty="0"/>
          </a:p>
        </p:txBody>
      </p:sp>
      <p:sp>
        <p:nvSpPr>
          <p:cNvPr id="13" name="Text 11"/>
          <p:cNvSpPr txBox="1"/>
          <p:nvPr/>
        </p:nvSpPr>
        <p:spPr>
          <a:xfrm>
            <a:off x="64008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less energy per decision than an 8-bit network, counting the operations needed (9.4 nJ vs 696 nJ)</a:t>
            </a:r>
            <a:endParaRPr lang="en-US" sz="1300" dirty="0"/>
          </a:p>
        </p:txBody>
      </p:sp>
      <p:sp>
        <p:nvSpPr>
          <p:cNvPr id="14" name="Text 12"/>
          <p:cNvSpPr txBox="1"/>
          <p:nvPr/>
        </p:nvSpPr>
        <p:spPr>
          <a:xfrm>
            <a:off x="64008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5" name="card"/>
          <p:cNvSpPr/>
          <p:nvPr/>
        </p:nvSpPr>
        <p:spPr>
          <a:xfrm>
            <a:off x="4663440" y="2880360"/>
            <a:ext cx="4023360" cy="1554480"/>
          </a:xfrm>
          <a:prstGeom prst="roundRect">
            <a:avLst>
              <a:gd name="adj" fmla="val 5882"/>
            </a:avLst>
          </a:prstGeom>
          <a:solidFill>
            <a:schemeClr val="bg2"/>
          </a:solidFill>
          <a:ln w="12700">
            <a:solidFill>
              <a:schemeClr val="bg2"/>
            </a:solidFill>
            <a:prstDash val="solid"/>
          </a:ln>
        </p:spPr>
      </p:sp>
      <p:sp>
        <p:nvSpPr>
          <p:cNvPr id="16" name="Text 14"/>
          <p:cNvSpPr txBox="1"/>
          <p:nvPr/>
        </p:nvSpPr>
        <p:spPr>
          <a:xfrm>
            <a:off x="484632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422 KB</a:t>
            </a:r>
            <a:endParaRPr lang="en-US" sz="3400" dirty="0"/>
          </a:p>
        </p:txBody>
      </p:sp>
      <p:sp>
        <p:nvSpPr>
          <p:cNvPr id="17" name="Text 15"/>
          <p:cNvSpPr txBox="1"/>
          <p:nvPr/>
        </p:nvSpPr>
        <p:spPr>
          <a:xfrm>
            <a:off x="484632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sound memory: needs external memory or an ASIC</a:t>
            </a:r>
            <a:endParaRPr lang="en-US" sz="1300" dirty="0"/>
          </a:p>
        </p:txBody>
      </p:sp>
      <p:sp>
        <p:nvSpPr>
          <p:cNvPr id="18" name="Text 16"/>
          <p:cNvSpPr txBox="1"/>
          <p:nvPr/>
        </p:nvSpPr>
        <p:spPr>
          <a:xfrm>
            <a:off x="484632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19" name="Text 17"/>
          <p:cNvSpPr txBox="1"/>
          <p:nvPr/>
        </p:nvSpPr>
        <p:spPr>
          <a:xfrm>
            <a:off x="457200" y="4526280"/>
            <a:ext cx="7955280" cy="41148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Say it carefully: the 74x is per operation needed. The SKY130 layout estimate is 0.18 to 0.26 uJ per decision, 20 to 28x above the operation count.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Verified bit for bit, and laid out</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Text 2"/>
          <p:cNvSpPr txBox="1"/>
          <p:nvPr/>
        </p:nvSpPr>
        <p:spPr>
          <a:xfrm>
            <a:off x="640080" y="1417320"/>
            <a:ext cx="3657600" cy="91440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38 / 38</a:t>
            </a:r>
            <a:endParaRPr lang="en-US" sz="5400" dirty="0"/>
          </a:p>
        </p:txBody>
      </p:sp>
      <p:sp>
        <p:nvSpPr>
          <p:cNvPr id="5" name="Text 3"/>
          <p:cNvSpPr txBox="1"/>
          <p:nvPr/>
        </p:nvSpPr>
        <p:spPr>
          <a:xfrm>
            <a:off x="640080" y="2514600"/>
            <a:ext cx="3657600" cy="17373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RTL checks, 0 mismatches against the integer model: core, tail memory, IMPRINT, slow table, encoders, cochlea, sound chain, two-sense chip, cue weighting, second look, threshold and novelty units, clustering, board top, host schedule.</a:t>
            </a:r>
            <a:endParaRPr lang="en-US" sz="1200" dirty="0"/>
          </a:p>
        </p:txBody>
      </p:sp>
      <p:sp>
        <p:nvSpPr>
          <p:cNvPr id="6" name="Text 4"/>
          <p:cNvSpPr txBox="1"/>
          <p:nvPr/>
        </p:nvSpPr>
        <p:spPr>
          <a:xfrm>
            <a:off x="64008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(RTL simulation)</a:t>
            </a:r>
            <a:endParaRPr lang="en-US" sz="1100" dirty="0"/>
          </a:p>
        </p:txBody>
      </p:sp>
      <p:sp>
        <p:nvSpPr>
          <p:cNvPr id="7"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8" name="Text 6"/>
          <p:cNvSpPr txBox="1"/>
          <p:nvPr/>
        </p:nvSpPr>
        <p:spPr>
          <a:xfrm>
            <a:off x="4846320" y="1417320"/>
            <a:ext cx="365760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a:t>
            </a:r>
            <a:endParaRPr lang="en-US" sz="5400" dirty="0"/>
          </a:p>
        </p:txBody>
      </p:sp>
      <p:sp>
        <p:nvSpPr>
          <p:cNvPr id="9" name="Text 7"/>
          <p:cNvSpPr txBox="1"/>
          <p:nvPr/>
        </p:nvSpPr>
        <p:spPr>
          <a:xfrm>
            <a:off x="4846320" y="2514600"/>
            <a:ext cx="365760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violation left in detailed routing of the SKY130 layout (from 174,309 on the first pass), a power-versus-signal short at a memory macro edge.</a:t>
            </a:r>
            <a:endParaRPr lang="en-US" sz="1300" dirty="0"/>
          </a:p>
        </p:txBody>
      </p:sp>
      <p:sp>
        <p:nvSpPr>
          <p:cNvPr id="10" name="Text 8"/>
          <p:cNvSpPr txBox="1"/>
          <p:nvPr/>
        </p:nvSpPr>
        <p:spPr>
          <a:xfrm>
            <a:off x="484632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 (open-source flow, no sign-off)</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L solves, and what it does not</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What L solves</a:t>
            </a:r>
            <a:endParaRPr lang="en-US" sz="2000" dirty="0"/>
          </a:p>
        </p:txBody>
      </p:sp>
      <p:sp>
        <p:nvSpPr>
          <p:cNvPr id="6" name="Text 4"/>
          <p:cNvSpPr txBox="1"/>
          <p:nvPr/>
        </p:nvSpPr>
        <p:spPr>
          <a:xfrm>
            <a:off x="64008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Small AI on devices that must keep learning: no retraining on a server, no hardware thrown away to update it (SIMULATED)</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No stored examples, 84 KB of memory for images, no multiplier</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About 74x less energy per decision than an 8-bit network, counting operations needed (ESTIMATED)</a:t>
            </a:r>
            <a:endParaRPr lang="en-US" sz="13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4"/>
                </a:solidFill>
                <a:latin typeface="Cambria" pitchFamily="34" charset="0"/>
                <a:ea typeface="Cambria" pitchFamily="34" charset="-122"/>
                <a:cs typeface="Cambria" pitchFamily="34" charset="-120"/>
              </a:rPr>
              <a:t>What L does not solve</a:t>
            </a:r>
            <a:endParaRPr lang="en-US" sz="2000" dirty="0"/>
          </a:p>
        </p:txBody>
      </p:sp>
      <p:sp>
        <p:nvSpPr>
          <p:cNvPr id="8" name="Text 6"/>
          <p:cNvSpPr txBox="1"/>
          <p:nvPr/>
        </p:nvSpPr>
        <p:spPr>
          <a:xfrm>
            <a:off x="484632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The cost of large language models and image generators: GPU and memory prices, data-centre heat and water</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It cannot run existing models (CNNs, transformers, LLMs): it is a dedicated chip for its own brain-style model</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Nothing is measured on hardware yet</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hypothesis we will test</a:t>
            </a:r>
            <a:endParaRPr lang="en-US" sz="3000" dirty="0"/>
          </a:p>
        </p:txBody>
      </p:sp>
      <p:sp>
        <p:nvSpPr>
          <p:cNvPr id="3" name="card"/>
          <p:cNvSpPr/>
          <p:nvPr/>
        </p:nvSpPr>
        <p:spPr>
          <a:xfrm>
            <a:off x="457200" y="1234440"/>
            <a:ext cx="8229600" cy="1234440"/>
          </a:xfrm>
          <a:prstGeom prst="roundRect">
            <a:avLst>
              <a:gd name="adj" fmla="val 7407"/>
            </a:avLst>
          </a:prstGeom>
          <a:solidFill>
            <a:srgbClr val="FFF4DD"/>
          </a:solidFill>
          <a:ln w="12700">
            <a:solidFill>
              <a:srgbClr val="FFF4DD"/>
            </a:solidFill>
            <a:prstDash val="solid"/>
          </a:ln>
        </p:spPr>
      </p:sp>
      <p:sp>
        <p:nvSpPr>
          <p:cNvPr id="4" name="Text 2"/>
          <p:cNvSpPr txBox="1"/>
          <p:nvPr/>
        </p:nvSpPr>
        <p:spPr>
          <a:xfrm>
            <a:off x="640080" y="1325880"/>
            <a:ext cx="7863840" cy="36576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HYPOTHESIS (not a result)</a:t>
            </a:r>
            <a:endParaRPr lang="en-US" sz="1200" dirty="0"/>
          </a:p>
        </p:txBody>
      </p:sp>
      <p:sp>
        <p:nvSpPr>
          <p:cNvPr id="5" name="Text 3"/>
          <p:cNvSpPr txBox="1"/>
          <p:nvPr/>
        </p:nvSpPr>
        <p:spPr>
          <a:xfrm>
            <a:off x="640080" y="1600200"/>
            <a:ext cx="78638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brain-style model with constant-size state, sparse event-driven activity and low-bit weights, on a chip built for it, needs far less memory traffic and energy per token than a transformer on a GPU at the same quality, and so less scarce HBM, heat and water.</a:t>
            </a:r>
            <a:endParaRPr lang="en-US" sz="1400" dirty="0"/>
          </a:p>
        </p:txBody>
      </p:sp>
      <p:sp>
        <p:nvSpPr>
          <p:cNvPr id="6" name="card"/>
          <p:cNvSpPr/>
          <p:nvPr/>
        </p:nvSpPr>
        <p:spPr>
          <a:xfrm>
            <a:off x="457200" y="2651760"/>
            <a:ext cx="4023360" cy="1920240"/>
          </a:xfrm>
          <a:prstGeom prst="roundRect">
            <a:avLst>
              <a:gd name="adj" fmla="val 4762"/>
            </a:avLst>
          </a:prstGeom>
          <a:solidFill>
            <a:schemeClr val="bg2"/>
          </a:solidFill>
          <a:ln w="12700">
            <a:solidFill>
              <a:schemeClr val="bg2"/>
            </a:solidFill>
            <a:prstDash val="solid"/>
          </a:ln>
        </p:spPr>
      </p:sp>
      <p:sp>
        <p:nvSpPr>
          <p:cNvPr id="7" name="card"/>
          <p:cNvSpPr/>
          <p:nvPr/>
        </p:nvSpPr>
        <p:spPr>
          <a:xfrm>
            <a:off x="4663440" y="2651760"/>
            <a:ext cx="4023360" cy="1920240"/>
          </a:xfrm>
          <a:prstGeom prst="roundRect">
            <a:avLst>
              <a:gd name="adj" fmla="val 4762"/>
            </a:avLst>
          </a:prstGeom>
          <a:solidFill>
            <a:schemeClr val="bg2"/>
          </a:solidFill>
          <a:ln w="12700">
            <a:solidFill>
              <a:schemeClr val="bg2"/>
            </a:solidFill>
            <a:prstDash val="solid"/>
          </a:ln>
        </p:spPr>
      </p:sp>
      <p:sp>
        <p:nvSpPr>
          <p:cNvPr id="8" name="Text 6"/>
          <p:cNvSpPr txBox="1"/>
          <p:nvPr/>
        </p:nvSpPr>
        <p:spPr>
          <a:xfrm>
            <a:off x="640080" y="2743200"/>
            <a:ext cx="3657600" cy="365760"/>
          </a:xfrm>
          <a:prstGeom prst="rect">
            <a:avLst/>
          </a:prstGeom>
          <a:noFill/>
          <a:ln/>
        </p:spPr>
        <p:txBody>
          <a:bodyPr wrap="square" lIns="0" tIns="0" rIns="0" bIns="0" rtlCol="0" anchor="t"/>
          <a:lstStyle/>
          <a:p>
            <a:pPr indent="0" marL="0">
              <a:buNone/>
            </a:pPr>
            <a:r>
              <a:rPr lang="en-US" sz="1500" b="1" dirty="0">
                <a:solidFill>
                  <a:schemeClr val="accent2"/>
                </a:solidFill>
                <a:latin typeface="Cambria" pitchFamily="34" charset="0"/>
                <a:ea typeface="Cambria" pitchFamily="34" charset="-122"/>
                <a:cs typeface="Cambria" pitchFamily="34" charset="-120"/>
              </a:rPr>
              <a:t>Why the model comes first</a:t>
            </a:r>
            <a:endParaRPr lang="en-US" sz="1500" dirty="0"/>
          </a:p>
        </p:txBody>
      </p:sp>
      <p:sp>
        <p:nvSpPr>
          <p:cNvPr id="9" name="Text 7"/>
          <p:cNvSpPr txBox="1"/>
          <p:nvPr/>
        </p:nvSpPr>
        <p:spPr>
          <a:xfrm>
            <a:off x="640080" y="3108960"/>
            <a:ext cx="3657600" cy="13716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savings come from the model's state size, sparsity and low-bit weights. A chip can only exploit them, not create them. L Cortex proves the principles at small scale only.</a:t>
            </a:r>
            <a:endParaRPr lang="en-US" sz="1200" dirty="0"/>
          </a:p>
        </p:txBody>
      </p:sp>
      <p:sp>
        <p:nvSpPr>
          <p:cNvPr id="10" name="Text 8"/>
          <p:cNvSpPr txBox="1"/>
          <p:nvPr/>
        </p:nvSpPr>
        <p:spPr>
          <a:xfrm>
            <a:off x="4846320" y="2743200"/>
            <a:ext cx="3657600" cy="365760"/>
          </a:xfrm>
          <a:prstGeom prst="rect">
            <a:avLst/>
          </a:prstGeom>
          <a:noFill/>
          <a:ln/>
        </p:spPr>
        <p:txBody>
          <a:bodyPr wrap="square" lIns="0" tIns="0" rIns="0" bIns="0" rtlCol="0" anchor="t"/>
          <a:lstStyle/>
          <a:p>
            <a:pPr indent="0" marL="0">
              <a:buNone/>
            </a:pPr>
            <a:r>
              <a:rPr lang="en-US" sz="1500" b="1" dirty="0">
                <a:solidFill>
                  <a:schemeClr val="accent4"/>
                </a:solidFill>
                <a:latin typeface="Cambria" pitchFamily="34" charset="0"/>
                <a:ea typeface="Cambria" pitchFamily="34" charset="-122"/>
                <a:cs typeface="Cambria" pitchFamily="34" charset="-120"/>
              </a:rPr>
              <a:t>It is falsified if</a:t>
            </a:r>
            <a:endParaRPr lang="en-US" sz="1500" dirty="0"/>
          </a:p>
        </p:txBody>
      </p:sp>
      <p:sp>
        <p:nvSpPr>
          <p:cNvPr id="11" name="Text 9"/>
          <p:cNvSpPr txBox="1"/>
          <p:nvPr/>
        </p:nvSpPr>
        <p:spPr>
          <a:xfrm>
            <a:off x="4846320" y="3108960"/>
            <a:ext cx="3657600" cy="14173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L loses its quality edge at larger sizes or when matrix-free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A fused GPU version gets within about 3x of the simulated chip</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A transformer chip with the same memory matches its energy per token</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it is level, and where it is weaker</a:t>
            </a:r>
            <a:endParaRPr lang="en-US" sz="3000" dirty="0"/>
          </a:p>
        </p:txBody>
      </p:sp>
      <p:sp>
        <p:nvSpPr>
          <p:cNvPr id="3" name="Text 1"/>
          <p:cNvSpPr txBox="1"/>
          <p:nvPr/>
        </p:nvSpPr>
        <p:spPr>
          <a:xfrm>
            <a:off x="457200" y="1280160"/>
            <a:ext cx="8229600" cy="32918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Nothing is measured on hardware yet: every chip number is simulated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Staged clothing about 82%, 5 points below its one pass; many ideas tried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A trained CNN is ahead by about 2 points on clothing when all data is available</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Small tests: digits, clothing, 20 classes, up to 35 words; noise is simulated; two-sense data is paired by class</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Second look costs about 2.8x memory; a few steps still run on the host</a:t>
            </a:r>
            <a:endParaRPr lang="en-US" sz="16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Not the first, and clear about what is new</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6"/>
                </a:solidFill>
                <a:latin typeface="Cambria" pitchFamily="34" charset="0"/>
                <a:ea typeface="Cambria" pitchFamily="34" charset="-122"/>
                <a:cs typeface="Cambria" pitchFamily="34" charset="-120"/>
              </a:rPr>
              <a:t>Already exists</a:t>
            </a:r>
            <a:endParaRPr lang="en-US" sz="2000" dirty="0"/>
          </a:p>
        </p:txBody>
      </p:sp>
      <p:sp>
        <p:nvSpPr>
          <p:cNvPr id="6" name="Text 4"/>
          <p:cNvSpPr txBox="1"/>
          <p:nvPr/>
        </p:nvSpPr>
        <p:spPr>
          <a:xfrm>
            <a:off x="64008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Hyperdimensional-computing accelerators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Intel Loihi 2, TrueNorth, SpiNNaker (event-driven spiking chips)</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Replay-based continual learning</a:t>
            </a:r>
            <a:endParaRPr lang="en-US" sz="15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What we add</a:t>
            </a:r>
            <a:endParaRPr lang="en-US" sz="2000" dirty="0"/>
          </a:p>
        </p:txBody>
      </p:sp>
      <p:sp>
        <p:nvSpPr>
          <p:cNvPr id="8" name="Text 6"/>
          <p:cNvSpPr txBox="1"/>
          <p:nvPr/>
        </p:nvSpPr>
        <p:spPr>
          <a:xfrm>
            <a:off x="484632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Dreams from 10-bit counters, no stored examples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night that ends by itself; consolidation that scales with the data</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No multiplier or matrix, bit-exact from raw senses to decision, with grouping and thresholds on the chip</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comes next</a:t>
            </a:r>
            <a:endParaRPr lang="en-US" sz="3000" dirty="0"/>
          </a:p>
        </p:txBody>
      </p:sp>
      <p:sp>
        <p:nvSpPr>
          <p:cNvPr id="3" name="card"/>
          <p:cNvSpPr/>
          <p:nvPr/>
        </p:nvSpPr>
        <p:spPr>
          <a:xfrm>
            <a:off x="457200" y="1371600"/>
            <a:ext cx="1965960" cy="2651760"/>
          </a:xfrm>
          <a:prstGeom prst="roundRect">
            <a:avLst>
              <a:gd name="adj" fmla="val 4651"/>
            </a:avLst>
          </a:prstGeom>
          <a:solidFill>
            <a:schemeClr val="bg2"/>
          </a:solidFill>
          <a:ln w="12700">
            <a:solidFill>
              <a:schemeClr val="bg2"/>
            </a:solidFill>
            <a:prstDash val="solid"/>
          </a:ln>
        </p:spPr>
      </p:sp>
      <p:sp>
        <p:nvSpPr>
          <p:cNvPr id="4" name="marker"/>
          <p:cNvSpPr/>
          <p:nvPr/>
        </p:nvSpPr>
        <p:spPr>
          <a:xfrm>
            <a:off x="594360" y="1508760"/>
            <a:ext cx="502920" cy="502920"/>
          </a:xfrm>
          <a:prstGeom prst="ellipse">
            <a:avLst/>
          </a:prstGeom>
          <a:solidFill>
            <a:schemeClr val="accent3"/>
          </a:solidFill>
          <a:ln w="12700">
            <a:solidFill>
              <a:schemeClr val="accent3"/>
            </a:solidFill>
            <a:prstDash val="solid"/>
          </a:ln>
        </p:spPr>
      </p:sp>
      <p:sp>
        <p:nvSpPr>
          <p:cNvPr id="5" name="Text 3"/>
          <p:cNvSpPr txBox="1"/>
          <p:nvPr/>
        </p:nvSpPr>
        <p:spPr>
          <a:xfrm>
            <a:off x="59436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59436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Done</a:t>
            </a:r>
            <a:endParaRPr lang="en-US" sz="1700" dirty="0"/>
          </a:p>
        </p:txBody>
      </p:sp>
      <p:sp>
        <p:nvSpPr>
          <p:cNvPr id="7" name="Text 5"/>
          <p:cNvSpPr txBox="1"/>
          <p:nvPr/>
        </p:nvSpPr>
        <p:spPr>
          <a:xfrm>
            <a:off x="59436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Model, RTL with every check passing, second look, tail memory, on-chip thresholds and grouping, scale tests</a:t>
            </a:r>
            <a:endParaRPr lang="en-US" sz="1100" dirty="0"/>
          </a:p>
        </p:txBody>
      </p:sp>
      <p:sp>
        <p:nvSpPr>
          <p:cNvPr id="8" name="card"/>
          <p:cNvSpPr/>
          <p:nvPr/>
        </p:nvSpPr>
        <p:spPr>
          <a:xfrm>
            <a:off x="2560320" y="1371600"/>
            <a:ext cx="1965960" cy="2651760"/>
          </a:xfrm>
          <a:prstGeom prst="roundRect">
            <a:avLst>
              <a:gd name="adj" fmla="val 4651"/>
            </a:avLst>
          </a:prstGeom>
          <a:solidFill>
            <a:schemeClr val="bg2"/>
          </a:solidFill>
          <a:ln w="12700">
            <a:solidFill>
              <a:schemeClr val="bg2"/>
            </a:solidFill>
            <a:prstDash val="solid"/>
          </a:ln>
        </p:spPr>
      </p:sp>
      <p:sp>
        <p:nvSpPr>
          <p:cNvPr id="9" name="marker"/>
          <p:cNvSpPr/>
          <p:nvPr/>
        </p:nvSpPr>
        <p:spPr>
          <a:xfrm>
            <a:off x="2697480" y="150876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269748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69748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Next</a:t>
            </a:r>
            <a:endParaRPr lang="en-US" sz="1700" dirty="0"/>
          </a:p>
        </p:txBody>
      </p:sp>
      <p:sp>
        <p:nvSpPr>
          <p:cNvPr id="12" name="Text 10"/>
          <p:cNvSpPr txBox="1"/>
          <p:nvPr/>
        </p:nvSpPr>
        <p:spPr>
          <a:xfrm>
            <a:off x="269748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Run on the real Tang Nano: the first MEASURED numbers</a:t>
            </a:r>
            <a:endParaRPr lang="en-US" sz="1100" dirty="0"/>
          </a:p>
        </p:txBody>
      </p:sp>
      <p:sp>
        <p:nvSpPr>
          <p:cNvPr id="13" name="card"/>
          <p:cNvSpPr/>
          <p:nvPr/>
        </p:nvSpPr>
        <p:spPr>
          <a:xfrm>
            <a:off x="4663440" y="1371600"/>
            <a:ext cx="1965960" cy="2651760"/>
          </a:xfrm>
          <a:prstGeom prst="roundRect">
            <a:avLst>
              <a:gd name="adj" fmla="val 4651"/>
            </a:avLst>
          </a:prstGeom>
          <a:solidFill>
            <a:schemeClr val="bg2"/>
          </a:solidFill>
          <a:ln w="12700">
            <a:solidFill>
              <a:schemeClr val="bg2"/>
            </a:solidFill>
            <a:prstDash val="solid"/>
          </a:ln>
        </p:spPr>
      </p:sp>
      <p:sp>
        <p:nvSpPr>
          <p:cNvPr id="14" name="marker"/>
          <p:cNvSpPr/>
          <p:nvPr/>
        </p:nvSpPr>
        <p:spPr>
          <a:xfrm>
            <a:off x="4800600" y="1508760"/>
            <a:ext cx="502920" cy="502920"/>
          </a:xfrm>
          <a:prstGeom prst="ellipse">
            <a:avLst/>
          </a:prstGeom>
          <a:solidFill>
            <a:schemeClr val="accent2"/>
          </a:solidFill>
          <a:ln w="12700">
            <a:solidFill>
              <a:schemeClr val="accent2"/>
            </a:solidFill>
            <a:prstDash val="solid"/>
          </a:ln>
        </p:spPr>
      </p:sp>
      <p:sp>
        <p:nvSpPr>
          <p:cNvPr id="15" name="Text 13"/>
          <p:cNvSpPr txBox="1"/>
          <p:nvPr/>
        </p:nvSpPr>
        <p:spPr>
          <a:xfrm>
            <a:off x="480060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480060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Then</a:t>
            </a:r>
            <a:endParaRPr lang="en-US" sz="1700" dirty="0"/>
          </a:p>
        </p:txBody>
      </p:sp>
      <p:sp>
        <p:nvSpPr>
          <p:cNvPr id="17" name="Text 15"/>
          <p:cNvSpPr txBox="1"/>
          <p:nvPr/>
        </p:nvSpPr>
        <p:spPr>
          <a:xfrm>
            <a:off x="480060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Harder tests: larger vocabulary, real recorded noise, a harder image set</a:t>
            </a:r>
            <a:endParaRPr lang="en-US" sz="1100" dirty="0"/>
          </a:p>
        </p:txBody>
      </p:sp>
      <p:sp>
        <p:nvSpPr>
          <p:cNvPr id="18" name="card"/>
          <p:cNvSpPr/>
          <p:nvPr/>
        </p:nvSpPr>
        <p:spPr>
          <a:xfrm>
            <a:off x="6766560" y="1371600"/>
            <a:ext cx="1965960" cy="2651760"/>
          </a:xfrm>
          <a:prstGeom prst="roundRect">
            <a:avLst>
              <a:gd name="adj" fmla="val 4651"/>
            </a:avLst>
          </a:prstGeom>
          <a:solidFill>
            <a:schemeClr val="bg2"/>
          </a:solidFill>
          <a:ln w="12700">
            <a:solidFill>
              <a:schemeClr val="bg2"/>
            </a:solidFill>
            <a:prstDash val="solid"/>
          </a:ln>
        </p:spPr>
      </p:sp>
      <p:sp>
        <p:nvSpPr>
          <p:cNvPr id="19" name="marker"/>
          <p:cNvSpPr/>
          <p:nvPr/>
        </p:nvSpPr>
        <p:spPr>
          <a:xfrm>
            <a:off x="6903720" y="1508760"/>
            <a:ext cx="502920" cy="502920"/>
          </a:xfrm>
          <a:prstGeom prst="ellipse">
            <a:avLst/>
          </a:prstGeom>
          <a:solidFill>
            <a:schemeClr val="accent5"/>
          </a:solidFill>
          <a:ln w="12700">
            <a:solidFill>
              <a:schemeClr val="accent5"/>
            </a:solidFill>
            <a:prstDash val="solid"/>
          </a:ln>
        </p:spPr>
      </p:sp>
      <p:sp>
        <p:nvSpPr>
          <p:cNvPr id="20" name="Text 18"/>
          <p:cNvSpPr txBox="1"/>
          <p:nvPr/>
        </p:nvSpPr>
        <p:spPr>
          <a:xfrm>
            <a:off x="690372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690372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Later</a:t>
            </a:r>
            <a:endParaRPr lang="en-US" sz="1700" dirty="0"/>
          </a:p>
        </p:txBody>
      </p:sp>
      <p:sp>
        <p:nvSpPr>
          <p:cNvPr id="22" name="Text 20"/>
          <p:cNvSpPr txBox="1"/>
          <p:nvPr/>
        </p:nvSpPr>
        <p:spPr>
          <a:xfrm>
            <a:off x="690372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Matrix-free chip for the L language model; ASIC memory for sound and the second look</a:t>
            </a:r>
            <a:endParaRPr lang="en-US" sz="1100" dirty="0"/>
          </a:p>
        </p:txBody>
      </p:sp>
      <p:sp>
        <p:nvSpPr>
          <p:cNvPr id="23" name="Text 21"/>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Horizon: a provable result within 6 to 8 months, then shrink and attract investors. No fabrication is planned yet.</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tracks toward the bigger problem</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389888"/>
            <a:ext cx="3657600" cy="365760"/>
          </a:xfrm>
          <a:prstGeom prst="rect">
            <a:avLst/>
          </a:prstGeom>
          <a:noFill/>
          <a:ln/>
        </p:spPr>
        <p:txBody>
          <a:bodyPr wrap="square" lIns="0" tIns="0" rIns="0" bIns="0" rtlCol="0" anchor="t"/>
          <a:lstStyle/>
          <a:p>
            <a:pPr indent="0" marL="0">
              <a:buNone/>
            </a:pPr>
            <a:r>
              <a:rPr lang="en-US" sz="1700" b="1" dirty="0">
                <a:solidFill>
                  <a:schemeClr val="accent3"/>
                </a:solidFill>
                <a:latin typeface="Cambria" pitchFamily="34" charset="0"/>
                <a:ea typeface="Cambria" pitchFamily="34" charset="-122"/>
                <a:cs typeface="Cambria" pitchFamily="34" charset="-120"/>
              </a:rPr>
              <a:t>Track 1: the L chip (hardware)</a:t>
            </a:r>
            <a:endParaRPr lang="en-US" sz="1700" dirty="0"/>
          </a:p>
        </p:txBody>
      </p:sp>
      <p:sp>
        <p:nvSpPr>
          <p:cNvPr id="6" name="Text 4"/>
          <p:cNvSpPr txBox="1"/>
          <p:nvPr/>
        </p:nvSpPr>
        <p:spPr>
          <a:xfrm>
            <a:off x="640080" y="1828800"/>
            <a:ext cx="3657600" cy="2651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Now: verified in simulation, bit-exact RTL</a:t>
            </a:r>
            <a:endParaRPr lang="en-US" sz="1300" dirty="0"/>
          </a:p>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Next: run on the Tang Nano for the first MEASURED numbers</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Then: harder tests, external memory for sound and the second look</a:t>
            </a:r>
            <a:endParaRPr lang="en-US" sz="1300" dirty="0"/>
          </a:p>
        </p:txBody>
      </p:sp>
      <p:sp>
        <p:nvSpPr>
          <p:cNvPr id="7" name="Text 5"/>
          <p:cNvSpPr txBox="1"/>
          <p:nvPr/>
        </p:nvSpPr>
        <p:spPr>
          <a:xfrm>
            <a:off x="4846320" y="1389888"/>
            <a:ext cx="3657600" cy="365760"/>
          </a:xfrm>
          <a:prstGeom prst="rect">
            <a:avLst/>
          </a:prstGeom>
          <a:noFill/>
          <a:ln/>
        </p:spPr>
        <p:txBody>
          <a:bodyPr wrap="square" lIns="0" tIns="0" rIns="0" bIns="0" rtlCol="0" anchor="t"/>
          <a:lstStyle/>
          <a:p>
            <a:pPr indent="0" marL="0">
              <a:buNone/>
            </a:pPr>
            <a:r>
              <a:rPr lang="en-US" sz="1700" b="1" dirty="0">
                <a:solidFill>
                  <a:schemeClr val="accent2"/>
                </a:solidFill>
                <a:latin typeface="Cambria" pitchFamily="34" charset="0"/>
                <a:ea typeface="Cambria" pitchFamily="34" charset="-122"/>
                <a:cs typeface="Cambria" pitchFamily="34" charset="-120"/>
              </a:rPr>
              <a:t>Track 2: the L AI model (later)</a:t>
            </a:r>
            <a:endParaRPr lang="en-US" sz="1700" dirty="0"/>
          </a:p>
        </p:txBody>
      </p:sp>
      <p:sp>
        <p:nvSpPr>
          <p:cNvPr id="8" name="Text 6"/>
          <p:cNvSpPr txBox="1"/>
          <p:nvPr/>
        </p:nvSpPr>
        <p:spPr>
          <a:xfrm>
            <a:off x="4846320" y="1828800"/>
            <a:ext cx="3657600" cy="26517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1: measure the model: firing rates, ablations, seeds</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2: fused GPU baseline; stop if a GPU is already close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3: matrix-free version keeps its quality</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Then: simulator and FPGA; study memory: can constant-size state and event-driven reads move work from scarce HBM to cheaper DRAM or SRAM? (a question, not a claim)</a:t>
            </a:r>
            <a:endParaRPr lang="en-US" sz="1200" dirty="0"/>
          </a:p>
        </p:txBody>
      </p:sp>
      <p:sp>
        <p:nvSpPr>
          <p:cNvPr id="9" name="Text 7"/>
          <p:cNvSpPr txBox="1"/>
          <p:nvPr/>
        </p:nvSpPr>
        <p:spPr>
          <a:xfrm>
            <a:off x="457200" y="4617720"/>
            <a:ext cx="8229600" cy="274320"/>
          </a:xfrm>
          <a:prstGeom prst="rect">
            <a:avLst/>
          </a:prstGeom>
          <a:noFill/>
          <a:ln/>
        </p:spPr>
        <p:txBody>
          <a:bodyPr wrap="square" lIns="0" tIns="0" rIns="0" bIns="0" rtlCol="0" anchor="t"/>
          <a:lstStyle/>
          <a:p>
            <a:pPr indent="0" marL="0">
              <a:buNone/>
            </a:pPr>
            <a:r>
              <a:rPr lang="en-US" sz="1100" dirty="0">
                <a:solidFill>
                  <a:schemeClr val="accent6"/>
                </a:solidFill>
                <a:latin typeface="Calibri" pitchFamily="34" charset="0"/>
                <a:ea typeface="Calibri" pitchFamily="34" charset="-122"/>
                <a:cs typeface="Calibri" pitchFamily="34" charset="-120"/>
              </a:rPr>
              <a:t>PLAN: the language-model track has small-scale evidence only (9M parameters).</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Silicon, node and size: the honest plan</a:t>
            </a:r>
            <a:endParaRPr lang="en-US" sz="3000" dirty="0"/>
          </a:p>
        </p:txBody>
      </p:sp>
      <p:sp>
        <p:nvSpPr>
          <p:cNvPr id="3" name="card"/>
          <p:cNvSpPr/>
          <p:nvPr/>
        </p:nvSpPr>
        <p:spPr>
          <a:xfrm>
            <a:off x="457200" y="1188720"/>
            <a:ext cx="5212080" cy="493776"/>
          </a:xfrm>
          <a:prstGeom prst="roundRect">
            <a:avLst>
              <a:gd name="adj" fmla="val 18519"/>
            </a:avLst>
          </a:prstGeom>
          <a:solidFill>
            <a:schemeClr val="accent2"/>
          </a:solidFill>
          <a:ln w="12700">
            <a:solidFill>
              <a:schemeClr val="accent2"/>
            </a:solidFill>
            <a:prstDash val="solid"/>
          </a:ln>
        </p:spPr>
      </p:sp>
      <p:sp>
        <p:nvSpPr>
          <p:cNvPr id="4" name="Text 2"/>
          <p:cNvSpPr txBox="1"/>
          <p:nvPr/>
        </p:nvSpPr>
        <p:spPr>
          <a:xfrm>
            <a:off x="548640" y="1280160"/>
            <a:ext cx="914400" cy="365760"/>
          </a:xfrm>
          <a:prstGeom prst="rect">
            <a:avLst/>
          </a:prstGeom>
          <a:noFill/>
          <a:ln/>
        </p:spPr>
        <p:txBody>
          <a:bodyPr wrap="square" lIns="0" tIns="0" rIns="0" bIns="0" rtlCol="0" anchor="t"/>
          <a:lstStyle/>
          <a:p>
            <a:pPr indent="0" marL="0">
              <a:buNone/>
            </a:pPr>
            <a:r>
              <a:rPr lang="en-US" sz="1200" b="1" dirty="0">
                <a:solidFill>
                  <a:schemeClr val="bg1"/>
                </a:solidFill>
                <a:latin typeface="Calibri" pitchFamily="34" charset="0"/>
                <a:ea typeface="Calibri" pitchFamily="34" charset="-122"/>
                <a:cs typeface="Calibri" pitchFamily="34" charset="-120"/>
              </a:rPr>
              <a:t>Node</a:t>
            </a:r>
            <a:endParaRPr lang="en-US" sz="1200" dirty="0"/>
          </a:p>
        </p:txBody>
      </p:sp>
      <p:sp>
        <p:nvSpPr>
          <p:cNvPr id="5" name="Text 3"/>
          <p:cNvSpPr txBox="1"/>
          <p:nvPr/>
        </p:nvSpPr>
        <p:spPr>
          <a:xfrm>
            <a:off x="1463040" y="1252728"/>
            <a:ext cx="237744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Who uses it / access</a:t>
            </a:r>
            <a:endParaRPr lang="en-US" sz="1000" dirty="0"/>
          </a:p>
        </p:txBody>
      </p:sp>
      <p:sp>
        <p:nvSpPr>
          <p:cNvPr id="6" name="Text 4"/>
          <p:cNvSpPr txBox="1"/>
          <p:nvPr/>
        </p:nvSpPr>
        <p:spPr>
          <a:xfrm>
            <a:off x="3886200" y="1252728"/>
            <a:ext cx="173736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Cost, ESTIMATED</a:t>
            </a:r>
            <a:endParaRPr lang="en-US" sz="1000" dirty="0"/>
          </a:p>
        </p:txBody>
      </p:sp>
      <p:sp>
        <p:nvSpPr>
          <p:cNvPr id="7" name="card"/>
          <p:cNvSpPr/>
          <p:nvPr/>
        </p:nvSpPr>
        <p:spPr>
          <a:xfrm>
            <a:off x="457200" y="1755648"/>
            <a:ext cx="5212080" cy="493776"/>
          </a:xfrm>
          <a:prstGeom prst="roundRect">
            <a:avLst>
              <a:gd name="adj" fmla="val 18519"/>
            </a:avLst>
          </a:prstGeom>
          <a:solidFill>
            <a:schemeClr val="bg2"/>
          </a:solidFill>
          <a:ln w="12700">
            <a:solidFill>
              <a:schemeClr val="bg2"/>
            </a:solidFill>
            <a:prstDash val="solid"/>
          </a:ln>
        </p:spPr>
      </p:sp>
      <p:sp>
        <p:nvSpPr>
          <p:cNvPr id="8" name="Text 6"/>
          <p:cNvSpPr txBox="1"/>
          <p:nvPr/>
        </p:nvSpPr>
        <p:spPr>
          <a:xfrm>
            <a:off x="548640" y="1847088"/>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130 nm</a:t>
            </a:r>
            <a:endParaRPr lang="en-US" sz="1200" dirty="0"/>
          </a:p>
        </p:txBody>
      </p:sp>
      <p:sp>
        <p:nvSpPr>
          <p:cNvPr id="9" name="Text 7"/>
          <p:cNvSpPr txBox="1"/>
          <p:nvPr/>
        </p:nvSpPr>
        <p:spPr>
          <a:xfrm>
            <a:off x="1463040" y="1819656"/>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open PDK (SKY130); prototype only, not comparable to a GPU</a:t>
            </a:r>
            <a:endParaRPr lang="en-US" sz="1000" dirty="0"/>
          </a:p>
        </p:txBody>
      </p:sp>
      <p:sp>
        <p:nvSpPr>
          <p:cNvPr id="10" name="Text 8"/>
          <p:cNvSpPr txBox="1"/>
          <p:nvPr/>
        </p:nvSpPr>
        <p:spPr>
          <a:xfrm>
            <a:off x="3886200" y="1819656"/>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free flow; shuttle ~$10k-50k</a:t>
            </a:r>
            <a:endParaRPr lang="en-US" sz="1000" dirty="0"/>
          </a:p>
        </p:txBody>
      </p:sp>
      <p:sp>
        <p:nvSpPr>
          <p:cNvPr id="11" name="card"/>
          <p:cNvSpPr/>
          <p:nvPr/>
        </p:nvSpPr>
        <p:spPr>
          <a:xfrm>
            <a:off x="457200" y="2322576"/>
            <a:ext cx="5212080" cy="493776"/>
          </a:xfrm>
          <a:prstGeom prst="roundRect">
            <a:avLst>
              <a:gd name="adj" fmla="val 18519"/>
            </a:avLst>
          </a:prstGeom>
          <a:solidFill>
            <a:schemeClr val="bg2"/>
          </a:solidFill>
          <a:ln w="12700">
            <a:solidFill>
              <a:schemeClr val="bg2"/>
            </a:solidFill>
            <a:prstDash val="solid"/>
          </a:ln>
        </p:spPr>
      </p:sp>
      <p:sp>
        <p:nvSpPr>
          <p:cNvPr id="12" name="Text 10"/>
          <p:cNvSpPr txBox="1"/>
          <p:nvPr/>
        </p:nvSpPr>
        <p:spPr>
          <a:xfrm>
            <a:off x="548640" y="2414016"/>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28-65 nm</a:t>
            </a:r>
            <a:endParaRPr lang="en-US" sz="1200" dirty="0"/>
          </a:p>
        </p:txBody>
      </p:sp>
      <p:sp>
        <p:nvSpPr>
          <p:cNvPr id="13" name="Text 11"/>
          <p:cNvSpPr txBox="1"/>
          <p:nvPr/>
        </p:nvSpPr>
        <p:spPr>
          <a:xfrm>
            <a:off x="1463040" y="2386584"/>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mature; via a university or Europractice-style programme</a:t>
            </a:r>
            <a:endParaRPr lang="en-US" sz="1000" dirty="0"/>
          </a:p>
        </p:txBody>
      </p:sp>
      <p:sp>
        <p:nvSpPr>
          <p:cNvPr id="14" name="Text 12"/>
          <p:cNvSpPr txBox="1"/>
          <p:nvPr/>
        </p:nvSpPr>
        <p:spPr>
          <a:xfrm>
            <a:off x="3886200" y="2386584"/>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a:t>
            </a:r>
            <a:endParaRPr lang="en-US" sz="1000" dirty="0"/>
          </a:p>
        </p:txBody>
      </p:sp>
      <p:sp>
        <p:nvSpPr>
          <p:cNvPr id="15" name="card"/>
          <p:cNvSpPr/>
          <p:nvPr/>
        </p:nvSpPr>
        <p:spPr>
          <a:xfrm>
            <a:off x="457200" y="2889504"/>
            <a:ext cx="5212080" cy="493776"/>
          </a:xfrm>
          <a:prstGeom prst="roundRect">
            <a:avLst>
              <a:gd name="adj" fmla="val 18519"/>
            </a:avLst>
          </a:prstGeom>
          <a:solidFill>
            <a:schemeClr val="bg2"/>
          </a:solidFill>
          <a:ln w="12700">
            <a:solidFill>
              <a:schemeClr val="bg2"/>
            </a:solidFill>
            <a:prstDash val="solid"/>
          </a:ln>
        </p:spPr>
      </p:sp>
      <p:sp>
        <p:nvSpPr>
          <p:cNvPr id="16" name="Text 14"/>
          <p:cNvSpPr txBox="1"/>
          <p:nvPr/>
        </p:nvSpPr>
        <p:spPr>
          <a:xfrm>
            <a:off x="548640" y="2980944"/>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5 nm class</a:t>
            </a:r>
            <a:endParaRPr lang="en-US" sz="1200" dirty="0"/>
          </a:p>
        </p:txBody>
      </p:sp>
      <p:sp>
        <p:nvSpPr>
          <p:cNvPr id="17" name="Text 15"/>
          <p:cNvSpPr txBox="1"/>
          <p:nvPr/>
        </p:nvSpPr>
        <p:spPr>
          <a:xfrm>
            <a:off x="1463040" y="2953512"/>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today's data-centre GPUs (TSMC 4N, die up to ~814 mm2)</a:t>
            </a:r>
            <a:endParaRPr lang="en-US" sz="1000" dirty="0"/>
          </a:p>
        </p:txBody>
      </p:sp>
      <p:sp>
        <p:nvSpPr>
          <p:cNvPr id="18" name="Text 16"/>
          <p:cNvSpPr txBox="1"/>
          <p:nvPr/>
        </p:nvSpPr>
        <p:spPr>
          <a:xfrm>
            <a:off x="3886200" y="2953512"/>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wafer ~$17k; design tens of $M</a:t>
            </a:r>
            <a:endParaRPr lang="en-US" sz="1000" dirty="0"/>
          </a:p>
        </p:txBody>
      </p:sp>
      <p:sp>
        <p:nvSpPr>
          <p:cNvPr id="19" name="card"/>
          <p:cNvSpPr/>
          <p:nvPr/>
        </p:nvSpPr>
        <p:spPr>
          <a:xfrm>
            <a:off x="5852160" y="1188720"/>
            <a:ext cx="2834640" cy="2194560"/>
          </a:xfrm>
          <a:prstGeom prst="roundRect">
            <a:avLst>
              <a:gd name="adj" fmla="val 4167"/>
            </a:avLst>
          </a:prstGeom>
          <a:solidFill>
            <a:schemeClr val="bg2"/>
          </a:solidFill>
          <a:ln w="12700">
            <a:solidFill>
              <a:schemeClr val="bg2"/>
            </a:solidFill>
            <a:prstDash val="solid"/>
          </a:ln>
        </p:spPr>
      </p:sp>
      <p:sp>
        <p:nvSpPr>
          <p:cNvPr id="20" name="Text 18"/>
          <p:cNvSpPr txBox="1"/>
          <p:nvPr/>
        </p:nvSpPr>
        <p:spPr>
          <a:xfrm>
            <a:off x="5989320" y="1280160"/>
            <a:ext cx="2560320" cy="36576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Material: silicon CMOS</a:t>
            </a:r>
            <a:endParaRPr lang="en-US" sz="1400" dirty="0"/>
          </a:p>
        </p:txBody>
      </p:sp>
      <p:sp>
        <p:nvSpPr>
          <p:cNvPr id="21" name="Text 19"/>
          <p:cNvSpPr txBox="1"/>
          <p:nvPr/>
        </p:nvSpPr>
        <p:spPr>
          <a:xfrm>
            <a:off x="5989320" y="1645920"/>
            <a:ext cx="2560320" cy="1737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only practical choice for dense logic: mature, high yield, full tools. Limits: cost at advanced nodes, heat, SRAM not shrinking as fast, supply concentrated in few fabs. GaN, SiC, 2D materials and memristors are not ready for dense logic; non-volatile memory is a later option.</a:t>
            </a:r>
            <a:endParaRPr lang="en-US" sz="1000" dirty="0"/>
          </a:p>
        </p:txBody>
      </p:sp>
      <p:sp>
        <p:nvSpPr>
          <p:cNvPr id="22" name="card"/>
          <p:cNvSpPr/>
          <p:nvPr/>
        </p:nvSpPr>
        <p:spPr>
          <a:xfrm>
            <a:off x="457200" y="3611880"/>
            <a:ext cx="8229600" cy="960120"/>
          </a:xfrm>
          <a:prstGeom prst="roundRect">
            <a:avLst>
              <a:gd name="adj" fmla="val 9524"/>
            </a:avLst>
          </a:prstGeom>
          <a:solidFill>
            <a:srgbClr val="FFF4DD"/>
          </a:solidFill>
          <a:ln w="12700">
            <a:solidFill>
              <a:srgbClr val="FFF4DD"/>
            </a:solidFill>
            <a:prstDash val="solid"/>
          </a:ln>
        </p:spPr>
      </p:sp>
      <p:sp>
        <p:nvSpPr>
          <p:cNvPr id="23" name="Text 21"/>
          <p:cNvSpPr txBox="1"/>
          <p:nvPr/>
        </p:nvSpPr>
        <p:spPr>
          <a:xfrm>
            <a:off x="640080" y="3703320"/>
            <a:ext cx="786384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Plan: write the design node-agnostic; compare energy against GPUs at a GPU-class node using published scaling (ESTIMATED, uncertain); prove it on an FPGA; tape out at an accessible mature node when funded. A 5 nm-class chip needs tens of millions of dollars and foundry access we do not have: say so.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A chip that keeps learning</a:t>
            </a:r>
            <a:endParaRPr lang="en-US" sz="4000" dirty="0"/>
          </a:p>
        </p:txBody>
      </p:sp>
      <p:sp>
        <p:nvSpPr>
          <p:cNvPr id="3" name="Text 1"/>
          <p:cNvSpPr txBox="1"/>
          <p:nvPr/>
        </p:nvSpPr>
        <p:spPr>
          <a:xfrm>
            <a:off x="548640" y="2834640"/>
            <a:ext cx="8046720" cy="914400"/>
          </a:xfrm>
          <a:prstGeom prst="rect">
            <a:avLst/>
          </a:prstGeom>
          <a:noFill/>
          <a:ln/>
        </p:spPr>
        <p:txBody>
          <a:bodyPr wrap="square" lIns="0" tIns="0" rIns="0" bIns="0" rtlCol="0" anchor="t"/>
          <a:lstStyle/>
          <a:p>
            <a:pPr indent="0" marL="0">
              <a:buNone/>
            </a:pPr>
            <a:r>
              <a:rPr lang="en-US" sz="1800" i="1" dirty="0">
                <a:solidFill>
                  <a:schemeClr val="accent1"/>
                </a:solidFill>
                <a:latin typeface="Calibri" pitchFamily="34" charset="0"/>
                <a:ea typeface="Calibri" pitchFamily="34" charset="-122"/>
                <a:cs typeface="Calibri" pitchFamily="34" charset="-120"/>
              </a:rPr>
              <a:t>It learns in the field, keeps what it knew, shares what it learned, and needs no multiplier. It is weaker than a trained network in some places, and we have said where.</a:t>
            </a:r>
            <a:endParaRPr lang="en-US" sz="18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Thank you. Questions?</a:t>
            </a:r>
            <a:endParaRPr lang="en-US" sz="2200" dirty="0"/>
          </a:p>
        </p:txBody>
      </p:sp>
    </p:spTree>
  </p:cSld>
  <p:clrMapOvr>
    <a:masterClrMapping/>
  </p:clrMapOvr>
</p:sld>
</file>

<file path=ppt/theme/theme1.xml><?xml version="1.0" encoding="utf-8"?>
<a:theme xmlns:a="http://schemas.openxmlformats.org/drawingml/2006/main" name="L">
  <a:themeElements>
    <a:clrScheme name="L">
      <a:dk1>
        <a:srgbClr val="151A3D"/>
      </a:dk1>
      <a:lt1>
        <a:srgbClr val="FFFFFF"/>
      </a:lt1>
      <a:dk2>
        <a:srgbClr val="2B3270"/>
      </a:dk2>
      <a:lt2>
        <a:srgbClr val="EEF0FA"/>
      </a:lt2>
      <a:accent1>
        <a:srgbClr val="F2A93B"/>
      </a:accent1>
      <a:accent2>
        <a:srgbClr val="5B6BD6"/>
      </a:accent2>
      <a:accent3>
        <a:srgbClr val="2FA37A"/>
      </a:accent3>
      <a:accent4>
        <a:srgbClr val="D9534F"/>
      </a:accent4>
      <a:accent5>
        <a:srgbClr val="8A93C9"/>
      </a:accent5>
      <a:accent6>
        <a:srgbClr val="6B7280"/>
      </a:accent6>
      <a:hlink>
        <a:srgbClr val="5B6BD6"/>
      </a:hlink>
      <a:folHlink>
        <a:srgbClr val="8A93C9"/>
      </a:folHlink>
    </a:clrScheme>
    <a:fontScheme name="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dc:title>
  <dc:subject>PptxGenJS Presentation</dc:subject>
  <dc:creator>L Lawliet (Navin), CKCET</dc:creator>
  <cp:lastModifiedBy>L Lawliet (Navin), CKCET</cp:lastModifiedBy>
  <cp:revision>1</cp:revision>
  <dcterms:created xsi:type="dcterms:W3CDTF">2026-10-22T10:41:53Z</dcterms:created>
  <dcterms:modified xsi:type="dcterms:W3CDTF">2026-10-22T10:41:53Z</dcterms:modified>
</cp:coreProperties>
</file>