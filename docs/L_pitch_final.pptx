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8ca6166b-66ff-ef75-db22-ee3813481cf3}">
          <p14:sldIdLst>
            <p14:sldId id="256"/>
          </p14:sldIdLst>
        </p14:section>
        <p14:section name="Why" id="{36253ae0-e715-bcea-f784-ace0c1d642ef}">
          <p14:sldIdLst>
            <p14:sldId id="257"/>
            <p14:sldId id="258"/>
            <p14:sldId id="259"/>
          </p14:sldIdLst>
        </p14:section>
        <p14:section name="Results" id="{900eca8a-498d-8d6a-4177-cbec56b025b4}">
          <p14:sldIdLst>
            <p14:sldId id="260"/>
            <p14:sldId id="261"/>
            <p14:sldId id="262"/>
            <p14:sldId id="263"/>
            <p14:sldId id="264"/>
            <p14:sldId id="265"/>
            <p14:sldId id="266"/>
            <p14:sldId id="267"/>
            <p14:sldId id="268"/>
          </p14:sldIdLst>
        </p14:section>
        <p14:section name="Build" id="{e9ff383a-eb5d-5c38-9abb-c6b5adb225cd}">
          <p14:sldIdLst>
            <p14:sldId id="269"/>
            <p14:sldId id="270"/>
            <p14:sldId id="271"/>
            <p14:sldId id="272"/>
            <p14:sldId id="273"/>
            <p14:sldId id="274"/>
            <p14:sldId id="275"/>
          </p14:sldIdLst>
        </p14:section>
        <p14:section name="Honest" id="{1d74fe94-e1e3-d3d2-82bf-ea97526b0cd3}">
          <p14:sldIdLst>
            <p14:sldId id="276"/>
            <p14:sldId id="277"/>
            <p14:sldId id="278"/>
            <p14:sldId id="279"/>
            <p14:sldId id="280"/>
            <p14:sldId id="281"/>
          </p14:sldIdLst>
        </p14:section>
        <p14:section name="Next" id="{6ef4a4db-48b4-0fb2-cc1b-dbbe1bc83ca8}">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today's model and GPU get wrong</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The model is frozen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transformer is trained once in a data centre, then fixed. New data means retraining, and a network trained on new things forgets old ones. A device cannot learn on its own.</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forgetting measured on my GPU run</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Every token reads everything</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Making each word reads every weight, and attention keeps a memory that grows with the text. When one input arrives at a time, the chip waits for memory, not for maths.</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Public fact; our own profile of a language model</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A GPU needs a crowd</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 my RTX 3050 one decision costs 69 mJ alone (batch 1) and 1.95 mJ in a batch of 1,024: 35 times worse when alone. A phone or a sensor decides one at a time.</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MEASURED, RTX 3050 6GB laptop GPU</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Heat, cooling water and hardware turnover follow from that power: this is our motivation, not something we have measured. Public figures are recalled from memory and need checking before quoting.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we tested it</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we ran</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Standard tasks: handwritten digits, clothing images, spoken digits and words. Protocols: all at once, in stages (two classes at a time), with noise, with two senses, a new class from one example, two chips merged. 3 to 5 seeds, a held-out speaker.</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(integer model of the chip)</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What we compared with</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CNN and a small network trained on the same data. The CNN was run on my RTX 3050 laptop GPU, with energy read from the GPU: that is the ruler for accuracy, time and energy.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CNN MEASURED; chip SIMULATED</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How we checked the design</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The Verilog design matches the Python model bit for bit in 41 of 41 checks. The real-cell netlist, a formal equivalence check, and a Tang Nano place and route came next. Cycles per decision come from the RTL simulation.</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 no board yet</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Not tested: a language model or any large model on the chip, a real board run, real-world noise, big vocabularies. The models we ran are classifiers; the CNN is only our comparison ruler.</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the GPU uses more energy, and L less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011680"/>
                <a:gridCol w="2377440"/>
                <a:gridCol w="2011680"/>
              </a:tblGrid>
              <a:tr h="3200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Process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GPU (RTX 3050 laptop)</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 chip design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One decision, alone (batch 1)</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69.3 mJ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0.18 to 0.26 uJ layout estimate; 9.4 nJ by operation count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The GPU powers thousands of cores for one input; L touches a few table rows</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02920">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One decision, in a crowd (batch 1024)</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1.95 mJ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same as above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Batching helps the GPU a lot, but a device decides one at a time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Learning from 59,063 digit images</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1,148 J whole training run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about 3 J: 45 to 62 uJ per example, one pass  ESTIMATED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The CNN trains for several passes (4 epochs); L counts each example once, in place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566928">
                <a:tc>
                  <a:txBody>
                    <a:bodyPr/>
                    <a:lstStyle/>
                    <a:p>
                      <a:pPr indent="0" marL="0">
                        <a:buNone/>
                      </a:pPr>
                      <a:r>
                        <a:rPr lang="en-US" sz="1100" b="1" dirty="0">
                          <a:solidFill>
                            <a:srgbClr val="151A3D"/>
                          </a:solidFill>
                          <a:latin typeface="Calibri" pitchFamily="34" charset="0"/>
                          <a:ea typeface="Calibri" pitchFamily="34" charset="-122"/>
                          <a:cs typeface="Calibri" pitchFamily="34" charset="-120"/>
                        </a:rPr>
                        <a:t>Learning a new class later</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retrain in a data centre (510 J in stages, and it forgets: 19.6%)  MEASURED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learns it in place with dreams, no retraining  SIMULATED</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100" dirty="0">
                          <a:solidFill>
                            <a:srgbClr val="151A3D"/>
                          </a:solidFill>
                          <a:latin typeface="Calibri" pitchFamily="34" charset="0"/>
                          <a:ea typeface="Calibri" pitchFamily="34" charset="-122"/>
                          <a:cs typeface="Calibri" pitchFamily="34" charset="-120"/>
                        </a:rPr>
                        <a:t>No gradients, no weights to rewrite</a:t>
                      </a:r>
                      <a:endParaRPr lang="en-US" sz="11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4023360"/>
            <a:ext cx="8229600" cy="640080"/>
          </a:xfrm>
          <a:prstGeom prst="roundRect">
            <a:avLst>
              <a:gd name="adj" fmla="val 14286"/>
            </a:avLst>
          </a:prstGeom>
          <a:solidFill>
            <a:srgbClr val="FFF4DD"/>
          </a:solidFill>
          <a:ln w="12700">
            <a:solidFill>
              <a:srgbClr val="FFF4DD"/>
            </a:solidFill>
            <a:prstDash val="solid"/>
          </a:ln>
        </p:spPr>
      </p:sp>
      <p:sp>
        <p:nvSpPr>
          <p:cNvPr id="5" name="Text 2"/>
          <p:cNvSpPr txBox="1"/>
          <p:nvPr/>
        </p:nvSpPr>
        <p:spPr>
          <a:xfrm>
            <a:off x="594360" y="4087368"/>
            <a:ext cx="7955280" cy="54864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Read it as orders of magnitude, not a final ratio: the chip numbers are estimates (core only, no board or memory interface), the GPU numbers are the whole GPU. The GPU wins at training big models and at batched throughput on big jobs. The board run will measure L.</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use L instead, for this job</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It keeps learning</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Learning digits in five stages: chip 95.5%, a CNN 19.6% (59,063 images). The chip adds new things without erasing the old, using dreams drawn from its own counters.</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Chip SIMULATED; CNN MEASURED on my GPU</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Small and cheap</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84 KB of memory, no multiplier, fits a 25-dollar board. About 74 times less energy per decision than an 8-bit network, counting the operations needed.</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board run will measure it</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Checked, and honest</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RTL matches the model bit for bit in 41 of 41 checks; the real-cell netlist matches too. Close to a CNN when all is learned at once: 97.9 against 99.1.</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SIMULATED</a:t>
            </a:r>
            <a:endParaRPr lang="en-US" sz="1000" dirty="0"/>
          </a:p>
        </p:txBody>
      </p:sp>
      <p:sp>
        <p:nvSpPr>
          <p:cNvPr id="15" name="card"/>
          <p:cNvSpPr/>
          <p:nvPr/>
        </p:nvSpPr>
        <p:spPr>
          <a:xfrm>
            <a:off x="457200" y="4069080"/>
            <a:ext cx="8229600" cy="566928"/>
          </a:xfrm>
          <a:prstGeom prst="roundRect">
            <a:avLst>
              <a:gd name="adj" fmla="val 16129"/>
            </a:avLst>
          </a:prstGeom>
          <a:solidFill>
            <a:srgbClr val="E6F4EC"/>
          </a:solidFill>
          <a:ln w="12700">
            <a:solidFill>
              <a:srgbClr val="E6F4EC"/>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Use L when the job is: learn on the device, small memory, one input at a time. Keep the GPU for training and big models. We do not replace it today.</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violations left in detailed routing of the SKY130 layout (router count; 145,000 on the first pass), re-run from scratch. A layout in the open flow, not a signed-off or fabricated chip.</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the model must change, not just the chip</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4"/>
                </a:solidFill>
                <a:latin typeface="Cambria" pitchFamily="34" charset="0"/>
                <a:ea typeface="Cambria" pitchFamily="34" charset="-122"/>
                <a:cs typeface="Cambria" pitchFamily="34" charset="-120"/>
              </a:rPr>
              <a:t>A chip alone cannot fix it</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faster chip for a standard transformer is a GPU or a TPU, and those already exist, with far more money behind them. The waste is in the model: dense maths on every weight for every word.</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Reasoning from public facts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What must change in the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constant-size state instead of an attention memory that grows with the text. Sparse activity, so only a few rows are touched. Low-bit or counting weights. Local learning by counting, because backpropagation needs gradients and a lot of memory.</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design rules</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So: design them together</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Alter an existing model to these rules, or design a new one with them, and build the chip for exactly that. Model and chip designed together: that is the L bet. Without the model change we would only be a weaker GPU.</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The L hypothesis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Honest status: the small version works (L Cortex, classifiers). A first test of a counting language model is in (next slide); a neural comparison and the chip mapping are not done.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real AI models can run on L</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50292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Alter an existing model</a:t>
            </a:r>
            <a:endParaRPr lang="en-US" sz="1400" dirty="0"/>
          </a:p>
        </p:txBody>
      </p:sp>
      <p:sp>
        <p:nvSpPr>
          <p:cNvPr id="5" name="Text 3"/>
          <p:cNvSpPr txBox="1"/>
          <p:nvPr/>
        </p:nvSpPr>
        <p:spPr>
          <a:xfrm>
            <a:off x="59436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Ternary weights (-1, 0, +1) turn multiplies into adds; published work runs language models of billions of parameters this way. Table and event-driven forms drop the multiplier too. Cost: some accuracy.</a:t>
            </a:r>
            <a:endParaRPr lang="en-US" sz="1300" dirty="0"/>
          </a:p>
        </p:txBody>
      </p:sp>
      <p:sp>
        <p:nvSpPr>
          <p:cNvPr id="6" name="Text 4"/>
          <p:cNvSpPr txBox="1"/>
          <p:nvPr/>
        </p:nvSpPr>
        <p:spPr>
          <a:xfrm>
            <a:off x="59436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Published research, verify; ternary is still a matrix of adds</a:t>
            </a:r>
            <a:endParaRPr lang="en-US" sz="1000" dirty="0"/>
          </a:p>
        </p:txBody>
      </p:sp>
      <p:sp>
        <p:nvSpPr>
          <p:cNvPr id="7"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8" name="Text 6"/>
          <p:cNvSpPr txBox="1"/>
          <p:nvPr/>
        </p:nvSpPr>
        <p:spPr>
          <a:xfrm>
            <a:off x="3383280" y="1280160"/>
            <a:ext cx="2377440" cy="50292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Design our own model</a:t>
            </a:r>
            <a:endParaRPr lang="en-US" sz="1400" dirty="0"/>
          </a:p>
        </p:txBody>
      </p:sp>
      <p:sp>
        <p:nvSpPr>
          <p:cNvPr id="9" name="Text 7"/>
          <p:cNvSpPr txBox="1"/>
          <p:nvPr/>
        </p:nvSpPr>
        <p:spPr>
          <a:xfrm>
            <a:off x="338328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counting language model: hash the recent characters or words into a sparse code, a table of counters predicts the next one, a bit at a time. No multiplier, no matrix, and it learns on the device.</a:t>
            </a:r>
            <a:endParaRPr lang="en-US" sz="1300" dirty="0"/>
          </a:p>
        </p:txBody>
      </p:sp>
      <p:sp>
        <p:nvSpPr>
          <p:cNvPr id="10" name="Text 8"/>
          <p:cNvSpPr txBox="1"/>
          <p:nvPr/>
        </p:nvSpPr>
        <p:spPr>
          <a:xfrm>
            <a:off x="338328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First test SIMULATED: 4.8 to 1.8 bits per character as memory grows 8 KB to 8 MB</a:t>
            </a:r>
            <a:endParaRPr lang="en-US" sz="1000" dirty="0"/>
          </a:p>
        </p:txBody>
      </p:sp>
      <p:sp>
        <p:nvSpPr>
          <p:cNvPr id="11"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2" name="Text 10"/>
          <p:cNvSpPr txBox="1"/>
          <p:nvPr/>
        </p:nvSpPr>
        <p:spPr>
          <a:xfrm>
            <a:off x="6172200" y="1280160"/>
            <a:ext cx="2377440" cy="50292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Grow the memory</a:t>
            </a:r>
            <a:endParaRPr lang="en-US" sz="1400" dirty="0"/>
          </a:p>
        </p:txBody>
      </p:sp>
      <p:sp>
        <p:nvSpPr>
          <p:cNvPr id="13" name="Text 11"/>
          <p:cNvSpPr txBox="1"/>
          <p:nvPr/>
        </p:nvSpPr>
        <p:spPr>
          <a:xfrm>
            <a:off x="6172200" y="1828800"/>
            <a:ext cx="2377440" cy="1691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Big tables live in outside DRAM. Sparse lookups touch only a few rows per word, so bandwidth stays small. Simulated: quality grows with table size. Next: a board with DRAM.</a:t>
            </a:r>
            <a:endParaRPr lang="en-US" sz="1300" dirty="0"/>
          </a:p>
        </p:txBody>
      </p:sp>
      <p:sp>
        <p:nvSpPr>
          <p:cNvPr id="14" name="Text 12"/>
          <p:cNvSpPr txBox="1"/>
          <p:nvPr/>
        </p:nvSpPr>
        <p:spPr>
          <a:xfrm>
            <a:off x="6172200" y="3566160"/>
            <a:ext cx="2377440" cy="320040"/>
          </a:xfrm>
          <a:prstGeom prst="rect">
            <a:avLst/>
          </a:prstGeom>
          <a:noFill/>
          <a:ln/>
        </p:spPr>
        <p:txBody>
          <a:bodyPr wrap="square" lIns="0" tIns="0" rIns="0" bIns="0" rtlCol="0" anchor="t"/>
          <a:lstStyle/>
          <a:p>
            <a:pPr indent="0" marL="0">
              <a:buNone/>
            </a:pPr>
            <a:r>
              <a:rPr lang="en-US" sz="1000" b="1" dirty="0">
                <a:solidFill>
                  <a:schemeClr val="accent6"/>
                </a:solidFill>
                <a:latin typeface="Calibri" pitchFamily="34" charset="0"/>
                <a:ea typeface="Calibri" pitchFamily="34" charset="-122"/>
                <a:cs typeface="Calibri" pitchFamily="34" charset="-120"/>
              </a:rPr>
              <a:t>ESTIMATED; a hypothesis with tests</a:t>
            </a:r>
            <a:endParaRPr lang="en-US" sz="1000" dirty="0"/>
          </a:p>
        </p:txBody>
      </p:sp>
      <p:sp>
        <p:nvSpPr>
          <p:cNvPr id="15" name="card"/>
          <p:cNvSpPr/>
          <p:nvPr/>
        </p:nvSpPr>
        <p:spPr>
          <a:xfrm>
            <a:off x="457200" y="4069080"/>
            <a:ext cx="8229600" cy="566928"/>
          </a:xfrm>
          <a:prstGeom prst="roundRect">
            <a:avLst>
              <a:gd name="adj" fmla="val 16129"/>
            </a:avLst>
          </a:prstGeom>
          <a:solidFill>
            <a:srgbClr val="FFF4DD"/>
          </a:solidFill>
          <a:ln w="12700">
            <a:solidFill>
              <a:srgbClr val="FFF4DD"/>
            </a:solidFill>
            <a:prstDash val="solid"/>
          </a:ln>
        </p:spPr>
      </p:sp>
      <p:sp>
        <p:nvSpPr>
          <p:cNvPr id="16" name="Text 14"/>
          <p:cNvSpPr txBox="1"/>
          <p:nvPr/>
        </p:nvSpPr>
        <p:spPr>
          <a:xfrm>
            <a:off x="594360" y="4142232"/>
            <a:ext cx="7955280" cy="457200"/>
          </a:xfrm>
          <a:prstGeom prst="rect">
            <a:avLst/>
          </a:prstGeom>
          <a:noFill/>
          <a:ln/>
        </p:spPr>
        <p:txBody>
          <a:bodyPr wrap="square" lIns="0" tIns="0" rIns="0" bIns="0" rtlCol="0" anchor="t"/>
          <a:lstStyle/>
          <a:p>
            <a:pPr indent="0" marL="0">
              <a:buNone/>
            </a:pPr>
            <a:r>
              <a:rPr lang="en-US" sz="1100" b="1" dirty="0">
                <a:solidFill>
                  <a:schemeClr val="tx1"/>
                </a:solidFill>
                <a:latin typeface="Calibri" pitchFamily="34" charset="0"/>
                <a:ea typeface="Calibri" pitchFamily="34" charset="-122"/>
                <a:cs typeface="Calibri" pitchFamily="34" charset="-120"/>
              </a:rPr>
              <a:t>First result: a counting language model learned English text online in one pass (SIMULATED algorithm test, not on the chip, no neural comparison yet). We claim the route, not a billion-parameter result.</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2026-10-23T04:56:12Z</dcterms:created>
  <dcterms:modified xsi:type="dcterms:W3CDTF">2026-10-23T04:56:12Z</dcterms:modified>
</cp:coreProperties>
</file>