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a658f979-2cd4-dd1f-9c0e-24d50b844eb8}">
          <p14:sldIdLst>
            <p14:sldId id="256"/>
          </p14:sldIdLst>
        </p14:section>
        <p14:section name="Why" id="{fdeb9ace-c52e-e5af-6082-a13693f2fb13}">
          <p14:sldIdLst>
            <p14:sldId id="257"/>
            <p14:sldId id="258"/>
            <p14:sldId id="259"/>
          </p14:sldIdLst>
        </p14:section>
        <p14:section name="Results" id="{969a78f7-4b07-41b3-c8ae-8dc8b10e35c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uild" id="{d7f36791-f770-3a0b-11df-1f1bf9b0d859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Honest" id="{acc55769-b89b-b681-eec3-6b98c05ef842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Next" id="{44ac909e-992d-36ae-7815-daf137cb4e50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after learning in stages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 chip design (no stored examples)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95.6</c:v>
                </c:pt>
                <c:pt idx="1">
                  <c:v>81</c:v>
                </c:pt>
                <c:pt idx="2">
                  <c:v>87.4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in stages (MEASURED)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19.5</c:v>
                </c:pt>
                <c:pt idx="1">
                  <c:v>20</c:v>
                </c:pt>
                <c:pt idx="2">
                  <c:v>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 chip design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  <c:pt idx="3">
                    <c:v>35 words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98.45</c:v>
                </c:pt>
                <c:pt idx="1">
                  <c:v>88.93</c:v>
                </c:pt>
                <c:pt idx="2">
                  <c:v>91.18</c:v>
                </c:pt>
                <c:pt idx="3">
                  <c:v>72.4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CNN, all data at once (MEASURED)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20 classes</c:v>
                  </c:pt>
                  <c:pt idx="3">
                    <c:v>35 words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98.87</c:v>
                </c:pt>
                <c:pt idx="1">
                  <c:v>90.96</c:v>
                </c:pt>
                <c:pt idx="2">
                  <c:v>90.96</c:v>
                </c:pt>
                <c:pt idx="3">
                  <c:v>72.5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Clothing in stages, by training images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 consolidation (first design)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10,000</c:v>
                  </c:pt>
                  <c:pt idx="1">
                    <c:v>30,000</c:v>
                  </c:pt>
                  <c:pt idx="2">
                    <c:v>60,000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83.3</c:v>
                </c:pt>
                <c:pt idx="1">
                  <c:v>79.4</c:v>
                </c:pt>
                <c:pt idx="2">
                  <c:v>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Consolidation scaled with the stage size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10,000</c:v>
                  </c:pt>
                  <c:pt idx="1">
                    <c:v>30,000</c:v>
                  </c:pt>
                  <c:pt idx="2">
                    <c:v>60,000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83.3</c:v>
                </c:pt>
                <c:pt idx="1">
                  <c:v>81.2</c:v>
                </c:pt>
                <c:pt idx="2">
                  <c:v>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35 spoken words, learned in stages, white noise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design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20 dB</c:v>
                  </c:pt>
                  <c:pt idx="2">
                    <c:v>10 dB</c:v>
                  </c:pt>
                  <c:pt idx="3">
                    <c:v>5 dB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68.3</c:v>
                </c:pt>
                <c:pt idx="1">
                  <c:v>56.5</c:v>
                </c:pt>
                <c:pt idx="2">
                  <c:v>39.8</c:v>
                </c:pt>
                <c:pt idx="3">
                  <c:v>27.4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Noisy copies + second look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20 dB</c:v>
                  </c:pt>
                  <c:pt idx="2">
                    <c:v>10 dB</c:v>
                  </c:pt>
                  <c:pt idx="3">
                    <c:v>5 dB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72.4</c:v>
                </c:pt>
                <c:pt idx="1">
                  <c:v>67.3</c:v>
                </c:pt>
                <c:pt idx="2">
                  <c:v>57.6</c:v>
                </c:pt>
                <c:pt idx="3">
                  <c:v>47.2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Digits: picture + sound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Joint table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clean</c:v>
                  </c:pt>
                  <c:pt idx="1">
                    <c:v>picture 25% damaged</c:v>
                  </c:pt>
                  <c:pt idx="2">
                    <c:v>picture 50% damaged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98.3</c:v>
                </c:pt>
                <c:pt idx="1">
                  <c:v>97.5</c:v>
                </c:pt>
                <c:pt idx="2">
                  <c:v>94.6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 by confidence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clean</c:v>
                  </c:pt>
                  <c:pt idx="1">
                    <c:v>picture 25% damaged</c:v>
                  </c:pt>
                  <c:pt idx="2">
                    <c:v>picture 50% damaged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98.9</c:v>
                </c:pt>
                <c:pt idx="1">
                  <c:v>98.4</c:v>
                </c:pt>
                <c:pt idx="2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on all 10 classes, 1 example per new class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the fix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54.1</c:v>
                </c:pt>
                <c:pt idx="1">
                  <c:v>49.7</c:v>
                </c:pt>
                <c:pt idx="2">
                  <c:v>45.2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IMPRINT + short sleep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69.9</c:v>
                </c:pt>
                <c:pt idx="1">
                  <c:v>64</c:v>
                </c:pt>
                <c:pt idx="2">
                  <c:v>48.3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1A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1A3D"/>
                </a:solidFill>
                <a:latin typeface="+mn-lt"/>
              </a:rPr>
              <a:t>Accuracy after moving knowledge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Merge two chips</c:v>
                </c:pt>
              </c:strCache>
            </c:strRef>
          </c:tx>
          <c:spPr>
            <a:solidFill>
              <a:srgbClr val="8A93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93.3</c:v>
                </c:pt>
                <c:pt idx="1">
                  <c:v>81.4</c:v>
                </c:pt>
                <c:pt idx="2">
                  <c:v>64.3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Hand-over, then learn on</c:v>
                </c:pt>
              </c:strCache>
            </c:strRef>
          </c:tx>
          <c:spPr>
            <a:solidFill>
              <a:srgbClr val="2FA3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A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digits</c:v>
                  </c:pt>
                  <c:pt idx="1">
                    <c:v>clothing</c:v>
                  </c:pt>
                  <c:pt idx="2">
                    <c:v>spoken words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95.6</c:v>
                </c:pt>
                <c:pt idx="1">
                  <c:v>82.7</c:v>
                </c:pt>
                <c:pt idx="2">
                  <c:v>71.6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A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2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97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brain-principled chip that keeps learning after it ships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Lawliet  |  Navin (Kakashi), CKCET  |  PALS innoWAH! 2026-27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labelled SIMULATED, ESTIMATED or MEASURED. The chip has not run on hardware yet: say it first, then show what is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stops learning the day it ships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19.5%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digits: a small CNN that learns in 5 stages keeps only the last stage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clothing: same test, 60,000 images, same forgetting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371600"/>
            <a:ext cx="256032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5.0%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classes in 10 stages: almost everything is forgotten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 CNN we trained on the same images, one seed. Fixing forgetting today means retraining from scratch: more energy, more heat, hardware thrown away when it can no longer be updated.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today's model and GPU get wrong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frozen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is trained once in a data centre, then fixed. New data means retraining, and a network trained on new things forgets old ones. A device cannot learn on its own.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fact; forgetting measured on my GPU run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token reads everything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each word reads every weight, and attention keeps a memory that grows with the text. When one input arrives at a time, the chip waits for memory, not for maths.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fact; our own profile of a language model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GPU needs a crowd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my RTX 3050 one decision costs 69 mJ alone (batch 1) and 1.95 mJ in a batch of 1,024: 35 times worse when alone. A phone or a sensor decides one at a time.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RTX 3050 6GB laptop GPU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cooling water and hardware turnover follow from that power: this is our motivation, not something we have measured. Public figures are recalled from memory and need checking before quoting.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a brain, as a chip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66928" y="123444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89304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20700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ears turn pixels and sound into a sparse code. Detectors learn by themselves, no labels.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57200" y="184708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r"/>
          <p:cNvSpPr/>
          <p:nvPr/>
        </p:nvSpPr>
        <p:spPr>
          <a:xfrm>
            <a:off x="566928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199339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9110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by counting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191109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example is counted into a small fast table. No backpropagation, no multiplier, no matrices.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55117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ker"/>
          <p:cNvSpPr/>
          <p:nvPr/>
        </p:nvSpPr>
        <p:spPr>
          <a:xfrm>
            <a:off x="566928" y="26426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2697480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 and sleep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261518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classes are replayed from 10-bit counters, so nothing is stored. A slow table consolidates the fast one.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325526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arker"/>
          <p:cNvSpPr/>
          <p:nvPr/>
        </p:nvSpPr>
        <p:spPr>
          <a:xfrm>
            <a:off x="566928" y="334670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401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319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again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31927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unsure, a second look at a finer code; when two senses disagree, trust the more confident one.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457200" y="395935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arker"/>
          <p:cNvSpPr/>
          <p:nvPr/>
        </p:nvSpPr>
        <p:spPr>
          <a:xfrm>
            <a:off x="566928" y="40507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4105656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(optional)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0233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chip works alone. Two chips can merge what they learned by adding counts, or one hands its memory to the other. A normal network cannot do this.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learns in stages and keeps what it knew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(chip), MEASURED (CNN)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integer model of the chip, 2-5 seeds, the full test sets. Digits and clothing: 60,000 training images in 5 stages of 2 classes. 20 classes: digits plus clothing in 10 stages.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examples: none. Memory: 84 KB for images.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to a CNN trained on everything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6126480" y="1280160"/>
            <a:ext cx="2560320" cy="32918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417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vs MEASURED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78308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with a second look on a finer code (digits, clothing: 60,000 images). 20 classes: one pass, no second look. Words: the chip learned in stages and the CNN all at once.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CNN is still ahead on clothing by 2 points.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tested it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tasks: handwritten digits, clothing images, spoken digits and words. Protocols: all at once, in stages (two classes at a time), with noise, with two senses, a new class from one example, two chips merged. 3 to 5 seeds, a held-out speaker.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(integer model of the chip)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compared with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and a small network trained on the same data. The CNN was run on my RTX 3050 laptop GPU, with energy read from the GPU: that is the ruler for accuracy, time and energy.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MEASURED; chip SIMULATED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checked the design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design matches the Python model bit for bit in 41 of 41 checks. The real-cell netlist, a formal equivalence check, and a Tang Nano place and route came next. Cycles per decision come from the RTL simulation.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SIMULATED; no board yet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tested: a language model or any large model on the chip, a real board run, real-world noise, big vocabularies. The models we ran are classifiers; the CNN is only our comparison ruler.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scales: more data does not break it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6x more data and found the staged result fell. One fixed rule fixed it: follow the slow table every max(100, stage size / 30) examples. Digits: 93.4 to 95.6 at 60,000 images.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barely improves with more data (clothing 86.6 to 87.6).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hears, and noise stops hurting as much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sound to word through an integer cochlea, noise floor, word alignment and the same counting table, bit-exact in RTL. Training also on one noisy copy of each clip adds no memory.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needs 422 KB: an ASIC or external memory, not the Tang Nano.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senses help each other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2-3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 names pictures with no picture labels: 93.9 after sleep cleaning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form with no labels: 96.1 to 97.0 with 30 names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classes noticed from inside: 99% of flagged pairs are new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977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and sounds are paired by class, not real recordings of one scene.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class from one example, after shipping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in RTL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novelty-gated imprint writes the new class into the table at once, then a short sleep blends it in. Old classes stay within 1 to 5 points.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 from 1 to 5 recordings stay weak.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chips can share what they learned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943600" y="1280160"/>
            <a:ext cx="274320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3 seeds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78308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chip works alone; this is an option. Because memory is counts, two chips that learned different classes merge by adding counters, with no retraining. A trained network cannot merge this way. The board demo design reached 91.4% on all ten digits after one night (PC-side emulator).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 Cortex design in one picture</a:t>
            </a:r>
            <a:endParaRPr lang="en-US" sz="3000" dirty="0"/>
          </a:p>
        </p:txBody>
      </p:sp>
      <p:pic>
        <p:nvPicPr>
          <p:cNvPr id="3" name="Image 0" descr="Block diagram of L Cortex: sensors, retina and cochlea, sensory cortex, sparse code, fast and slow tables, dream memory, sequencer, ans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97280"/>
            <a:ext cx="6949440" cy="39410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cheap, and no multiplier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KB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for images (second look: about 2.8x)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50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fact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2984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multipliers on the $25 Tang Nano 20K (89% logic, 46/46 block RAM)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450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place and route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~74x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301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per decision than an 8-bit network, counting the operations needed (9.4 nJ vs 696 nJ)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142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900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422 KB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6301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memory: needs external memory or an ASIC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142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26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carefully: the 74x is per operation needed. The SKY130 layout estimate is 0.18 to 0.26 uJ per decision, 20 to 28x above the operation count.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Picture to answer: chip vs a real GPU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1097280"/>
                <a:gridCol w="91440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image, start to finish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Images/s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chip, encoder + decision, FPGA clock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14 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 SIMULATED; time, energy ESTIMATED (layout, measured activity)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chip, decision from the code only (pipelined)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85,174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 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encoder, 21,378 cycles, is NOT in this row;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RTX 3050 6GB Laptop GPU, batch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 to 1.8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 to 2,373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to 69 mJ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two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RTX 3050 6GB Laptop GPU, batch 1024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22,000 to 98,000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 to 1.95 mJ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two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72160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honestly: picture to answer, the chip spends 21,378 of its 22,500 cycles in the encoder, so at 27 MHz it is NOT faster than this GPU at batch 1; its advantage is energy (about 14 uJ against 12.6 to 69 mJ) and learning on the device. Chip rows are a layout estimate, no board run. The GPU range is two runs: its power state changes the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GPU uses more energy, and L less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37744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(RTX 3050 laptop)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chip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 to answer, alone (batch 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to 69 mJ  MEASURED (two runs)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14 uJ end to end (encoder 13 uJ); 9.3 nJ by operation count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GPU powers thousands of cores for one input; L touches a few table rows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image, in a crowd (batch 1024)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 to 1.95 mJ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as above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Batching helps the GPU a lot, but a device decides one at a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from 59,063 digit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1,148 J whole training run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 J (older gating assumptions, encoder added)  ESTIMATED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CNN trains for several passes (4 epochs); L counts each example once, in 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a new class later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 in a data centre (510 J in stages, and it forgets: 19.6%)  MEASURED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it in place with dreams, no retraining  SIMULATED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gradients, no weights to rewrite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A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408736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magnitude, not a final ratio: chip = layout estimate with activity measured in simulation (about 30 mW while encoding; GPU about 30 W), GPU = whole GPU, two runs. End to end the chip is about 20 to 5,000 times lower in energy. The GPU wins at big-model training and batched throughput. The board run will measure 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L instead, for this job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keeps learning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digits in five stages: chip 95.5%, a CNN 19.6% (59,063 images). The chip adds new things without erasing the old, using dreams drawn from its own counters.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SIMULATED; CNN MEASURED on my GPU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and cheap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KB of memory, no multiplier, fits a 25-dollar board. About 74 times less energy per decision than an 8-bit network, counting the operations needed.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ESTIMATED; board run will measure it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Checked, and honest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matches the model bit for bit in 41 of 41 checks; the real-cell netlist matches too. Close to a CNN when all is learned at once: 97.9 against 99.1.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E6F4EC"/>
          </a:solidFill>
          <a:ln w="12700">
            <a:solidFill>
              <a:srgbClr val="E6F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 when the job is: learn on the device, small memory, one input at a time. Keep the GPU for training and big models. We do not replace it today.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an embedded system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tight limits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KB of memory for images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multiplier: counts, compares, shifts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a Rs 4,000 FPGA (89% logic, 0 multipliers, SIMULATED place and route)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device interfaces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Camera-style 28x28 picture and 16 kHz microphone samples, encoded on the chip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byte protocol to any microcontroller or PC: learn, dream, predict, read and write memory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board's top-level design was simulated end to end: digits recognised from UART bytes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 a device needs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new classes in the field, no server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Sleeps when idle; the night ends by itself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moves between devices by adding counts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 yet: real power, latency and clock speed. They need the board run. Everything here is a design and simulation result.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bit for bit, and laid out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/ 41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checks in one full run, 0 mismatches against the integer model: core, tail memory, IMPRINT, slow table, encoders, cochlea, sound chain, two-sense chip, cue weighting, second look, threshold and novelty units, clustering, stage and night sequencer, raw senses to a whole stage, board top, host schedule.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(RTL simulation)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17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5146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left in detailed routing of the SKY130 layout (router count; 145,000 on the first pass), re-run from scratch. A layout in the open flow, not a signed-off or fabricated chip.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(open-source flow, no sign-off)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design, so you can verify it</a:t>
            </a:r>
            <a:endParaRPr lang="en-US" sz="3000" dirty="0"/>
          </a:p>
        </p:txBody>
      </p:sp>
      <p:sp>
        <p:nvSpPr>
          <p:cNvPr id="3" name="box"/>
          <p:cNvSpPr/>
          <p:nvPr/>
        </p:nvSpPr>
        <p:spPr>
          <a:xfrm>
            <a:off x="365760" y="128016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13258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 (picture)</a:t>
            </a:r>
            <a:endParaRPr lang="en-US" sz="1100" dirty="0"/>
          </a:p>
        </p:txBody>
      </p:sp>
      <p:sp>
        <p:nvSpPr>
          <p:cNvPr id="5" name="box"/>
          <p:cNvSpPr/>
          <p:nvPr/>
        </p:nvSpPr>
        <p:spPr>
          <a:xfrm>
            <a:off x="365760" y="2011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Cochlea (sound)</a:t>
            </a:r>
            <a:endParaRPr lang="en-US" sz="1100" dirty="0"/>
          </a:p>
        </p:txBody>
      </p:sp>
      <p:sp>
        <p:nvSpPr>
          <p:cNvPr id="7" name="arrow"/>
          <p:cNvSpPr/>
          <p:nvPr/>
        </p:nvSpPr>
        <p:spPr>
          <a:xfrm>
            <a:off x="1737360" y="1554480"/>
            <a:ext cx="41148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arrow"/>
          <p:cNvSpPr/>
          <p:nvPr/>
        </p:nvSpPr>
        <p:spPr>
          <a:xfrm>
            <a:off x="1737360" y="2286000"/>
            <a:ext cx="411480" cy="-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box"/>
          <p:cNvSpPr/>
          <p:nvPr/>
        </p:nvSpPr>
        <p:spPr>
          <a:xfrm>
            <a:off x="2148840" y="14630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2B3270"/>
          </a:solidFill>
          <a:ln w="12700">
            <a:solidFill>
              <a:srgbClr val="2B32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21992" y="1508760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Detectors: sparse code, learned without labels</a:t>
            </a:r>
            <a:endParaRPr lang="en-US" sz="1000" dirty="0"/>
          </a:p>
        </p:txBody>
      </p:sp>
      <p:sp>
        <p:nvSpPr>
          <p:cNvPr id="11" name="arrow"/>
          <p:cNvSpPr/>
          <p:nvPr/>
        </p:nvSpPr>
        <p:spPr>
          <a:xfrm>
            <a:off x="3703320" y="1828800"/>
            <a:ext cx="411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box"/>
          <p:cNvSpPr/>
          <p:nvPr/>
        </p:nvSpPr>
        <p:spPr>
          <a:xfrm>
            <a:off x="4114800" y="11887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5B6BD6"/>
          </a:solidFill>
          <a:ln w="12700">
            <a:solidFill>
              <a:srgbClr val="5B6B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7952" y="1234440"/>
            <a:ext cx="22311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fast 5-bit table, dream counters (10-bit), slow table; counts, compares, shifts; no multiplier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6492240" y="1828800"/>
            <a:ext cx="41148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box"/>
          <p:cNvSpPr/>
          <p:nvPr/>
        </p:nvSpPr>
        <p:spPr>
          <a:xfrm>
            <a:off x="6903720" y="146304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2FA37A"/>
          </a:solidFill>
          <a:ln w="12700">
            <a:solidFill>
              <a:srgbClr val="2FA3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76872" y="150876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(XNOR + popcount)</a:t>
            </a:r>
            <a:endParaRPr lang="en-US" sz="1100" dirty="0"/>
          </a:p>
        </p:txBody>
      </p:sp>
      <p:sp>
        <p:nvSpPr>
          <p:cNvPr id="17" name="box"/>
          <p:cNvSpPr/>
          <p:nvPr/>
        </p:nvSpPr>
        <p:spPr>
          <a:xfrm>
            <a:off x="36576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891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look (finer code)</a:t>
            </a:r>
            <a:endParaRPr lang="en-US" sz="1000" dirty="0"/>
          </a:p>
        </p:txBody>
      </p:sp>
      <p:sp>
        <p:nvSpPr>
          <p:cNvPr id="19" name="box"/>
          <p:cNvSpPr/>
          <p:nvPr/>
        </p:nvSpPr>
        <p:spPr>
          <a:xfrm>
            <a:off x="237744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memory (sleep)</a:t>
            </a:r>
            <a:endParaRPr lang="en-US" sz="1000" dirty="0"/>
          </a:p>
        </p:txBody>
      </p:sp>
      <p:sp>
        <p:nvSpPr>
          <p:cNvPr id="21" name="box"/>
          <p:cNvSpPr/>
          <p:nvPr/>
        </p:nvSpPr>
        <p:spPr>
          <a:xfrm>
            <a:off x="4389120" y="2926080"/>
            <a:ext cx="192024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62272" y="2971800"/>
            <a:ext cx="1773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weighting (2 senses)</a:t>
            </a:r>
            <a:endParaRPr lang="en-US" sz="1000" dirty="0"/>
          </a:p>
        </p:txBody>
      </p:sp>
      <p:sp>
        <p:nvSpPr>
          <p:cNvPr id="23" name="box"/>
          <p:cNvSpPr/>
          <p:nvPr/>
        </p:nvSpPr>
        <p:spPr>
          <a:xfrm>
            <a:off x="640080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3952" y="2971800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novelty, grouping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On-chip units added after the core, each checked bit for bit</a:t>
            </a:r>
            <a:endParaRPr lang="en-US" sz="1000" dirty="0"/>
          </a:p>
        </p:txBody>
      </p:sp>
      <p:sp>
        <p:nvSpPr>
          <p:cNvPr id="26" name="card"/>
          <p:cNvSpPr/>
          <p:nvPr/>
        </p:nvSpPr>
        <p:spPr>
          <a:xfrm>
            <a:off x="365760" y="3611880"/>
            <a:ext cx="83210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3703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every unit has a Verilog file, a testbench and a script that compares the RTL with the integer model (0 mismatches). One command, sh hw/run_all_checks.sh, reruns all checks. The repository and all logs are available to reviewers on request. Everything shown is SIMULATED; nothing is measured on hardware yet.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solves, and what it does not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solves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AI on devices that must keep learning: no retraining on a server, no hardware thrown away to update it (SIMULATED)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stored examples, 84 KB of memory for images, no multiplier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74x less energy per decision than an 8-bit network, counting operations needed (ESTIMATED)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 does not solve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large language models and image generators: GPU and memory prices, data-centre heat and water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run existing models (CNNs, transformers, LLMs): it is a dedicated chip for its own brain-style model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measured on hardware yet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model must change, not just the chip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chip alone cannot fix 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faster chip for a standard transformer is a GPU or a TPU, and those already exist, with far more money behind them. The waste is in the model: dense maths on every weight for every word.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from public facts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must change in the model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constant-size state instead of an attention memory that grows with the text. Sparse activity, so only a few rows are touched. Low-bit or counting weights. Local learning by counting, because backpropagation needs gradients and a lot of memory.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 design rules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So: design them together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an existing model to these rules, or design a new one with them, and build the chip for exactly that. Model and chip designed together: that is the L bet. Without the model change we would only be a weaker GPU.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 hypothesis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status: the small version works (L Cortex, classifiers). A first test of a counting language model is in (next slide); a neural comparison and the chip mapping are not done.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real AI models can run on L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 an existing model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weights (-1, 0, +1) turn multiplies into adds; published work runs language models of billions of parameters this way. Table and event-driven forms drop the multiplier too. Cost: some accuracy.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research, verify; ternary is still a matrix of adds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our own model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counting language model: hash the recent characters or words into a sparse code, a table of counters predicts the next one, a bit at a time. No multiplier, no matrix, and it learns on the device.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SIMULATED: 4.8 to 1.8 bits per character as memory grows 8 KB to 8 MB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memory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tables live in outside DRAM. Sparse lookups touch only a few rows per word, so bandwidth stays small. Simulated: quality grows with table size. Next: a board with DRAM.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566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ESTIMATED; a hypothesis with tests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1422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result: a counting language model learned English text online in one pass (SIMULATED algorithm test, not on the chip, no neural comparison yet). We claim the route, not a billion-parameter result.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hypothesis we will test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(not a result)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brain-style model with constant-size state, sparse event-driven activity and low-bit weights, on a chip built for it, needs far less memory traffic and energy per token than a transformer on a GPU at the same quality, and so less scarce HBM, heat and water.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57200" y="2651760"/>
            <a:ext cx="402336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"/>
          <p:cNvSpPr/>
          <p:nvPr/>
        </p:nvSpPr>
        <p:spPr>
          <a:xfrm>
            <a:off x="4663440" y="2651760"/>
            <a:ext cx="402336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model comes first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08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come from the model's state size, sparsity and low-bit weights. A chip can only exploit them, not create them. L Cortex proves the principles at small scale only.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falsified if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10896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loses its quality edge at larger sizes or when matrix-free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fused GPU version gets within about 3x of the simulated chip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chip with the same memory matches its energy per token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level, and where it is weaker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measured on hardware yet: every chip number is simulated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clothing about 82%, 5 points below its one pass; many ideas tried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CNN is ahead by about 2 points on clothing when all data is available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tests: digits, clothing, 20 classes, up to 35 words; noise is simulated; two-sense data is paired by class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look costs about 2.8x memory; a few steps still run on the host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first, and clear about what is new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exists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Hyperdimensional-computing accelerators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Loihi 2, TrueNorth, SpiNNaker (event-driven spiking chips)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Replay-based continual learning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Dreams from 10-bit counters, no stored examples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 that ends by itself; consolidation that scales with the data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multiplier or matrix, bit-exact from raw senses to decision, with grouping and thresholds on the chip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94360" y="15087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RTL with every check passing, second look, tail memory, on-chip thresholds and grouping, scale tests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256032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r"/>
          <p:cNvSpPr/>
          <p:nvPr/>
        </p:nvSpPr>
        <p:spPr>
          <a:xfrm>
            <a:off x="2697480" y="1508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the real Tang Nano: the first MEASURED numbers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466344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ker"/>
          <p:cNvSpPr/>
          <p:nvPr/>
        </p:nvSpPr>
        <p:spPr>
          <a:xfrm>
            <a:off x="4800600" y="15087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tests: larger vocabulary, real recorded noise, a harder image set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6766560" y="1371600"/>
            <a:ext cx="1965960" cy="26517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arker"/>
          <p:cNvSpPr/>
          <p:nvPr/>
        </p:nvSpPr>
        <p:spPr>
          <a:xfrm>
            <a:off x="6903720" y="150876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600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56032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Matrix-free chip for the L language model; ASIC memory for sound and the second look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Horizon: a provable result within 6 to 8 months, then shrink and attract investors. No fabrication is planned yet.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 toward the bigger problem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1: the L chip (hardware)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verified in simulation, bit-exact RTL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run on the Tang Nano for the first MEASURED numbers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harder tests, external memory for sound and the second look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2: the L AI model (later)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288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measure the model: firing rates, ablations, seeds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fused GPU baseline; stop if a GPU is already close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3: matrix-free version keeps its quality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simulator and FPGA; study memory: can constant-size state and event-driven reads move work from scarce HBM to cheaper DRAM or SRAM? (a question, not a claim)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the language-model track has small-scale evidence only (9M parameters).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Silicon, node and size: the honest plan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252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 / access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12527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ESTIMATED</a:t>
            </a:r>
            <a:endParaRPr lang="en-US" sz="1000" dirty="0"/>
          </a:p>
        </p:txBody>
      </p:sp>
      <p:sp>
        <p:nvSpPr>
          <p:cNvPr id="7" name="card"/>
          <p:cNvSpPr/>
          <p:nvPr/>
        </p:nvSpPr>
        <p:spPr>
          <a:xfrm>
            <a:off x="457200" y="1755648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nm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81965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PDK (SKY130); prototype only, not comparable to a GPU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181965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flow; shuttle ~$10k-50k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457200" y="2322576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28-65 nm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38658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mature; via a university or Europractice-style programme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38658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shuttle ~$50k-300k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2889504"/>
            <a:ext cx="5212080" cy="493776"/>
          </a:xfrm>
          <a:prstGeom prst="roundRect">
            <a:avLst>
              <a:gd name="adj" fmla="val 185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9809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nm class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9535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data-centre GPUs (TSMC 4N, die up to ~814 mm2)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29535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 ~$17k; design tens of $M</a:t>
            </a:r>
            <a:endParaRPr lang="en-US" sz="1000" dirty="0"/>
          </a:p>
        </p:txBody>
      </p:sp>
      <p:sp>
        <p:nvSpPr>
          <p:cNvPr id="19" name="card"/>
          <p:cNvSpPr/>
          <p:nvPr/>
        </p:nvSpPr>
        <p:spPr>
          <a:xfrm>
            <a:off x="5852160" y="1188720"/>
            <a:ext cx="28346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Material: silicon CMOS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16459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practical choice for dense logic: mature, high yield, full tools. Limits: cost at advanced nodes, heat, SRAM not shrinking as fast, supply concentrated in few fabs. GaN, SiC, 2D materials and memristors are not ready for dense logic; non-volatile memory is a later option.</a:t>
            </a:r>
            <a:endParaRPr lang="en-US" sz="1000" dirty="0"/>
          </a:p>
        </p:txBody>
      </p:sp>
      <p:sp>
        <p:nvSpPr>
          <p:cNvPr id="22" name="card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4DD"/>
          </a:solidFill>
          <a:ln w="12700">
            <a:solidFill>
              <a:srgbClr val="FFF4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write the design node-agnostic; compare energy against GPUs at a GPU-class node using published scaling (ESTIMATED, uncertain); prove it on an FPGA; tape out at an accessible mature node when funded. A 5 nm-class chip needs tens of millions of dollars and foundry access we do not have: say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to go further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"/>
          <p:cNvSpPr/>
          <p:nvPr/>
        </p:nvSpPr>
        <p:spPr>
          <a:xfrm>
            <a:off x="566928" y="13075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7160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board run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24358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 Nano 20K, about Rs 4,200 incl. GST (listing price + 18%, MODELLED)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243584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bit-exact with simulation, accuracy and power measured</a:t>
            </a:r>
            <a:endParaRPr lang="en-US" sz="1000" dirty="0"/>
          </a:p>
        </p:txBody>
      </p:sp>
      <p:sp>
        <p:nvSpPr>
          <p:cNvPr id="9" name="card"/>
          <p:cNvSpPr/>
          <p:nvPr/>
        </p:nvSpPr>
        <p:spPr>
          <a:xfrm>
            <a:off x="457200" y="1975104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arker"/>
          <p:cNvSpPr/>
          <p:nvPr/>
        </p:nvSpPr>
        <p:spPr>
          <a:xfrm>
            <a:off x="566928" y="2093976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15798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0482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Micro-chip on a shared shuttle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02996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$100-300 per tile, 130 nm (ESTIMATED)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02996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the verified on-chip units run in real silicon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2761488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marker"/>
          <p:cNvSpPr/>
          <p:nvPr/>
        </p:nvSpPr>
        <p:spPr>
          <a:xfrm>
            <a:off x="566928" y="288036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94436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chip at a mature node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281635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shuttle $50k-300k, 28-65 nm (ESTIMATED), with a university or programme partner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8163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measured energy within 2x of the FPGA-calibrated model</a:t>
            </a:r>
            <a:endParaRPr lang="en-US" sz="1000" dirty="0"/>
          </a:p>
        </p:txBody>
      </p:sp>
      <p:sp>
        <p:nvSpPr>
          <p:cNvPr id="21" name="card"/>
          <p:cNvSpPr/>
          <p:nvPr/>
        </p:nvSpPr>
        <p:spPr>
          <a:xfrm>
            <a:off x="457200" y="3547872"/>
            <a:ext cx="8229600" cy="694944"/>
          </a:xfrm>
          <a:prstGeom prst="roundRect">
            <a:avLst>
              <a:gd name="adj" fmla="val 1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marker"/>
          <p:cNvSpPr/>
          <p:nvPr/>
        </p:nvSpPr>
        <p:spPr>
          <a:xfrm>
            <a:off x="566928" y="3666744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73075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62102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GPU-class node (5 nm class)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360273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millions of dollars: not requested now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3602736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steps 1-3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welcome: a university or programme partner for shuttle access, a mentor, and compute credits for the language-model gates. Prices are estimates from public information: verify before committing.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chip that keeps learning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learns in the field, keeps what it knew, shares what it learned, and needs no multiplier. It is weaker than a trained network in some places, and we have said where.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">
  <a:themeElements>
    <a:clrScheme name="L">
      <a:dk1>
        <a:srgbClr val="151A3D"/>
      </a:dk1>
      <a:lt1>
        <a:srgbClr val="FFFFFF"/>
      </a:lt1>
      <a:dk2>
        <a:srgbClr val="2B3270"/>
      </a:dk2>
      <a:lt2>
        <a:srgbClr val="EEF0FA"/>
      </a:lt2>
      <a:accent1>
        <a:srgbClr val="F2A93B"/>
      </a:accent1>
      <a:accent2>
        <a:srgbClr val="5B6BD6"/>
      </a:accent2>
      <a:accent3>
        <a:srgbClr val="2FA37A"/>
      </a:accent3>
      <a:accent4>
        <a:srgbClr val="D9534F"/>
      </a:accent4>
      <a:accent5>
        <a:srgbClr val="8A93C9"/>
      </a:accent5>
      <a:accent6>
        <a:srgbClr val="6B7280"/>
      </a:accent6>
      <a:hlink>
        <a:srgbClr val="5B6BD6"/>
      </a:hlink>
      <a:folHlink>
        <a:srgbClr val="8A93C9"/>
      </a:folHlink>
    </a:clrScheme>
    <a:fontScheme name="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</dc:title>
  <dc:subject>PptxGenJS Presentation</dc:subject>
  <dc:creator>L Lawliet (Navin), CKCET</dc:creator>
  <cp:lastModifiedBy>L Lawliet (Navin), CKCET</cp:lastModifiedBy>
  <cp:revision>1</cp:revision>
  <dcterms:created xsi:type="dcterms:W3CDTF">2026-10-23T05:46:50Z</dcterms:created>
  <dcterms:modified xsi:type="dcterms:W3CDTF">2026-10-23T05:46:50Z</dcterms:modified>
</cp:coreProperties>
</file>