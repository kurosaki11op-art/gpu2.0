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018e7294-8959-19e6-4870-a4a6247a35c8}">
          <p14:sldIdLst>
            <p14:sldId id="256"/>
          </p14:sldIdLst>
        </p14:section>
        <p14:section name="Why" id="{2101627f-81fd-ef1d-f9e9-f4106ec0aebc}">
          <p14:sldIdLst>
            <p14:sldId id="257"/>
            <p14:sldId id="258"/>
            <p14:sldId id="259"/>
          </p14:sldIdLst>
        </p14:section>
        <p14:section name="Results" id="{35245809-108a-730b-3d2d-9b4c50b7fd2e}">
          <p14:sldIdLst>
            <p14:sldId id="260"/>
            <p14:sldId id="261"/>
            <p14:sldId id="262"/>
            <p14:sldId id="263"/>
            <p14:sldId id="264"/>
            <p14:sldId id="265"/>
            <p14:sldId id="266"/>
            <p14:sldId id="267"/>
            <p14:sldId id="268"/>
          </p14:sldIdLst>
        </p14:section>
        <p14:section name="Build" id="{5c731dda-0616-2e4a-bf74-773cd9786abf}">
          <p14:sldIdLst>
            <p14:sldId id="269"/>
            <p14:sldId id="270"/>
            <p14:sldId id="271"/>
            <p14:sldId id="272"/>
            <p14:sldId id="273"/>
            <p14:sldId id="274"/>
            <p14:sldId id="275"/>
          </p14:sldIdLst>
        </p14:section>
        <p14:section name="Honest" id="{e1d24628-768b-952b-1bb3-d0ccf94c12d6}">
          <p14:sldIdLst>
            <p14:sldId id="276"/>
            <p14:sldId id="277"/>
            <p14:sldId id="278"/>
            <p14:sldId id="279"/>
            <p14:sldId id="280"/>
            <p14:sldId id="281"/>
          </p14:sldIdLst>
        </p14:section>
        <p14:section name="Next" id="{eeed35f6-5a93-4c17-f06c-adf3a5d9d287}">
          <p14:sldIdLst>
            <p14:sldId id="282"/>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learning in stages (%)</a:t>
            </a:r>
          </a:p>
        </c:rich>
      </c:tx>
      <c:layout/>
      <c:overlay val="0"/>
    </c:title>
    <c:autoTitleDeleted val="0"/>
    <c:plotArea>
      <c:layout/>
      <c:barChart>
        <c:barDir val="col"/>
        <c:grouping val="clustered"/>
        <c:varyColors val="0"/>
        <c:ser>
          <c:idx val="0"/>
          <c:order val="0"/>
          <c:tx>
            <c:strRef>
              <c:f>Sheet1!$B$1</c:f>
              <c:strCache>
                <c:ptCount val="1"/>
                <c:pt idx="0">
                  <c:v>L chip design (no stored examples)</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20 classes</c:v>
                  </c:pt>
                </c:lvl>
              </c:multiLvlStrCache>
            </c:multiLvlStrRef>
          </c:cat>
          <c:val>
            <c:numRef>
              <c:f>Sheet1!$B$2:$B$4</c:f>
              <c:numCache>
                <c:formatCode>General</c:formatCode>
                <c:ptCount val="3"/>
                <c:pt idx="0">
                  <c:v>95.6</c:v>
                </c:pt>
                <c:pt idx="1">
                  <c:v>81</c:v>
                </c:pt>
                <c:pt idx="2">
                  <c:v>87.4</c:v>
                </c:pt>
              </c:numCache>
            </c:numRef>
          </c:val>
        </c:ser>
        <c:ser>
          <c:idx val="1"/>
          <c:order val="1"/>
          <c:tx>
            <c:strRef>
              <c:f>Sheet1!$C$1</c:f>
              <c:strCache>
                <c:ptCount val="1"/>
                <c:pt idx="0">
                  <c:v>CNN in stages (MEASURED)</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20 classes</c:v>
                  </c:pt>
                </c:lvl>
              </c:multiLvlStrCache>
            </c:multiLvlStrRef>
          </c:cat>
          <c:val>
            <c:numRef>
              <c:f>Sheet1!$C$2:$C$4</c:f>
              <c:numCache>
                <c:formatCode>General</c:formatCode>
                <c:ptCount val="3"/>
                <c:pt idx="0">
                  <c:v>19.5</c:v>
                </c:pt>
                <c:pt idx="1">
                  <c:v>20</c:v>
                </c:pt>
                <c:pt idx="2">
                  <c:v>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t>
            </a:r>
          </a:p>
        </c:rich>
      </c:tx>
      <c:layout/>
      <c:overlay val="0"/>
    </c:title>
    <c:autoTitleDeleted val="0"/>
    <c:plotArea>
      <c:layout/>
      <c:barChart>
        <c:barDir val="col"/>
        <c:grouping val="clustered"/>
        <c:varyColors val="0"/>
        <c:ser>
          <c:idx val="0"/>
          <c:order val="0"/>
          <c:tx>
            <c:strRef>
              <c:f>Sheet1!$B$1</c:f>
              <c:strCache>
                <c:ptCount val="1"/>
                <c:pt idx="0">
                  <c:v>L chip design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digits</c:v>
                  </c:pt>
                  <c:pt idx="1">
                    <c:v>clothing</c:v>
                  </c:pt>
                  <c:pt idx="2">
                    <c:v>20 classes</c:v>
                  </c:pt>
                  <c:pt idx="3">
                    <c:v>35 words</c:v>
                  </c:pt>
                </c:lvl>
              </c:multiLvlStrCache>
            </c:multiLvlStrRef>
          </c:cat>
          <c:val>
            <c:numRef>
              <c:f>Sheet1!$B$2:$B$5</c:f>
              <c:numCache>
                <c:formatCode>General</c:formatCode>
                <c:ptCount val="4"/>
                <c:pt idx="0">
                  <c:v>98.45</c:v>
                </c:pt>
                <c:pt idx="1">
                  <c:v>88.93</c:v>
                </c:pt>
                <c:pt idx="2">
                  <c:v>91.18</c:v>
                </c:pt>
                <c:pt idx="3">
                  <c:v>72.4</c:v>
                </c:pt>
              </c:numCache>
            </c:numRef>
          </c:val>
        </c:ser>
        <c:ser>
          <c:idx val="1"/>
          <c:order val="1"/>
          <c:tx>
            <c:strRef>
              <c:f>Sheet1!$C$1</c:f>
              <c:strCache>
                <c:ptCount val="1"/>
                <c:pt idx="0">
                  <c:v>CNN, all data at once (MEASURED)</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digits</c:v>
                  </c:pt>
                  <c:pt idx="1">
                    <c:v>clothing</c:v>
                  </c:pt>
                  <c:pt idx="2">
                    <c:v>20 classes</c:v>
                  </c:pt>
                  <c:pt idx="3">
                    <c:v>35 words</c:v>
                  </c:pt>
                </c:lvl>
              </c:multiLvlStrCache>
            </c:multiLvlStrRef>
          </c:cat>
          <c:val>
            <c:numRef>
              <c:f>Sheet1!$C$2:$C$5</c:f>
              <c:numCache>
                <c:formatCode>General</c:formatCode>
                <c:ptCount val="4"/>
                <c:pt idx="0">
                  <c:v>98.87</c:v>
                </c:pt>
                <c:pt idx="1">
                  <c:v>90.96</c:v>
                </c:pt>
                <c:pt idx="2">
                  <c:v>90.96</c:v>
                </c:pt>
                <c:pt idx="3">
                  <c:v>72.5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Clothing in stages, by training images (%)</a:t>
            </a:r>
          </a:p>
        </c:rich>
      </c:tx>
      <c:layout/>
      <c:overlay val="0"/>
    </c:title>
    <c:autoTitleDeleted val="0"/>
    <c:plotArea>
      <c:layout/>
      <c:barChart>
        <c:barDir val="col"/>
        <c:grouping val="clustered"/>
        <c:varyColors val="0"/>
        <c:ser>
          <c:idx val="0"/>
          <c:order val="0"/>
          <c:tx>
            <c:strRef>
              <c:f>Sheet1!$B$1</c:f>
              <c:strCache>
                <c:ptCount val="1"/>
                <c:pt idx="0">
                  <c:v>Fixed consolidation (first design)</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10,000</c:v>
                  </c:pt>
                  <c:pt idx="1">
                    <c:v>30,000</c:v>
                  </c:pt>
                  <c:pt idx="2">
                    <c:v>60,000</c:v>
                  </c:pt>
                </c:lvl>
              </c:multiLvlStrCache>
            </c:multiLvlStrRef>
          </c:cat>
          <c:val>
            <c:numRef>
              <c:f>Sheet1!$B$2:$B$4</c:f>
              <c:numCache>
                <c:formatCode>General</c:formatCode>
                <c:ptCount val="3"/>
                <c:pt idx="0">
                  <c:v>83.3</c:v>
                </c:pt>
                <c:pt idx="1">
                  <c:v>79.4</c:v>
                </c:pt>
                <c:pt idx="2">
                  <c:v>78</c:v>
                </c:pt>
              </c:numCache>
            </c:numRef>
          </c:val>
        </c:ser>
        <c:ser>
          <c:idx val="1"/>
          <c:order val="1"/>
          <c:tx>
            <c:strRef>
              <c:f>Sheet1!$C$1</c:f>
              <c:strCache>
                <c:ptCount val="1"/>
                <c:pt idx="0">
                  <c:v>Consolidation scaled with the stage size</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10,000</c:v>
                  </c:pt>
                  <c:pt idx="1">
                    <c:v>30,000</c:v>
                  </c:pt>
                  <c:pt idx="2">
                    <c:v>60,000</c:v>
                  </c:pt>
                </c:lvl>
              </c:multiLvlStrCache>
            </c:multiLvlStrRef>
          </c:cat>
          <c:val>
            <c:numRef>
              <c:f>Sheet1!$C$2:$C$4</c:f>
              <c:numCache>
                <c:formatCode>General</c:formatCode>
                <c:ptCount val="3"/>
                <c:pt idx="0">
                  <c:v>83.3</c:v>
                </c:pt>
                <c:pt idx="1">
                  <c:v>81.2</c:v>
                </c:pt>
                <c:pt idx="2">
                  <c:v>81</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35 spoken words, learned in stages, white noise (%)</a:t>
            </a:r>
          </a:p>
        </c:rich>
      </c:tx>
      <c:layout/>
      <c:overlay val="0"/>
    </c:title>
    <c:autoTitleDeleted val="0"/>
    <c:plotArea>
      <c:layout/>
      <c:barChart>
        <c:barDir val="col"/>
        <c:grouping val="clustered"/>
        <c:varyColors val="0"/>
        <c:ser>
          <c:idx val="0"/>
          <c:order val="0"/>
          <c:tx>
            <c:strRef>
              <c:f>Sheet1!$B$1</c:f>
              <c:strCache>
                <c:ptCount val="1"/>
                <c:pt idx="0">
                  <c:v>First design</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Sheet1!$B$2:$B$5</c:f>
              <c:numCache>
                <c:formatCode>General</c:formatCode>
                <c:ptCount val="4"/>
                <c:pt idx="0">
                  <c:v>68.3</c:v>
                </c:pt>
                <c:pt idx="1">
                  <c:v>56.5</c:v>
                </c:pt>
                <c:pt idx="2">
                  <c:v>39.8</c:v>
                </c:pt>
                <c:pt idx="3">
                  <c:v>27.4</c:v>
                </c:pt>
              </c:numCache>
            </c:numRef>
          </c:val>
        </c:ser>
        <c:ser>
          <c:idx val="1"/>
          <c:order val="1"/>
          <c:tx>
            <c:strRef>
              <c:f>Sheet1!$C$1</c:f>
              <c:strCache>
                <c:ptCount val="1"/>
                <c:pt idx="0">
                  <c:v>Noisy copies + second look</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Sheet1!$C$2:$C$5</c:f>
              <c:numCache>
                <c:formatCode>General</c:formatCode>
                <c:ptCount val="4"/>
                <c:pt idx="0">
                  <c:v>72.4</c:v>
                </c:pt>
                <c:pt idx="1">
                  <c:v>67.3</c:v>
                </c:pt>
                <c:pt idx="2">
                  <c:v>57.6</c:v>
                </c:pt>
                <c:pt idx="3">
                  <c:v>47.2</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Digits: picture + sound (%)</a:t>
            </a:r>
          </a:p>
        </c:rich>
      </c:tx>
      <c:layout/>
      <c:overlay val="0"/>
    </c:title>
    <c:autoTitleDeleted val="0"/>
    <c:plotArea>
      <c:layout/>
      <c:barChart>
        <c:barDir val="col"/>
        <c:grouping val="clustered"/>
        <c:varyColors val="0"/>
        <c:ser>
          <c:idx val="0"/>
          <c:order val="0"/>
          <c:tx>
            <c:strRef>
              <c:f>Sheet1!$B$1</c:f>
              <c:strCache>
                <c:ptCount val="1"/>
                <c:pt idx="0">
                  <c:v>Joint table</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clean</c:v>
                  </c:pt>
                  <c:pt idx="1">
                    <c:v>picture 25% damaged</c:v>
                  </c:pt>
                  <c:pt idx="2">
                    <c:v>picture 50% damaged</c:v>
                  </c:pt>
                </c:lvl>
              </c:multiLvlStrCache>
            </c:multiLvlStrRef>
          </c:cat>
          <c:val>
            <c:numRef>
              <c:f>Sheet1!$B$2:$B$4</c:f>
              <c:numCache>
                <c:formatCode>General</c:formatCode>
                <c:ptCount val="3"/>
                <c:pt idx="0">
                  <c:v>98.3</c:v>
                </c:pt>
                <c:pt idx="1">
                  <c:v>97.5</c:v>
                </c:pt>
                <c:pt idx="2">
                  <c:v>94.6</c:v>
                </c:pt>
              </c:numCache>
            </c:numRef>
          </c:val>
        </c:ser>
        <c:ser>
          <c:idx val="1"/>
          <c:order val="1"/>
          <c:tx>
            <c:strRef>
              <c:f>Sheet1!$C$1</c:f>
              <c:strCache>
                <c:ptCount val="1"/>
                <c:pt idx="0">
                  <c:v>Weighted by confidence</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clean</c:v>
                  </c:pt>
                  <c:pt idx="1">
                    <c:v>picture 25% damaged</c:v>
                  </c:pt>
                  <c:pt idx="2">
                    <c:v>picture 50% damaged</c:v>
                  </c:pt>
                </c:lvl>
              </c:multiLvlStrCache>
            </c:multiLvlStrRef>
          </c:cat>
          <c:val>
            <c:numRef>
              <c:f>Sheet1!$C$2:$C$4</c:f>
              <c:numCache>
                <c:formatCode>General</c:formatCode>
                <c:ptCount val="3"/>
                <c:pt idx="0">
                  <c:v>98.9</c:v>
                </c:pt>
                <c:pt idx="1">
                  <c:v>98.4</c:v>
                </c:pt>
                <c:pt idx="2">
                  <c:v>96.2</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on all 10 classes, 1 example per new class (%)</a:t>
            </a:r>
          </a:p>
        </c:rich>
      </c:tx>
      <c:layout/>
      <c:overlay val="0"/>
    </c:title>
    <c:autoTitleDeleted val="0"/>
    <c:plotArea>
      <c:layout/>
      <c:barChart>
        <c:barDir val="col"/>
        <c:grouping val="clustered"/>
        <c:varyColors val="0"/>
        <c:ser>
          <c:idx val="0"/>
          <c:order val="0"/>
          <c:tx>
            <c:strRef>
              <c:f>Sheet1!$B$1</c:f>
              <c:strCache>
                <c:ptCount val="1"/>
                <c:pt idx="0">
                  <c:v>Before the fix</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54.1</c:v>
                </c:pt>
                <c:pt idx="1">
                  <c:v>49.7</c:v>
                </c:pt>
                <c:pt idx="2">
                  <c:v>45.2</c:v>
                </c:pt>
              </c:numCache>
            </c:numRef>
          </c:val>
        </c:ser>
        <c:ser>
          <c:idx val="1"/>
          <c:order val="1"/>
          <c:tx>
            <c:strRef>
              <c:f>Sheet1!$C$1</c:f>
              <c:strCache>
                <c:ptCount val="1"/>
                <c:pt idx="0">
                  <c:v>With IMPRINT + short sleep</c:v>
                </c:pt>
              </c:strCache>
            </c:strRef>
          </c:tx>
          <c:spPr>
            <a:solidFill>
              <a:srgbClr val="F2A93B"/>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69.9</c:v>
                </c:pt>
                <c:pt idx="1">
                  <c:v>64</c:v>
                </c:pt>
                <c:pt idx="2">
                  <c:v>48.3</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moving knowledge (%)</a:t>
            </a:r>
          </a:p>
        </c:rich>
      </c:tx>
      <c:layout/>
      <c:overlay val="0"/>
    </c:title>
    <c:autoTitleDeleted val="0"/>
    <c:plotArea>
      <c:layout/>
      <c:barChart>
        <c:barDir val="col"/>
        <c:grouping val="clustered"/>
        <c:varyColors val="0"/>
        <c:ser>
          <c:idx val="0"/>
          <c:order val="0"/>
          <c:tx>
            <c:strRef>
              <c:f>Sheet1!$B$1</c:f>
              <c:strCache>
                <c:ptCount val="1"/>
                <c:pt idx="0">
                  <c:v>Merge two chips</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93.3</c:v>
                </c:pt>
                <c:pt idx="1">
                  <c:v>81.4</c:v>
                </c:pt>
                <c:pt idx="2">
                  <c:v>64.3</c:v>
                </c:pt>
              </c:numCache>
            </c:numRef>
          </c:val>
        </c:ser>
        <c:ser>
          <c:idx val="1"/>
          <c:order val="1"/>
          <c:tx>
            <c:strRef>
              <c:f>Sheet1!$C$1</c:f>
              <c:strCache>
                <c:ptCount val="1"/>
                <c:pt idx="0">
                  <c:v>Hand-over, then learn on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95.6</c:v>
                </c:pt>
                <c:pt idx="1">
                  <c:v>82.7</c:v>
                </c:pt>
                <c:pt idx="2">
                  <c:v>71.6</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L</a:t>
            </a:r>
            <a:endParaRPr lang="en-US" sz="4000" dirty="0"/>
          </a:p>
        </p:txBody>
      </p:sp>
      <p:sp>
        <p:nvSpPr>
          <p:cNvPr id="3" name="Text 1"/>
          <p:cNvSpPr txBox="1"/>
          <p:nvPr/>
        </p:nvSpPr>
        <p:spPr>
          <a:xfrm>
            <a:off x="548640" y="2697480"/>
            <a:ext cx="8046720" cy="457200"/>
          </a:xfrm>
          <a:prstGeom prst="rect">
            <a:avLst/>
          </a:prstGeom>
          <a:noFill/>
          <a:ln/>
        </p:spPr>
        <p:txBody>
          <a:bodyPr wrap="square" lIns="0" tIns="0" rIns="0" bIns="0" rtlCol="0" anchor="t"/>
          <a:lstStyle/>
          <a:p>
            <a:pPr indent="0" marL="0">
              <a:buNone/>
            </a:pPr>
            <a:r>
              <a:rPr lang="en-US" sz="2200" i="1" dirty="0">
                <a:solidFill>
                  <a:schemeClr val="accent1"/>
                </a:solidFill>
                <a:latin typeface="Calibri" pitchFamily="34" charset="0"/>
                <a:ea typeface="Calibri" pitchFamily="34" charset="-122"/>
                <a:cs typeface="Calibri" pitchFamily="34" charset="-120"/>
              </a:rPr>
              <a:t>A brain-principled chip that keeps learning after it ships</a:t>
            </a:r>
            <a:endParaRPr lang="en-US" sz="22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L Lawliet  |  Navin (Kakashi), CKCET  |  PALS innoWAH! 2026-27</a:t>
            </a:r>
            <a:endParaRPr lang="en-US" sz="1400" dirty="0"/>
          </a:p>
        </p:txBody>
      </p:sp>
      <p:sp>
        <p:nvSpPr>
          <p:cNvPr id="5" name="Text 3"/>
          <p:cNvSpPr txBox="1"/>
          <p:nvPr/>
        </p:nvSpPr>
        <p:spPr>
          <a:xfrm>
            <a:off x="548640" y="4389120"/>
            <a:ext cx="8046720" cy="36576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Every number is labelled SIMULATED, ESTIMATED or MEASURED. The chip has not run on hardware yet: say it first, then show what is verified.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AI stops learning the day it ships</a:t>
            </a:r>
            <a:endParaRPr lang="en-US" sz="3000" dirty="0"/>
          </a:p>
        </p:txBody>
      </p:sp>
      <p:sp>
        <p:nvSpPr>
          <p:cNvPr id="3" name="card"/>
          <p:cNvSpPr/>
          <p:nvPr/>
        </p:nvSpPr>
        <p:spPr>
          <a:xfrm>
            <a:off x="457200" y="1371600"/>
            <a:ext cx="2560320" cy="2103120"/>
          </a:xfrm>
          <a:prstGeom prst="roundRect">
            <a:avLst>
              <a:gd name="adj" fmla="val 4348"/>
            </a:avLst>
          </a:prstGeom>
          <a:solidFill>
            <a:schemeClr val="bg2"/>
          </a:solidFill>
          <a:ln w="12700">
            <a:solidFill>
              <a:schemeClr val="bg2"/>
            </a:solidFill>
            <a:prstDash val="solid"/>
          </a:ln>
        </p:spPr>
      </p:sp>
      <p:sp>
        <p:nvSpPr>
          <p:cNvPr id="4" name="Text 2"/>
          <p:cNvSpPr txBox="1"/>
          <p:nvPr/>
        </p:nvSpPr>
        <p:spPr>
          <a:xfrm>
            <a:off x="64008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19.5%</a:t>
            </a:r>
            <a:endParaRPr lang="en-US" sz="5400" dirty="0"/>
          </a:p>
        </p:txBody>
      </p:sp>
      <p:sp>
        <p:nvSpPr>
          <p:cNvPr id="5" name="Text 3"/>
          <p:cNvSpPr txBox="1"/>
          <p:nvPr/>
        </p:nvSpPr>
        <p:spPr>
          <a:xfrm>
            <a:off x="64008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digits: a small CNN that learns in 5 stages keeps only the last stage</a:t>
            </a:r>
            <a:endParaRPr lang="en-US" sz="1400" dirty="0"/>
          </a:p>
        </p:txBody>
      </p:sp>
      <p:sp>
        <p:nvSpPr>
          <p:cNvPr id="6" name="card"/>
          <p:cNvSpPr/>
          <p:nvPr/>
        </p:nvSpPr>
        <p:spPr>
          <a:xfrm>
            <a:off x="3291840" y="1371600"/>
            <a:ext cx="2560320" cy="2103120"/>
          </a:xfrm>
          <a:prstGeom prst="roundRect">
            <a:avLst>
              <a:gd name="adj" fmla="val 4348"/>
            </a:avLst>
          </a:prstGeom>
          <a:solidFill>
            <a:schemeClr val="bg2"/>
          </a:solidFill>
          <a:ln w="12700">
            <a:solidFill>
              <a:schemeClr val="bg2"/>
            </a:solidFill>
            <a:prstDash val="solid"/>
          </a:ln>
        </p:spPr>
      </p:sp>
      <p:sp>
        <p:nvSpPr>
          <p:cNvPr id="7" name="Text 5"/>
          <p:cNvSpPr txBox="1"/>
          <p:nvPr/>
        </p:nvSpPr>
        <p:spPr>
          <a:xfrm>
            <a:off x="347472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20.0%</a:t>
            </a:r>
            <a:endParaRPr lang="en-US" sz="5400" dirty="0"/>
          </a:p>
        </p:txBody>
      </p:sp>
      <p:sp>
        <p:nvSpPr>
          <p:cNvPr id="8" name="Text 6"/>
          <p:cNvSpPr txBox="1"/>
          <p:nvPr/>
        </p:nvSpPr>
        <p:spPr>
          <a:xfrm>
            <a:off x="347472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clothing: same test, 60,000 images, same forgetting</a:t>
            </a:r>
            <a:endParaRPr lang="en-US" sz="1400" dirty="0"/>
          </a:p>
        </p:txBody>
      </p:sp>
      <p:sp>
        <p:nvSpPr>
          <p:cNvPr id="9" name="card"/>
          <p:cNvSpPr/>
          <p:nvPr/>
        </p:nvSpPr>
        <p:spPr>
          <a:xfrm>
            <a:off x="6126480" y="1371600"/>
            <a:ext cx="2560320" cy="2103120"/>
          </a:xfrm>
          <a:prstGeom prst="roundRect">
            <a:avLst>
              <a:gd name="adj" fmla="val 4348"/>
            </a:avLst>
          </a:prstGeom>
          <a:solidFill>
            <a:schemeClr val="bg2"/>
          </a:solidFill>
          <a:ln w="12700">
            <a:solidFill>
              <a:schemeClr val="bg2"/>
            </a:solidFill>
            <a:prstDash val="solid"/>
          </a:ln>
        </p:spPr>
      </p:sp>
      <p:sp>
        <p:nvSpPr>
          <p:cNvPr id="10" name="Text 8"/>
          <p:cNvSpPr txBox="1"/>
          <p:nvPr/>
        </p:nvSpPr>
        <p:spPr>
          <a:xfrm>
            <a:off x="630936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5.0%</a:t>
            </a:r>
            <a:endParaRPr lang="en-US" sz="5400" dirty="0"/>
          </a:p>
        </p:txBody>
      </p:sp>
      <p:sp>
        <p:nvSpPr>
          <p:cNvPr id="11" name="Text 9"/>
          <p:cNvSpPr txBox="1"/>
          <p:nvPr/>
        </p:nvSpPr>
        <p:spPr>
          <a:xfrm>
            <a:off x="630936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20 classes in 10 stages: almost everything is forgotten</a:t>
            </a:r>
            <a:endParaRPr lang="en-US" sz="1400" dirty="0"/>
          </a:p>
        </p:txBody>
      </p:sp>
      <p:sp>
        <p:nvSpPr>
          <p:cNvPr id="12" name="Text 10"/>
          <p:cNvSpPr txBox="1"/>
          <p:nvPr/>
        </p:nvSpPr>
        <p:spPr>
          <a:xfrm>
            <a:off x="457200" y="3749040"/>
            <a:ext cx="8229600" cy="91440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MEASURED: a CNN we trained on the same images, one seed. Fixing forgetting today means retraining from scratch: more energy, more heat, hardware thrown away when it can no longer be updated.</a:t>
            </a:r>
            <a:endParaRPr lang="en-US" sz="15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today's model and GPU get wrong</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502920"/>
          </a:xfrm>
          <a:prstGeom prst="rect">
            <a:avLst/>
          </a:prstGeom>
          <a:noFill/>
          <a:ln/>
        </p:spPr>
        <p:txBody>
          <a:bodyPr wrap="square" lIns="0" tIns="0" rIns="0" bIns="0" rtlCol="0" anchor="t"/>
          <a:lstStyle/>
          <a:p>
            <a:pPr indent="0" marL="0">
              <a:buNone/>
            </a:pPr>
            <a:r>
              <a:rPr lang="en-US" sz="1400" b="1" dirty="0">
                <a:solidFill>
                  <a:schemeClr val="accent4"/>
                </a:solidFill>
                <a:latin typeface="Cambria" pitchFamily="34" charset="0"/>
                <a:ea typeface="Cambria" pitchFamily="34" charset="-122"/>
                <a:cs typeface="Cambria" pitchFamily="34" charset="-120"/>
              </a:rPr>
              <a:t>The model is frozen</a:t>
            </a:r>
            <a:endParaRPr lang="en-US" sz="1400" dirty="0"/>
          </a:p>
        </p:txBody>
      </p:sp>
      <p:sp>
        <p:nvSpPr>
          <p:cNvPr id="5" name="Text 3"/>
          <p:cNvSpPr txBox="1"/>
          <p:nvPr/>
        </p:nvSpPr>
        <p:spPr>
          <a:xfrm>
            <a:off x="59436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transformer is trained once in a data centre, then fixed. New data means retraining, and a network trained on new things forgets old ones. A device cannot learn on its own.</a:t>
            </a:r>
            <a:endParaRPr lang="en-US" sz="1300" dirty="0"/>
          </a:p>
        </p:txBody>
      </p:sp>
      <p:sp>
        <p:nvSpPr>
          <p:cNvPr id="6" name="Text 4"/>
          <p:cNvSpPr txBox="1"/>
          <p:nvPr/>
        </p:nvSpPr>
        <p:spPr>
          <a:xfrm>
            <a:off x="59436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Public fact; forgetting measured on my GPU run</a:t>
            </a:r>
            <a:endParaRPr lang="en-US" sz="1000" dirty="0"/>
          </a:p>
        </p:txBody>
      </p:sp>
      <p:sp>
        <p:nvSpPr>
          <p:cNvPr id="7"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8" name="Text 6"/>
          <p:cNvSpPr txBox="1"/>
          <p:nvPr/>
        </p:nvSpPr>
        <p:spPr>
          <a:xfrm>
            <a:off x="3383280" y="1280160"/>
            <a:ext cx="2377440" cy="50292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Every token reads everything</a:t>
            </a:r>
            <a:endParaRPr lang="en-US" sz="1400" dirty="0"/>
          </a:p>
        </p:txBody>
      </p:sp>
      <p:sp>
        <p:nvSpPr>
          <p:cNvPr id="9" name="Text 7"/>
          <p:cNvSpPr txBox="1"/>
          <p:nvPr/>
        </p:nvSpPr>
        <p:spPr>
          <a:xfrm>
            <a:off x="338328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Making each word reads every weight, and attention keeps a memory that grows with the text. When one input arrives at a time, the chip waits for memory, not for maths.</a:t>
            </a:r>
            <a:endParaRPr lang="en-US" sz="1300" dirty="0"/>
          </a:p>
        </p:txBody>
      </p:sp>
      <p:sp>
        <p:nvSpPr>
          <p:cNvPr id="10" name="Text 8"/>
          <p:cNvSpPr txBox="1"/>
          <p:nvPr/>
        </p:nvSpPr>
        <p:spPr>
          <a:xfrm>
            <a:off x="338328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Public fact; our own profile of a language model</a:t>
            </a:r>
            <a:endParaRPr lang="en-US" sz="1000" dirty="0"/>
          </a:p>
        </p:txBody>
      </p:sp>
      <p:sp>
        <p:nvSpPr>
          <p:cNvPr id="11"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2" name="Text 10"/>
          <p:cNvSpPr txBox="1"/>
          <p:nvPr/>
        </p:nvSpPr>
        <p:spPr>
          <a:xfrm>
            <a:off x="6172200" y="1280160"/>
            <a:ext cx="2377440" cy="50292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A GPU needs a crowd</a:t>
            </a:r>
            <a:endParaRPr lang="en-US" sz="1400" dirty="0"/>
          </a:p>
        </p:txBody>
      </p:sp>
      <p:sp>
        <p:nvSpPr>
          <p:cNvPr id="13" name="Text 11"/>
          <p:cNvSpPr txBox="1"/>
          <p:nvPr/>
        </p:nvSpPr>
        <p:spPr>
          <a:xfrm>
            <a:off x="617220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On my RTX 3050 one decision costs 69 mJ alone (batch 1) and 1.95 mJ in a batch of 1,024: 35 times worse when alone. A phone or a sensor decides one at a time.</a:t>
            </a:r>
            <a:endParaRPr lang="en-US" sz="1300" dirty="0"/>
          </a:p>
        </p:txBody>
      </p:sp>
      <p:sp>
        <p:nvSpPr>
          <p:cNvPr id="14" name="Text 12"/>
          <p:cNvSpPr txBox="1"/>
          <p:nvPr/>
        </p:nvSpPr>
        <p:spPr>
          <a:xfrm>
            <a:off x="617220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MEASURED, RTX 3050 6GB laptop GPU</a:t>
            </a:r>
            <a:endParaRPr lang="en-US" sz="1000" dirty="0"/>
          </a:p>
        </p:txBody>
      </p:sp>
      <p:sp>
        <p:nvSpPr>
          <p:cNvPr id="15" name="card"/>
          <p:cNvSpPr/>
          <p:nvPr/>
        </p:nvSpPr>
        <p:spPr>
          <a:xfrm>
            <a:off x="457200" y="4069080"/>
            <a:ext cx="8229600" cy="566928"/>
          </a:xfrm>
          <a:prstGeom prst="roundRect">
            <a:avLst>
              <a:gd name="adj" fmla="val 16129"/>
            </a:avLst>
          </a:prstGeom>
          <a:solidFill>
            <a:srgbClr val="FFF4DD"/>
          </a:solidFill>
          <a:ln w="12700">
            <a:solidFill>
              <a:srgbClr val="FFF4DD"/>
            </a:solidFill>
            <a:prstDash val="solid"/>
          </a:ln>
        </p:spPr>
      </p:sp>
      <p:sp>
        <p:nvSpPr>
          <p:cNvPr id="16" name="Text 14"/>
          <p:cNvSpPr txBox="1"/>
          <p:nvPr/>
        </p:nvSpPr>
        <p:spPr>
          <a:xfrm>
            <a:off x="594360" y="4142232"/>
            <a:ext cx="7955280" cy="4572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Heat, cooling water and hardware turnover follow from that power: this is our motivation, not something we have measured. Public figures are recalled from memory and need checking before quoting.</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idea: a brain, as a chip</a:t>
            </a:r>
            <a:endParaRPr lang="en-US" sz="3000" dirty="0"/>
          </a:p>
        </p:txBody>
      </p:sp>
      <p:sp>
        <p:nvSpPr>
          <p:cNvPr id="3" name="card"/>
          <p:cNvSpPr/>
          <p:nvPr/>
        </p:nvSpPr>
        <p:spPr>
          <a:xfrm>
            <a:off x="457200" y="1143000"/>
            <a:ext cx="8229600" cy="621792"/>
          </a:xfrm>
          <a:prstGeom prst="roundRect">
            <a:avLst>
              <a:gd name="adj" fmla="val 14706"/>
            </a:avLst>
          </a:prstGeom>
          <a:solidFill>
            <a:schemeClr val="bg2"/>
          </a:solidFill>
          <a:ln w="12700">
            <a:solidFill>
              <a:schemeClr val="bg2"/>
            </a:solidFill>
            <a:prstDash val="solid"/>
          </a:ln>
        </p:spPr>
      </p:sp>
      <p:sp>
        <p:nvSpPr>
          <p:cNvPr id="4" name="marker"/>
          <p:cNvSpPr/>
          <p:nvPr/>
        </p:nvSpPr>
        <p:spPr>
          <a:xfrm>
            <a:off x="566928" y="1234440"/>
            <a:ext cx="420624" cy="420624"/>
          </a:xfrm>
          <a:prstGeom prst="ellipse">
            <a:avLst/>
          </a:prstGeom>
          <a:solidFill>
            <a:schemeClr val="accent1"/>
          </a:solidFill>
          <a:ln w="12700">
            <a:solidFill>
              <a:schemeClr val="accent1"/>
            </a:solidFill>
            <a:prstDash val="solid"/>
          </a:ln>
        </p:spPr>
      </p:sp>
      <p:sp>
        <p:nvSpPr>
          <p:cNvPr id="5" name="Text 3"/>
          <p:cNvSpPr txBox="1"/>
          <p:nvPr/>
        </p:nvSpPr>
        <p:spPr>
          <a:xfrm>
            <a:off x="566928" y="1289304"/>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43000" y="1207008"/>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Senses</a:t>
            </a:r>
            <a:endParaRPr lang="en-US" sz="1500" dirty="0"/>
          </a:p>
        </p:txBody>
      </p:sp>
      <p:sp>
        <p:nvSpPr>
          <p:cNvPr id="7" name="Text 5"/>
          <p:cNvSpPr txBox="1"/>
          <p:nvPr/>
        </p:nvSpPr>
        <p:spPr>
          <a:xfrm>
            <a:off x="3108960" y="1207008"/>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Eyes and ears turn pixels and sound into a sparse code. Detectors learn by themselves, no labels.</a:t>
            </a:r>
            <a:endParaRPr lang="en-US" sz="1200" dirty="0"/>
          </a:p>
        </p:txBody>
      </p:sp>
      <p:sp>
        <p:nvSpPr>
          <p:cNvPr id="8" name="card"/>
          <p:cNvSpPr/>
          <p:nvPr/>
        </p:nvSpPr>
        <p:spPr>
          <a:xfrm>
            <a:off x="457200" y="1847088"/>
            <a:ext cx="8229600" cy="621792"/>
          </a:xfrm>
          <a:prstGeom prst="roundRect">
            <a:avLst>
              <a:gd name="adj" fmla="val 14706"/>
            </a:avLst>
          </a:prstGeom>
          <a:solidFill>
            <a:schemeClr val="bg2"/>
          </a:solidFill>
          <a:ln w="12700">
            <a:solidFill>
              <a:schemeClr val="bg2"/>
            </a:solidFill>
            <a:prstDash val="solid"/>
          </a:ln>
        </p:spPr>
      </p:sp>
      <p:sp>
        <p:nvSpPr>
          <p:cNvPr id="9" name="marker"/>
          <p:cNvSpPr/>
          <p:nvPr/>
        </p:nvSpPr>
        <p:spPr>
          <a:xfrm>
            <a:off x="566928" y="1938528"/>
            <a:ext cx="420624" cy="420624"/>
          </a:xfrm>
          <a:prstGeom prst="ellipse">
            <a:avLst/>
          </a:prstGeom>
          <a:solidFill>
            <a:schemeClr val="accent1"/>
          </a:solidFill>
          <a:ln w="12700">
            <a:solidFill>
              <a:schemeClr val="accent1"/>
            </a:solidFill>
            <a:prstDash val="solid"/>
          </a:ln>
        </p:spPr>
      </p:sp>
      <p:sp>
        <p:nvSpPr>
          <p:cNvPr id="10" name="Text 8"/>
          <p:cNvSpPr txBox="1"/>
          <p:nvPr/>
        </p:nvSpPr>
        <p:spPr>
          <a:xfrm>
            <a:off x="566928" y="1993392"/>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1143000" y="1911096"/>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Learn by counting</a:t>
            </a:r>
            <a:endParaRPr lang="en-US" sz="1500" dirty="0"/>
          </a:p>
        </p:txBody>
      </p:sp>
      <p:sp>
        <p:nvSpPr>
          <p:cNvPr id="12" name="Text 10"/>
          <p:cNvSpPr txBox="1"/>
          <p:nvPr/>
        </p:nvSpPr>
        <p:spPr>
          <a:xfrm>
            <a:off x="3108960" y="1911096"/>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Each example is counted into a small fast table. No backpropagation, no multiplier, no matrices.</a:t>
            </a:r>
            <a:endParaRPr lang="en-US" sz="1200" dirty="0"/>
          </a:p>
        </p:txBody>
      </p:sp>
      <p:sp>
        <p:nvSpPr>
          <p:cNvPr id="13" name="card"/>
          <p:cNvSpPr/>
          <p:nvPr/>
        </p:nvSpPr>
        <p:spPr>
          <a:xfrm>
            <a:off x="457200" y="2551176"/>
            <a:ext cx="8229600" cy="621792"/>
          </a:xfrm>
          <a:prstGeom prst="roundRect">
            <a:avLst>
              <a:gd name="adj" fmla="val 14706"/>
            </a:avLst>
          </a:prstGeom>
          <a:solidFill>
            <a:schemeClr val="bg2"/>
          </a:solidFill>
          <a:ln w="12700">
            <a:solidFill>
              <a:schemeClr val="bg2"/>
            </a:solidFill>
            <a:prstDash val="solid"/>
          </a:ln>
        </p:spPr>
      </p:sp>
      <p:sp>
        <p:nvSpPr>
          <p:cNvPr id="14" name="marker"/>
          <p:cNvSpPr/>
          <p:nvPr/>
        </p:nvSpPr>
        <p:spPr>
          <a:xfrm>
            <a:off x="566928" y="2642616"/>
            <a:ext cx="420624" cy="420624"/>
          </a:xfrm>
          <a:prstGeom prst="ellipse">
            <a:avLst/>
          </a:prstGeom>
          <a:solidFill>
            <a:schemeClr val="accent1"/>
          </a:solidFill>
          <a:ln w="12700">
            <a:solidFill>
              <a:schemeClr val="accent1"/>
            </a:solidFill>
            <a:prstDash val="solid"/>
          </a:ln>
        </p:spPr>
      </p:sp>
      <p:sp>
        <p:nvSpPr>
          <p:cNvPr id="15" name="Text 13"/>
          <p:cNvSpPr txBox="1"/>
          <p:nvPr/>
        </p:nvSpPr>
        <p:spPr>
          <a:xfrm>
            <a:off x="566928" y="2697480"/>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3</a:t>
            </a:r>
            <a:endParaRPr lang="en-US" sz="1500" dirty="0"/>
          </a:p>
        </p:txBody>
      </p:sp>
      <p:sp>
        <p:nvSpPr>
          <p:cNvPr id="16" name="Text 14"/>
          <p:cNvSpPr txBox="1"/>
          <p:nvPr/>
        </p:nvSpPr>
        <p:spPr>
          <a:xfrm>
            <a:off x="1143000" y="2615184"/>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Dream and sleep</a:t>
            </a:r>
            <a:endParaRPr lang="en-US" sz="1500" dirty="0"/>
          </a:p>
        </p:txBody>
      </p:sp>
      <p:sp>
        <p:nvSpPr>
          <p:cNvPr id="17" name="Text 15"/>
          <p:cNvSpPr txBox="1"/>
          <p:nvPr/>
        </p:nvSpPr>
        <p:spPr>
          <a:xfrm>
            <a:off x="3108960" y="2615184"/>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Old classes are replayed from 10-bit counters, so nothing is stored. A slow table consolidates the fast one.</a:t>
            </a:r>
            <a:endParaRPr lang="en-US" sz="1200" dirty="0"/>
          </a:p>
        </p:txBody>
      </p:sp>
      <p:sp>
        <p:nvSpPr>
          <p:cNvPr id="18" name="card"/>
          <p:cNvSpPr/>
          <p:nvPr/>
        </p:nvSpPr>
        <p:spPr>
          <a:xfrm>
            <a:off x="457200" y="3255264"/>
            <a:ext cx="8229600" cy="621792"/>
          </a:xfrm>
          <a:prstGeom prst="roundRect">
            <a:avLst>
              <a:gd name="adj" fmla="val 14706"/>
            </a:avLst>
          </a:prstGeom>
          <a:solidFill>
            <a:schemeClr val="bg2"/>
          </a:solidFill>
          <a:ln w="12700">
            <a:solidFill>
              <a:schemeClr val="bg2"/>
            </a:solidFill>
            <a:prstDash val="solid"/>
          </a:ln>
        </p:spPr>
      </p:sp>
      <p:sp>
        <p:nvSpPr>
          <p:cNvPr id="19" name="marker"/>
          <p:cNvSpPr/>
          <p:nvPr/>
        </p:nvSpPr>
        <p:spPr>
          <a:xfrm>
            <a:off x="566928" y="3346704"/>
            <a:ext cx="420624" cy="420624"/>
          </a:xfrm>
          <a:prstGeom prst="ellipse">
            <a:avLst/>
          </a:prstGeom>
          <a:solidFill>
            <a:schemeClr val="accent1"/>
          </a:solidFill>
          <a:ln w="12700">
            <a:solidFill>
              <a:schemeClr val="accent1"/>
            </a:solidFill>
            <a:prstDash val="solid"/>
          </a:ln>
        </p:spPr>
      </p:sp>
      <p:sp>
        <p:nvSpPr>
          <p:cNvPr id="20" name="Text 18"/>
          <p:cNvSpPr txBox="1"/>
          <p:nvPr/>
        </p:nvSpPr>
        <p:spPr>
          <a:xfrm>
            <a:off x="566928" y="3401568"/>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p>
        </p:txBody>
      </p:sp>
      <p:sp>
        <p:nvSpPr>
          <p:cNvPr id="21" name="Text 19"/>
          <p:cNvSpPr txBox="1"/>
          <p:nvPr/>
        </p:nvSpPr>
        <p:spPr>
          <a:xfrm>
            <a:off x="1143000" y="3319272"/>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Look again</a:t>
            </a:r>
            <a:endParaRPr lang="en-US" sz="1500" dirty="0"/>
          </a:p>
        </p:txBody>
      </p:sp>
      <p:sp>
        <p:nvSpPr>
          <p:cNvPr id="22" name="Text 20"/>
          <p:cNvSpPr txBox="1"/>
          <p:nvPr/>
        </p:nvSpPr>
        <p:spPr>
          <a:xfrm>
            <a:off x="3108960" y="3319272"/>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When unsure, a second look at a finer code; when two senses disagree, trust the more confident one.</a:t>
            </a:r>
            <a:endParaRPr lang="en-US" sz="1200" dirty="0"/>
          </a:p>
        </p:txBody>
      </p:sp>
      <p:sp>
        <p:nvSpPr>
          <p:cNvPr id="23" name="card"/>
          <p:cNvSpPr/>
          <p:nvPr/>
        </p:nvSpPr>
        <p:spPr>
          <a:xfrm>
            <a:off x="457200" y="3959352"/>
            <a:ext cx="8229600" cy="621792"/>
          </a:xfrm>
          <a:prstGeom prst="roundRect">
            <a:avLst>
              <a:gd name="adj" fmla="val 14706"/>
            </a:avLst>
          </a:prstGeom>
          <a:solidFill>
            <a:schemeClr val="bg2"/>
          </a:solidFill>
          <a:ln w="12700">
            <a:solidFill>
              <a:schemeClr val="bg2"/>
            </a:solidFill>
            <a:prstDash val="solid"/>
          </a:ln>
        </p:spPr>
      </p:sp>
      <p:sp>
        <p:nvSpPr>
          <p:cNvPr id="24" name="marker"/>
          <p:cNvSpPr/>
          <p:nvPr/>
        </p:nvSpPr>
        <p:spPr>
          <a:xfrm>
            <a:off x="566928" y="4050792"/>
            <a:ext cx="420624" cy="420624"/>
          </a:xfrm>
          <a:prstGeom prst="ellipse">
            <a:avLst/>
          </a:prstGeom>
          <a:solidFill>
            <a:schemeClr val="accent1"/>
          </a:solidFill>
          <a:ln w="12700">
            <a:solidFill>
              <a:schemeClr val="accent1"/>
            </a:solidFill>
            <a:prstDash val="solid"/>
          </a:ln>
        </p:spPr>
      </p:sp>
      <p:sp>
        <p:nvSpPr>
          <p:cNvPr id="25" name="Text 23"/>
          <p:cNvSpPr txBox="1"/>
          <p:nvPr/>
        </p:nvSpPr>
        <p:spPr>
          <a:xfrm>
            <a:off x="566928" y="4105656"/>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5</a:t>
            </a:r>
            <a:endParaRPr lang="en-US" sz="1500" dirty="0"/>
          </a:p>
        </p:txBody>
      </p:sp>
      <p:sp>
        <p:nvSpPr>
          <p:cNvPr id="26" name="Text 24"/>
          <p:cNvSpPr txBox="1"/>
          <p:nvPr/>
        </p:nvSpPr>
        <p:spPr>
          <a:xfrm>
            <a:off x="1143000" y="4023360"/>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Share (optional)</a:t>
            </a:r>
            <a:endParaRPr lang="en-US" sz="1500" dirty="0"/>
          </a:p>
        </p:txBody>
      </p:sp>
      <p:sp>
        <p:nvSpPr>
          <p:cNvPr id="27" name="Text 25"/>
          <p:cNvSpPr txBox="1"/>
          <p:nvPr/>
        </p:nvSpPr>
        <p:spPr>
          <a:xfrm>
            <a:off x="3108960" y="4023360"/>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chip works alone. Two chips can merge what they learned by adding counts, or one hands its memory to the other. A normal network cannot do this.</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learns in stages and keeps what it knew</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(chip), MEASURED (CNN)</a:t>
            </a:r>
            <a:endParaRPr lang="en-US" sz="1200" dirty="0"/>
          </a:p>
        </p:txBody>
      </p:sp>
      <p:sp>
        <p:nvSpPr>
          <p:cNvPr id="6" name="Text 3"/>
          <p:cNvSpPr txBox="1"/>
          <p:nvPr/>
        </p:nvSpPr>
        <p:spPr>
          <a:xfrm>
            <a:off x="6126480" y="1783080"/>
            <a:ext cx="2377440" cy="20116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Exact integer model of the chip, 2-5 seeds, the full test sets. Digits and clothing: 60,000 training images in 5 stages of 2 classes. 20 classes: digits plus clothing in 10 stages.</a:t>
            </a:r>
            <a:endParaRPr lang="en-US" sz="1300" dirty="0"/>
          </a:p>
        </p:txBody>
      </p:sp>
      <p:sp>
        <p:nvSpPr>
          <p:cNvPr id="7" name="Text 4"/>
          <p:cNvSpPr txBox="1"/>
          <p:nvPr/>
        </p:nvSpPr>
        <p:spPr>
          <a:xfrm>
            <a:off x="6126480" y="3840480"/>
            <a:ext cx="2377440" cy="640080"/>
          </a:xfrm>
          <a:prstGeom prst="rect">
            <a:avLst/>
          </a:prstGeom>
          <a:noFill/>
          <a:ln/>
        </p:spPr>
        <p:txBody>
          <a:bodyPr wrap="square" lIns="0" tIns="0" rIns="0" bIns="0" rtlCol="0" anchor="t"/>
          <a:lstStyle/>
          <a:p>
            <a:pPr indent="0" marL="0">
              <a:buNone/>
            </a:pPr>
            <a:r>
              <a:rPr lang="en-US" sz="1300" b="1" dirty="0">
                <a:solidFill>
                  <a:schemeClr val="accent3"/>
                </a:solidFill>
                <a:latin typeface="Calibri" pitchFamily="34" charset="0"/>
                <a:ea typeface="Calibri" pitchFamily="34" charset="-122"/>
                <a:cs typeface="Calibri" pitchFamily="34" charset="-120"/>
              </a:rPr>
              <a:t>Stored examples: none. Memory: 84 KB for images.</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Close to a CNN trained on everything</a:t>
            </a:r>
            <a:endParaRPr lang="en-US" sz="3000" dirty="0"/>
          </a:p>
        </p:txBody>
      </p:sp>
      <p:graphicFrame>
        <p:nvGraphicFramePr>
          <p:cNvPr id="3" name="Chart 0" descr=""/>
          <p:cNvGraphicFramePr/>
          <p:nvPr/>
        </p:nvGraphicFramePr>
        <p:xfrm>
          <a:off x="457200" y="1188720"/>
          <a:ext cx="548640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6126480" y="1280160"/>
            <a:ext cx="2560320" cy="3291840"/>
          </a:xfrm>
          <a:prstGeom prst="roundRect">
            <a:avLst>
              <a:gd name="adj" fmla="val 3571"/>
            </a:avLst>
          </a:prstGeom>
          <a:solidFill>
            <a:schemeClr val="bg2"/>
          </a:solidFill>
          <a:ln w="12700">
            <a:solidFill>
              <a:schemeClr val="bg2"/>
            </a:solidFill>
            <a:prstDash val="solid"/>
          </a:ln>
        </p:spPr>
      </p:sp>
      <p:sp>
        <p:nvSpPr>
          <p:cNvPr id="5" name="Text 2"/>
          <p:cNvSpPr txBox="1"/>
          <p:nvPr/>
        </p:nvSpPr>
        <p:spPr>
          <a:xfrm>
            <a:off x="6309360" y="1417320"/>
            <a:ext cx="219456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vs MEASURED</a:t>
            </a:r>
            <a:endParaRPr lang="en-US" sz="1200" dirty="0"/>
          </a:p>
        </p:txBody>
      </p:sp>
      <p:sp>
        <p:nvSpPr>
          <p:cNvPr id="6" name="Text 3"/>
          <p:cNvSpPr txBox="1"/>
          <p:nvPr/>
        </p:nvSpPr>
        <p:spPr>
          <a:xfrm>
            <a:off x="6309360" y="1783080"/>
            <a:ext cx="2194560" cy="21031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pass with a second look on a finer code (digits, clothing: 60,000 images). 20 classes: one pass, no second look. Words: the chip learned in stages and the CNN all at once.</a:t>
            </a:r>
            <a:endParaRPr lang="en-US" sz="1200" dirty="0"/>
          </a:p>
        </p:txBody>
      </p:sp>
      <p:sp>
        <p:nvSpPr>
          <p:cNvPr id="7" name="Text 4"/>
          <p:cNvSpPr txBox="1"/>
          <p:nvPr/>
        </p:nvSpPr>
        <p:spPr>
          <a:xfrm>
            <a:off x="6309360" y="3931920"/>
            <a:ext cx="2194560" cy="54864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A trained CNN is still ahead on clothing by 2 points.</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we tested it</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50292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What we ran</a:t>
            </a:r>
            <a:endParaRPr lang="en-US" sz="1400" dirty="0"/>
          </a:p>
        </p:txBody>
      </p:sp>
      <p:sp>
        <p:nvSpPr>
          <p:cNvPr id="5" name="Text 3"/>
          <p:cNvSpPr txBox="1"/>
          <p:nvPr/>
        </p:nvSpPr>
        <p:spPr>
          <a:xfrm>
            <a:off x="59436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Standard tasks: handwritten digits, clothing images, spoken digits and words. Protocols: all at once, in stages (two classes at a time), with noise, with two senses, a new class from one example, two chips merged. 3 to 5 seeds, a held-out speaker.</a:t>
            </a:r>
            <a:endParaRPr lang="en-US" sz="1300" dirty="0"/>
          </a:p>
        </p:txBody>
      </p:sp>
      <p:sp>
        <p:nvSpPr>
          <p:cNvPr id="6" name="Text 4"/>
          <p:cNvSpPr txBox="1"/>
          <p:nvPr/>
        </p:nvSpPr>
        <p:spPr>
          <a:xfrm>
            <a:off x="59436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SIMULATED (integer model of the chip)</a:t>
            </a:r>
            <a:endParaRPr lang="en-US" sz="1000" dirty="0"/>
          </a:p>
        </p:txBody>
      </p:sp>
      <p:sp>
        <p:nvSpPr>
          <p:cNvPr id="7"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8" name="Text 6"/>
          <p:cNvSpPr txBox="1"/>
          <p:nvPr/>
        </p:nvSpPr>
        <p:spPr>
          <a:xfrm>
            <a:off x="3383280" y="1280160"/>
            <a:ext cx="2377440" cy="50292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What we compared with</a:t>
            </a:r>
            <a:endParaRPr lang="en-US" sz="1400" dirty="0"/>
          </a:p>
        </p:txBody>
      </p:sp>
      <p:sp>
        <p:nvSpPr>
          <p:cNvPr id="9" name="Text 7"/>
          <p:cNvSpPr txBox="1"/>
          <p:nvPr/>
        </p:nvSpPr>
        <p:spPr>
          <a:xfrm>
            <a:off x="338328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CNN and a small network trained on the same data. The CNN was run on my RTX 3050 laptop GPU, with energy read from the GPU: that is the ruler for accuracy, time and energy.</a:t>
            </a:r>
            <a:endParaRPr lang="en-US" sz="1300" dirty="0"/>
          </a:p>
        </p:txBody>
      </p:sp>
      <p:sp>
        <p:nvSpPr>
          <p:cNvPr id="10" name="Text 8"/>
          <p:cNvSpPr txBox="1"/>
          <p:nvPr/>
        </p:nvSpPr>
        <p:spPr>
          <a:xfrm>
            <a:off x="338328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CNN MEASURED; chip SIMULATED</a:t>
            </a:r>
            <a:endParaRPr lang="en-US" sz="1000" dirty="0"/>
          </a:p>
        </p:txBody>
      </p:sp>
      <p:sp>
        <p:nvSpPr>
          <p:cNvPr id="11"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2" name="Text 10"/>
          <p:cNvSpPr txBox="1"/>
          <p:nvPr/>
        </p:nvSpPr>
        <p:spPr>
          <a:xfrm>
            <a:off x="6172200" y="1280160"/>
            <a:ext cx="2377440" cy="50292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How we checked the design</a:t>
            </a:r>
            <a:endParaRPr lang="en-US" sz="1400" dirty="0"/>
          </a:p>
        </p:txBody>
      </p:sp>
      <p:sp>
        <p:nvSpPr>
          <p:cNvPr id="13" name="Text 11"/>
          <p:cNvSpPr txBox="1"/>
          <p:nvPr/>
        </p:nvSpPr>
        <p:spPr>
          <a:xfrm>
            <a:off x="617220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The Verilog design matches the Python model bit for bit in 41 of 41 checks. The real-cell netlist, a formal equivalence check, and a Tang Nano place and route came next. Cycles per decision come from the RTL simulation.</a:t>
            </a:r>
            <a:endParaRPr lang="en-US" sz="1300" dirty="0"/>
          </a:p>
        </p:txBody>
      </p:sp>
      <p:sp>
        <p:nvSpPr>
          <p:cNvPr id="14" name="Text 12"/>
          <p:cNvSpPr txBox="1"/>
          <p:nvPr/>
        </p:nvSpPr>
        <p:spPr>
          <a:xfrm>
            <a:off x="617220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SIMULATED; no board yet</a:t>
            </a:r>
            <a:endParaRPr lang="en-US" sz="1000" dirty="0"/>
          </a:p>
        </p:txBody>
      </p:sp>
      <p:sp>
        <p:nvSpPr>
          <p:cNvPr id="15" name="card"/>
          <p:cNvSpPr/>
          <p:nvPr/>
        </p:nvSpPr>
        <p:spPr>
          <a:xfrm>
            <a:off x="457200" y="4069080"/>
            <a:ext cx="8229600" cy="566928"/>
          </a:xfrm>
          <a:prstGeom prst="roundRect">
            <a:avLst>
              <a:gd name="adj" fmla="val 16129"/>
            </a:avLst>
          </a:prstGeom>
          <a:solidFill>
            <a:srgbClr val="FFF4DD"/>
          </a:solidFill>
          <a:ln w="12700">
            <a:solidFill>
              <a:srgbClr val="FFF4DD"/>
            </a:solidFill>
            <a:prstDash val="solid"/>
          </a:ln>
        </p:spPr>
      </p:sp>
      <p:sp>
        <p:nvSpPr>
          <p:cNvPr id="16" name="Text 14"/>
          <p:cNvSpPr txBox="1"/>
          <p:nvPr/>
        </p:nvSpPr>
        <p:spPr>
          <a:xfrm>
            <a:off x="594360" y="4142232"/>
            <a:ext cx="7955280" cy="4572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Not tested: a language model or any large model on the chip, a real board run, real-world noise, big vocabularies. The models we ran are classifiers; the CNN is only our comparison ruler.</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scales: more data does not break it</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1945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We tested 6x more data and found the staged result fell. One fixed rule fixed it: follow the slow table every max(100, stage size / 30) examples. Digits: 93.4 to 95.6 at 60,000 images.</a:t>
            </a:r>
            <a:endParaRPr lang="en-US" sz="1300" dirty="0"/>
          </a:p>
        </p:txBody>
      </p:sp>
      <p:sp>
        <p:nvSpPr>
          <p:cNvPr id="7" name="Text 4"/>
          <p:cNvSpPr txBox="1"/>
          <p:nvPr/>
        </p:nvSpPr>
        <p:spPr>
          <a:xfrm>
            <a:off x="6126480" y="3977640"/>
            <a:ext cx="2377440" cy="54864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One pass barely improves with more data (clothing 86.6 to 87.6).</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hears, and noise stops hurting as much</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1945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Raw sound to word through an integer cochlea, noise floor, word alignment and the same counting table, bit-exact in RTL. Training also on one noisy copy of each clip adds no memory.</a:t>
            </a:r>
            <a:endParaRPr lang="en-US" sz="1300" dirty="0"/>
          </a:p>
        </p:txBody>
      </p:sp>
      <p:sp>
        <p:nvSpPr>
          <p:cNvPr id="7" name="Text 4"/>
          <p:cNvSpPr txBox="1"/>
          <p:nvPr/>
        </p:nvSpPr>
        <p:spPr>
          <a:xfrm>
            <a:off x="6126480" y="3977640"/>
            <a:ext cx="2377440" cy="64008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Sound needs 422 KB: an ASIC or external memory, not the Tang Nano.</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senses help each other</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2-3 seeds</a:t>
            </a:r>
            <a:endParaRPr lang="en-US" sz="1200" dirty="0"/>
          </a:p>
        </p:txBody>
      </p:sp>
      <p:sp>
        <p:nvSpPr>
          <p:cNvPr id="6" name="Text 3"/>
          <p:cNvSpPr txBox="1"/>
          <p:nvPr/>
        </p:nvSpPr>
        <p:spPr>
          <a:xfrm>
            <a:off x="6126480" y="1783080"/>
            <a:ext cx="2377440" cy="2377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1"/>
                </a:solidFill>
                <a:latin typeface="Calibri" pitchFamily="34" charset="0"/>
                <a:ea typeface="Calibri" pitchFamily="34" charset="-122"/>
                <a:cs typeface="Calibri" pitchFamily="34" charset="-120"/>
              </a:rPr>
              <a:t>The ear names pictures with no picture labels: 93.9 after sleep cleaning</a:t>
            </a:r>
            <a:endParaRPr lang="en-US" sz="1200" dirty="0"/>
          </a:p>
          <a:p>
            <a:pPr marL="342900" indent="-342900">
              <a:spcAft>
                <a:spcPts val="500"/>
              </a:spcAft>
              <a:buSzPct val="100000"/>
              <a:buChar char="•"/>
            </a:pPr>
            <a:r>
              <a:rPr lang="en-US" sz="1200" dirty="0">
                <a:solidFill>
                  <a:schemeClr val="tx1"/>
                </a:solidFill>
                <a:latin typeface="Calibri" pitchFamily="34" charset="0"/>
                <a:ea typeface="Calibri" pitchFamily="34" charset="-122"/>
                <a:cs typeface="Calibri" pitchFamily="34" charset="-120"/>
              </a:rPr>
              <a:t>Groups form with no labels: 96.1 to 97.0 with 30 names</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New classes noticed from inside: 99% of flagged pairs are new</a:t>
            </a:r>
            <a:endParaRPr lang="en-US" sz="1200" dirty="0"/>
          </a:p>
        </p:txBody>
      </p:sp>
      <p:sp>
        <p:nvSpPr>
          <p:cNvPr id="7" name="Text 4"/>
          <p:cNvSpPr txBox="1"/>
          <p:nvPr/>
        </p:nvSpPr>
        <p:spPr>
          <a:xfrm>
            <a:off x="6126480" y="3977640"/>
            <a:ext cx="2377440" cy="548640"/>
          </a:xfrm>
          <a:prstGeom prst="rect">
            <a:avLst/>
          </a:prstGeom>
          <a:noFill/>
          <a:ln/>
        </p:spPr>
        <p:txBody>
          <a:bodyPr wrap="square" lIns="0" tIns="0" rIns="0" bIns="0" rtlCol="0" anchor="t"/>
          <a:lstStyle/>
          <a:p>
            <a:pPr indent="0" marL="0">
              <a:buNone/>
            </a:pPr>
            <a:r>
              <a:rPr lang="en-US" sz="1100" dirty="0">
                <a:solidFill>
                  <a:schemeClr val="accent4"/>
                </a:solidFill>
                <a:latin typeface="Calibri" pitchFamily="34" charset="0"/>
                <a:ea typeface="Calibri" pitchFamily="34" charset="-122"/>
                <a:cs typeface="Calibri" pitchFamily="34" charset="-120"/>
              </a:rPr>
              <a:t>Pictures and sounds are paired by class, not real recordings of one scene.</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 new class from one example, after shipping</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in RTL</a:t>
            </a:r>
            <a:endParaRPr lang="en-US" sz="1200" dirty="0"/>
          </a:p>
        </p:txBody>
      </p:sp>
      <p:sp>
        <p:nvSpPr>
          <p:cNvPr id="6" name="Text 3"/>
          <p:cNvSpPr txBox="1"/>
          <p:nvPr/>
        </p:nvSpPr>
        <p:spPr>
          <a:xfrm>
            <a:off x="6126480" y="1783080"/>
            <a:ext cx="237744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novelty-gated imprint writes the new class into the table at once, then a short sleep blends it in. Old classes stay within 1 to 5 points.</a:t>
            </a:r>
            <a:endParaRPr lang="en-US" sz="1300" dirty="0"/>
          </a:p>
        </p:txBody>
      </p:sp>
      <p:sp>
        <p:nvSpPr>
          <p:cNvPr id="7" name="Text 4"/>
          <p:cNvSpPr txBox="1"/>
          <p:nvPr/>
        </p:nvSpPr>
        <p:spPr>
          <a:xfrm>
            <a:off x="6126480" y="3749040"/>
            <a:ext cx="2377440" cy="731520"/>
          </a:xfrm>
          <a:prstGeom prst="rect">
            <a:avLst/>
          </a:prstGeom>
          <a:noFill/>
          <a:ln/>
        </p:spPr>
        <p:txBody>
          <a:bodyPr wrap="square" lIns="0" tIns="0" rIns="0" bIns="0" rtlCol="0" anchor="t"/>
          <a:lstStyle/>
          <a:p>
            <a:pPr indent="0" marL="0">
              <a:buNone/>
            </a:pPr>
            <a:r>
              <a:rPr lang="en-US" sz="1300" b="1" dirty="0">
                <a:solidFill>
                  <a:schemeClr val="accent4"/>
                </a:solidFill>
                <a:latin typeface="Calibri" pitchFamily="34" charset="0"/>
                <a:ea typeface="Calibri" pitchFamily="34" charset="-122"/>
                <a:cs typeface="Calibri" pitchFamily="34" charset="-120"/>
              </a:rPr>
              <a:t>Spoken words from 1 to 5 recordings stay weak.</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chips can share what they learned</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6517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chip works alone; this is an option. Because memory is counts, two chips that learned different classes merge by adding counters, with no retraining. A trained network cannot merge this way. The board demo design reached 91.4% on all ten digits after one night (PC-side emulator).</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L Cortex design in one picture</a:t>
            </a:r>
            <a:endParaRPr lang="en-US" sz="3000" dirty="0"/>
          </a:p>
        </p:txBody>
      </p:sp>
      <p:pic>
        <p:nvPicPr>
          <p:cNvPr id="3" name="Image 0" descr="Block diagram of L Cortex: sensors, retina and cochlea, sensory cortex, sparse code, fast and slow tables, dream memory, sequencer, answer">    </p:cNvPr>
          <p:cNvPicPr>
            <a:picLocks noChangeAspect="1"/>
          </p:cNvPicPr>
          <p:nvPr/>
        </p:nvPicPr>
        <p:blipFill>
          <a:blip r:embed="rId1"/>
          <a:stretch>
            <a:fillRect/>
          </a:stretch>
        </p:blipFill>
        <p:spPr>
          <a:xfrm>
            <a:off x="1097280" y="1097280"/>
            <a:ext cx="6949440" cy="3941064"/>
          </a:xfrm>
          <a:prstGeom prst="rect">
            <a:avLst/>
          </a:prstGeom>
        </p:spPr>
      </p:pic>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Small, cheap, and no multiplier</a:t>
            </a:r>
            <a:endParaRPr lang="en-US" sz="3000" dirty="0"/>
          </a:p>
        </p:txBody>
      </p:sp>
      <p:sp>
        <p:nvSpPr>
          <p:cNvPr id="3" name="card"/>
          <p:cNvSpPr/>
          <p:nvPr/>
        </p:nvSpPr>
        <p:spPr>
          <a:xfrm>
            <a:off x="457200" y="1188720"/>
            <a:ext cx="4023360" cy="1554480"/>
          </a:xfrm>
          <a:prstGeom prst="roundRect">
            <a:avLst>
              <a:gd name="adj" fmla="val 5882"/>
            </a:avLst>
          </a:prstGeom>
          <a:solidFill>
            <a:schemeClr val="bg2"/>
          </a:solidFill>
          <a:ln w="12700">
            <a:solidFill>
              <a:schemeClr val="bg2"/>
            </a:solidFill>
            <a:prstDash val="solid"/>
          </a:ln>
        </p:spPr>
      </p:sp>
      <p:sp>
        <p:nvSpPr>
          <p:cNvPr id="4" name="Text 2"/>
          <p:cNvSpPr txBox="1"/>
          <p:nvPr/>
        </p:nvSpPr>
        <p:spPr>
          <a:xfrm>
            <a:off x="64008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84 KB</a:t>
            </a:r>
            <a:endParaRPr lang="en-US" sz="3400" dirty="0"/>
          </a:p>
        </p:txBody>
      </p:sp>
      <p:sp>
        <p:nvSpPr>
          <p:cNvPr id="5" name="Text 3"/>
          <p:cNvSpPr txBox="1"/>
          <p:nvPr/>
        </p:nvSpPr>
        <p:spPr>
          <a:xfrm>
            <a:off x="64008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memory for images (second look: about 2.8x)</a:t>
            </a:r>
            <a:endParaRPr lang="en-US" sz="1300" dirty="0"/>
          </a:p>
        </p:txBody>
      </p:sp>
      <p:sp>
        <p:nvSpPr>
          <p:cNvPr id="6" name="Text 4"/>
          <p:cNvSpPr txBox="1"/>
          <p:nvPr/>
        </p:nvSpPr>
        <p:spPr>
          <a:xfrm>
            <a:off x="640080" y="245059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7" name="card"/>
          <p:cNvSpPr/>
          <p:nvPr/>
        </p:nvSpPr>
        <p:spPr>
          <a:xfrm>
            <a:off x="4663440" y="1188720"/>
            <a:ext cx="4023360" cy="1554480"/>
          </a:xfrm>
          <a:prstGeom prst="roundRect">
            <a:avLst>
              <a:gd name="adj" fmla="val 5882"/>
            </a:avLst>
          </a:prstGeom>
          <a:solidFill>
            <a:schemeClr val="bg2"/>
          </a:solidFill>
          <a:ln w="12700">
            <a:solidFill>
              <a:schemeClr val="bg2"/>
            </a:solidFill>
            <a:prstDash val="solid"/>
          </a:ln>
        </p:spPr>
      </p:sp>
      <p:sp>
        <p:nvSpPr>
          <p:cNvPr id="8" name="Text 6"/>
          <p:cNvSpPr txBox="1"/>
          <p:nvPr/>
        </p:nvSpPr>
        <p:spPr>
          <a:xfrm>
            <a:off x="484632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0</a:t>
            </a:r>
            <a:endParaRPr lang="en-US" sz="3400" dirty="0"/>
          </a:p>
        </p:txBody>
      </p:sp>
      <p:sp>
        <p:nvSpPr>
          <p:cNvPr id="9" name="Text 7"/>
          <p:cNvSpPr txBox="1"/>
          <p:nvPr/>
        </p:nvSpPr>
        <p:spPr>
          <a:xfrm>
            <a:off x="484632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hardware multipliers on the $25 Tang Nano 20K (89% logic, 46/46 block RAM)</a:t>
            </a:r>
            <a:endParaRPr lang="en-US" sz="1300" dirty="0"/>
          </a:p>
        </p:txBody>
      </p:sp>
      <p:sp>
        <p:nvSpPr>
          <p:cNvPr id="10" name="Text 8"/>
          <p:cNvSpPr txBox="1"/>
          <p:nvPr/>
        </p:nvSpPr>
        <p:spPr>
          <a:xfrm>
            <a:off x="4846320" y="245059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place and route</a:t>
            </a:r>
            <a:endParaRPr lang="en-US" sz="1100" dirty="0"/>
          </a:p>
        </p:txBody>
      </p:sp>
      <p:sp>
        <p:nvSpPr>
          <p:cNvPr id="11" name="card"/>
          <p:cNvSpPr/>
          <p:nvPr/>
        </p:nvSpPr>
        <p:spPr>
          <a:xfrm>
            <a:off x="457200" y="2880360"/>
            <a:ext cx="4023360" cy="1554480"/>
          </a:xfrm>
          <a:prstGeom prst="roundRect">
            <a:avLst>
              <a:gd name="adj" fmla="val 5882"/>
            </a:avLst>
          </a:prstGeom>
          <a:solidFill>
            <a:schemeClr val="bg2"/>
          </a:solidFill>
          <a:ln w="12700">
            <a:solidFill>
              <a:schemeClr val="bg2"/>
            </a:solidFill>
            <a:prstDash val="solid"/>
          </a:ln>
        </p:spPr>
      </p:sp>
      <p:sp>
        <p:nvSpPr>
          <p:cNvPr id="12" name="Text 10"/>
          <p:cNvSpPr txBox="1"/>
          <p:nvPr/>
        </p:nvSpPr>
        <p:spPr>
          <a:xfrm>
            <a:off x="64008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~74x</a:t>
            </a:r>
            <a:endParaRPr lang="en-US" sz="3400" dirty="0"/>
          </a:p>
        </p:txBody>
      </p:sp>
      <p:sp>
        <p:nvSpPr>
          <p:cNvPr id="13" name="Text 11"/>
          <p:cNvSpPr txBox="1"/>
          <p:nvPr/>
        </p:nvSpPr>
        <p:spPr>
          <a:xfrm>
            <a:off x="64008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less energy per decision than an 8-bit network, counting the operations needed (9.4 nJ vs 696 nJ)</a:t>
            </a:r>
            <a:endParaRPr lang="en-US" sz="1300" dirty="0"/>
          </a:p>
        </p:txBody>
      </p:sp>
      <p:sp>
        <p:nvSpPr>
          <p:cNvPr id="14" name="Text 12"/>
          <p:cNvSpPr txBox="1"/>
          <p:nvPr/>
        </p:nvSpPr>
        <p:spPr>
          <a:xfrm>
            <a:off x="640080" y="414223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a:t>
            </a:r>
            <a:endParaRPr lang="en-US" sz="1100" dirty="0"/>
          </a:p>
        </p:txBody>
      </p:sp>
      <p:sp>
        <p:nvSpPr>
          <p:cNvPr id="15" name="card"/>
          <p:cNvSpPr/>
          <p:nvPr/>
        </p:nvSpPr>
        <p:spPr>
          <a:xfrm>
            <a:off x="4663440" y="2880360"/>
            <a:ext cx="4023360" cy="1554480"/>
          </a:xfrm>
          <a:prstGeom prst="roundRect">
            <a:avLst>
              <a:gd name="adj" fmla="val 5882"/>
            </a:avLst>
          </a:prstGeom>
          <a:solidFill>
            <a:schemeClr val="bg2"/>
          </a:solidFill>
          <a:ln w="12700">
            <a:solidFill>
              <a:schemeClr val="bg2"/>
            </a:solidFill>
            <a:prstDash val="solid"/>
          </a:ln>
        </p:spPr>
      </p:sp>
      <p:sp>
        <p:nvSpPr>
          <p:cNvPr id="16" name="Text 14"/>
          <p:cNvSpPr txBox="1"/>
          <p:nvPr/>
        </p:nvSpPr>
        <p:spPr>
          <a:xfrm>
            <a:off x="484632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422 KB</a:t>
            </a:r>
            <a:endParaRPr lang="en-US" sz="3400" dirty="0"/>
          </a:p>
        </p:txBody>
      </p:sp>
      <p:sp>
        <p:nvSpPr>
          <p:cNvPr id="17" name="Text 15"/>
          <p:cNvSpPr txBox="1"/>
          <p:nvPr/>
        </p:nvSpPr>
        <p:spPr>
          <a:xfrm>
            <a:off x="484632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sound memory: needs external memory or an ASIC</a:t>
            </a:r>
            <a:endParaRPr lang="en-US" sz="1300" dirty="0"/>
          </a:p>
        </p:txBody>
      </p:sp>
      <p:sp>
        <p:nvSpPr>
          <p:cNvPr id="18" name="Text 16"/>
          <p:cNvSpPr txBox="1"/>
          <p:nvPr/>
        </p:nvSpPr>
        <p:spPr>
          <a:xfrm>
            <a:off x="4846320" y="414223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19" name="Text 17"/>
          <p:cNvSpPr txBox="1"/>
          <p:nvPr/>
        </p:nvSpPr>
        <p:spPr>
          <a:xfrm>
            <a:off x="457200" y="4526280"/>
            <a:ext cx="7955280" cy="41148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Say it carefully: the 74x is per operation needed. The SKY130 layout estimate is 0.18 to 0.26 uJ per decision, 20 to 28x above the operation count.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Deciding one digit: chip design vs a real GPU</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651760"/>
                <a:gridCol w="914400"/>
                <a:gridCol w="1097280"/>
                <a:gridCol w="914400"/>
                <a:gridCol w="2651760"/>
              </a:tblGrid>
              <a:tr h="41148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One digit image</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Decisions/s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Energy</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Label</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L chip, FPGA build, 27 MHz</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55.7 us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17,952</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9.4 nJ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cycles SIMULATED, time and energy ESTIMATED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L chip, pipelined (ASIC option)</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11.7 us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85,174</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9.4 nJ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cycles SIMULATED, time and energy ESTIMATED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RTX 3050 6GB Laptop GPU, batch 1</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1,809 us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553</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69.3 mJ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b="1" dirty="0">
                          <a:solidFill>
                            <a:srgbClr val="151A3D"/>
                          </a:solidFill>
                          <a:latin typeface="Calibri" pitchFamily="34" charset="0"/>
                          <a:ea typeface="Calibri" pitchFamily="34" charset="-122"/>
                          <a:cs typeface="Calibri" pitchFamily="34" charset="-120"/>
                        </a:rPr>
                        <a:t>MEASURED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RTX 3050 6GB Laptop GPU, batch 1024</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22,226</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1.95 mJ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b="1" dirty="0">
                          <a:solidFill>
                            <a:srgbClr val="151A3D"/>
                          </a:solidFill>
                          <a:latin typeface="Calibri" pitchFamily="34" charset="0"/>
                          <a:ea typeface="Calibri" pitchFamily="34" charset="-122"/>
                          <a:cs typeface="Calibri" pitchFamily="34" charset="-120"/>
                        </a:rPr>
                        <a:t>MEASURED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bl>
          </a:graphicData>
        </a:graphic>
      </p:graphicFrame>
      <p:sp>
        <p:nvSpPr>
          <p:cNvPr id="4" name="card"/>
          <p:cNvSpPr/>
          <p:nvPr/>
        </p:nvSpPr>
        <p:spPr>
          <a:xfrm>
            <a:off x="457200" y="3429000"/>
            <a:ext cx="8229600" cy="960120"/>
          </a:xfrm>
          <a:prstGeom prst="roundRect">
            <a:avLst>
              <a:gd name="adj" fmla="val 9524"/>
            </a:avLst>
          </a:prstGeom>
          <a:solidFill>
            <a:srgbClr val="FFF4DD"/>
          </a:solidFill>
          <a:ln w="12700">
            <a:solidFill>
              <a:srgbClr val="FFF4DD"/>
            </a:solidFill>
            <a:prstDash val="solid"/>
          </a:ln>
        </p:spPr>
      </p:sp>
      <p:sp>
        <p:nvSpPr>
          <p:cNvPr id="5" name="Text 2"/>
          <p:cNvSpPr txBox="1"/>
          <p:nvPr/>
        </p:nvSpPr>
        <p:spPr>
          <a:xfrm>
            <a:off x="594360" y="3493008"/>
            <a:ext cx="7955280" cy="8686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Read it honestly: chip times are cycle counts from the RTL simulation divided by 27 MHz, not a board run, and the chip energy is an operation count, not a power reading. The GPU rows were measured on a laptop GPU. One chip serves one stream; the GPU wins on throughput when it can batch. A trained CNN is still ahead on accuracy when all classes are learned at once (99.1% vs 97.9% at 59k images); the chip's case is learning classes in stages without forgetting (CNN fell to 19.6%).</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Where the GPU uses more energy, and L less</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828800"/>
                <a:gridCol w="2011680"/>
                <a:gridCol w="2377440"/>
                <a:gridCol w="2011680"/>
              </a:tblGrid>
              <a:tr h="32004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Process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GPU (RTX 3050 laptop)</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 chip design</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Why</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r>
              <a:tr h="566928">
                <a:tc>
                  <a:txBody>
                    <a:bodyPr/>
                    <a:lstStyle/>
                    <a:p>
                      <a:pPr indent="0" marL="0">
                        <a:buNone/>
                      </a:pPr>
                      <a:r>
                        <a:rPr lang="en-US" sz="1100" b="1" dirty="0">
                          <a:solidFill>
                            <a:srgbClr val="151A3D"/>
                          </a:solidFill>
                          <a:latin typeface="Calibri" pitchFamily="34" charset="0"/>
                          <a:ea typeface="Calibri" pitchFamily="34" charset="-122"/>
                          <a:cs typeface="Calibri" pitchFamily="34" charset="-120"/>
                        </a:rPr>
                        <a:t>One decision, alone (batch 1)</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69.3 mJ  MEASURED</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0.18 to 0.26 uJ layout estimate; 9.4 nJ by operation count  ESTIMATED</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The GPU powers thousands of cores for one input; L touches a few table rows</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502920">
                <a:tc>
                  <a:txBody>
                    <a:bodyPr/>
                    <a:lstStyle/>
                    <a:p>
                      <a:pPr indent="0" marL="0">
                        <a:buNone/>
                      </a:pPr>
                      <a:r>
                        <a:rPr lang="en-US" sz="1100" b="1" dirty="0">
                          <a:solidFill>
                            <a:srgbClr val="151A3D"/>
                          </a:solidFill>
                          <a:latin typeface="Calibri" pitchFamily="34" charset="0"/>
                          <a:ea typeface="Calibri" pitchFamily="34" charset="-122"/>
                          <a:cs typeface="Calibri" pitchFamily="34" charset="-120"/>
                        </a:rPr>
                        <a:t>One decision, in a crowd (batch 1024)</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1.95 mJ  MEASURED</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same as above  ESTIMATED</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Batching helps the GPU a lot, but a device decides one at a time</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566928">
                <a:tc>
                  <a:txBody>
                    <a:bodyPr/>
                    <a:lstStyle/>
                    <a:p>
                      <a:pPr indent="0" marL="0">
                        <a:buNone/>
                      </a:pPr>
                      <a:r>
                        <a:rPr lang="en-US" sz="1100" b="1" dirty="0">
                          <a:solidFill>
                            <a:srgbClr val="151A3D"/>
                          </a:solidFill>
                          <a:latin typeface="Calibri" pitchFamily="34" charset="0"/>
                          <a:ea typeface="Calibri" pitchFamily="34" charset="-122"/>
                          <a:cs typeface="Calibri" pitchFamily="34" charset="-120"/>
                        </a:rPr>
                        <a:t>Learning from 59,063 digit images</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1,148 J whole training run  MEASURED</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about 3 J: 45 to 62 uJ per example, one pass  ESTIMATED</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The CNN trains for several passes (4 epochs); L counts each example once, in place</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566928">
                <a:tc>
                  <a:txBody>
                    <a:bodyPr/>
                    <a:lstStyle/>
                    <a:p>
                      <a:pPr indent="0" marL="0">
                        <a:buNone/>
                      </a:pPr>
                      <a:r>
                        <a:rPr lang="en-US" sz="1100" b="1" dirty="0">
                          <a:solidFill>
                            <a:srgbClr val="151A3D"/>
                          </a:solidFill>
                          <a:latin typeface="Calibri" pitchFamily="34" charset="0"/>
                          <a:ea typeface="Calibri" pitchFamily="34" charset="-122"/>
                          <a:cs typeface="Calibri" pitchFamily="34" charset="-120"/>
                        </a:rPr>
                        <a:t>Learning a new class later</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retrain in a data centre (510 J in stages, and it forgets: 19.6%)  MEASURED</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learns it in place with dreams, no retraining  SIMULATED</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No gradients, no weights to rewrite</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bl>
          </a:graphicData>
        </a:graphic>
      </p:graphicFrame>
      <p:sp>
        <p:nvSpPr>
          <p:cNvPr id="4" name="card"/>
          <p:cNvSpPr/>
          <p:nvPr/>
        </p:nvSpPr>
        <p:spPr>
          <a:xfrm>
            <a:off x="457200" y="4023360"/>
            <a:ext cx="8229600" cy="640080"/>
          </a:xfrm>
          <a:prstGeom prst="roundRect">
            <a:avLst>
              <a:gd name="adj" fmla="val 14286"/>
            </a:avLst>
          </a:prstGeom>
          <a:solidFill>
            <a:srgbClr val="FFF4DD"/>
          </a:solidFill>
          <a:ln w="12700">
            <a:solidFill>
              <a:srgbClr val="FFF4DD"/>
            </a:solidFill>
            <a:prstDash val="solid"/>
          </a:ln>
        </p:spPr>
      </p:sp>
      <p:sp>
        <p:nvSpPr>
          <p:cNvPr id="5" name="Text 2"/>
          <p:cNvSpPr txBox="1"/>
          <p:nvPr/>
        </p:nvSpPr>
        <p:spPr>
          <a:xfrm>
            <a:off x="594360" y="4087368"/>
            <a:ext cx="7955280" cy="54864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Read it as orders of magnitude, not a final ratio: the chip numbers are estimates (core only, no board or memory interface), the GPU numbers are the whole GPU. The GPU wins at training big models and at batched throughput on big jobs. The board run will measure L.</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Why use L instead, for this job</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50292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It keeps learning</a:t>
            </a:r>
            <a:endParaRPr lang="en-US" sz="1400" dirty="0"/>
          </a:p>
        </p:txBody>
      </p:sp>
      <p:sp>
        <p:nvSpPr>
          <p:cNvPr id="5" name="Text 3"/>
          <p:cNvSpPr txBox="1"/>
          <p:nvPr/>
        </p:nvSpPr>
        <p:spPr>
          <a:xfrm>
            <a:off x="59436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Learning digits in five stages: chip 95.5%, a CNN 19.6% (59,063 images). The chip adds new things without erasing the old, using dreams drawn from its own counters.</a:t>
            </a:r>
            <a:endParaRPr lang="en-US" sz="1300" dirty="0"/>
          </a:p>
        </p:txBody>
      </p:sp>
      <p:sp>
        <p:nvSpPr>
          <p:cNvPr id="6" name="Text 4"/>
          <p:cNvSpPr txBox="1"/>
          <p:nvPr/>
        </p:nvSpPr>
        <p:spPr>
          <a:xfrm>
            <a:off x="59436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Chip SIMULATED; CNN MEASURED on my GPU</a:t>
            </a:r>
            <a:endParaRPr lang="en-US" sz="1000" dirty="0"/>
          </a:p>
        </p:txBody>
      </p:sp>
      <p:sp>
        <p:nvSpPr>
          <p:cNvPr id="7"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8" name="Text 6"/>
          <p:cNvSpPr txBox="1"/>
          <p:nvPr/>
        </p:nvSpPr>
        <p:spPr>
          <a:xfrm>
            <a:off x="3383280" y="1280160"/>
            <a:ext cx="2377440" cy="50292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Small and cheap</a:t>
            </a:r>
            <a:endParaRPr lang="en-US" sz="1400" dirty="0"/>
          </a:p>
        </p:txBody>
      </p:sp>
      <p:sp>
        <p:nvSpPr>
          <p:cNvPr id="9" name="Text 7"/>
          <p:cNvSpPr txBox="1"/>
          <p:nvPr/>
        </p:nvSpPr>
        <p:spPr>
          <a:xfrm>
            <a:off x="338328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84 KB of memory, no multiplier, fits a 25-dollar board. About 74 times less energy per decision than an 8-bit network, counting the operations needed.</a:t>
            </a:r>
            <a:endParaRPr lang="en-US" sz="1300" dirty="0"/>
          </a:p>
        </p:txBody>
      </p:sp>
      <p:sp>
        <p:nvSpPr>
          <p:cNvPr id="10" name="Text 8"/>
          <p:cNvSpPr txBox="1"/>
          <p:nvPr/>
        </p:nvSpPr>
        <p:spPr>
          <a:xfrm>
            <a:off x="338328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ESTIMATED; board run will measure it</a:t>
            </a:r>
            <a:endParaRPr lang="en-US" sz="1000" dirty="0"/>
          </a:p>
        </p:txBody>
      </p:sp>
      <p:sp>
        <p:nvSpPr>
          <p:cNvPr id="11"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2" name="Text 10"/>
          <p:cNvSpPr txBox="1"/>
          <p:nvPr/>
        </p:nvSpPr>
        <p:spPr>
          <a:xfrm>
            <a:off x="6172200" y="1280160"/>
            <a:ext cx="2377440" cy="50292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Checked, and honest</a:t>
            </a:r>
            <a:endParaRPr lang="en-US" sz="1400" dirty="0"/>
          </a:p>
        </p:txBody>
      </p:sp>
      <p:sp>
        <p:nvSpPr>
          <p:cNvPr id="13" name="Text 11"/>
          <p:cNvSpPr txBox="1"/>
          <p:nvPr/>
        </p:nvSpPr>
        <p:spPr>
          <a:xfrm>
            <a:off x="617220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RTL matches the model bit for bit in 41 of 41 checks; the real-cell netlist matches too. Close to a CNN when all is learned at once: 97.9 against 99.1.</a:t>
            </a:r>
            <a:endParaRPr lang="en-US" sz="1300" dirty="0"/>
          </a:p>
        </p:txBody>
      </p:sp>
      <p:sp>
        <p:nvSpPr>
          <p:cNvPr id="14" name="Text 12"/>
          <p:cNvSpPr txBox="1"/>
          <p:nvPr/>
        </p:nvSpPr>
        <p:spPr>
          <a:xfrm>
            <a:off x="617220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SIMULATED</a:t>
            </a:r>
            <a:endParaRPr lang="en-US" sz="1000" dirty="0"/>
          </a:p>
        </p:txBody>
      </p:sp>
      <p:sp>
        <p:nvSpPr>
          <p:cNvPr id="15" name="card"/>
          <p:cNvSpPr/>
          <p:nvPr/>
        </p:nvSpPr>
        <p:spPr>
          <a:xfrm>
            <a:off x="457200" y="4069080"/>
            <a:ext cx="8229600" cy="566928"/>
          </a:xfrm>
          <a:prstGeom prst="roundRect">
            <a:avLst>
              <a:gd name="adj" fmla="val 16129"/>
            </a:avLst>
          </a:prstGeom>
          <a:solidFill>
            <a:srgbClr val="E6F4EC"/>
          </a:solidFill>
          <a:ln w="12700">
            <a:solidFill>
              <a:srgbClr val="E6F4EC"/>
            </a:solidFill>
            <a:prstDash val="solid"/>
          </a:ln>
        </p:spPr>
      </p:sp>
      <p:sp>
        <p:nvSpPr>
          <p:cNvPr id="16" name="Text 14"/>
          <p:cNvSpPr txBox="1"/>
          <p:nvPr/>
        </p:nvSpPr>
        <p:spPr>
          <a:xfrm>
            <a:off x="594360" y="4142232"/>
            <a:ext cx="7955280" cy="4572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Use L when the job is: learn on the device, small memory, one input at a time. Keep the GPU for training and big models. We do not replace it today.</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Why this is an embedded system</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45720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Built for tight limits</a:t>
            </a:r>
            <a:endParaRPr lang="en-US" sz="1400" dirty="0"/>
          </a:p>
        </p:txBody>
      </p:sp>
      <p:sp>
        <p:nvSpPr>
          <p:cNvPr id="5" name="Text 3"/>
          <p:cNvSpPr txBox="1"/>
          <p:nvPr/>
        </p:nvSpPr>
        <p:spPr>
          <a:xfrm>
            <a:off x="594360" y="1783080"/>
            <a:ext cx="2377440" cy="21031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84 KB of memory for images</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No multiplier: counts, compares, shifts</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Fits a Rs 4,000 FPGA (89% logic, 0 multipliers, SIMULATED place and route)</a:t>
            </a:r>
            <a:endParaRPr lang="en-US" sz="1100" dirty="0"/>
          </a:p>
        </p:txBody>
      </p:sp>
      <p:sp>
        <p:nvSpPr>
          <p:cNvPr id="6"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7" name="Text 5"/>
          <p:cNvSpPr txBox="1"/>
          <p:nvPr/>
        </p:nvSpPr>
        <p:spPr>
          <a:xfrm>
            <a:off x="3383280" y="1280160"/>
            <a:ext cx="2377440" cy="45720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Real device interfaces</a:t>
            </a:r>
            <a:endParaRPr lang="en-US" sz="1400" dirty="0"/>
          </a:p>
        </p:txBody>
      </p:sp>
      <p:sp>
        <p:nvSpPr>
          <p:cNvPr id="8" name="Text 6"/>
          <p:cNvSpPr txBox="1"/>
          <p:nvPr/>
        </p:nvSpPr>
        <p:spPr>
          <a:xfrm>
            <a:off x="3383280" y="1783080"/>
            <a:ext cx="2377440" cy="21031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Camera-style 28x28 picture and 16 kHz microphone samples, encoded on the chip</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UART byte protocol to any microcontroller or PC: learn, dream, predict, read and write memory</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The board's top-level design was simulated end to end: digits recognised from UART bytes</a:t>
            </a:r>
            <a:endParaRPr lang="en-US" sz="1100" dirty="0"/>
          </a:p>
        </p:txBody>
      </p:sp>
      <p:sp>
        <p:nvSpPr>
          <p:cNvPr id="9"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0" name="Text 8"/>
          <p:cNvSpPr txBox="1"/>
          <p:nvPr/>
        </p:nvSpPr>
        <p:spPr>
          <a:xfrm>
            <a:off x="6172200" y="1280160"/>
            <a:ext cx="2377440" cy="45720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Behaviour a device needs</a:t>
            </a:r>
            <a:endParaRPr lang="en-US" sz="1400" dirty="0"/>
          </a:p>
        </p:txBody>
      </p:sp>
      <p:sp>
        <p:nvSpPr>
          <p:cNvPr id="11" name="Text 9"/>
          <p:cNvSpPr txBox="1"/>
          <p:nvPr/>
        </p:nvSpPr>
        <p:spPr>
          <a:xfrm>
            <a:off x="6172200" y="1783080"/>
            <a:ext cx="2377440" cy="21031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Learns new classes in the field, no server</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Sleeps when idle; the night ends by itself</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Memory moves between devices by adding counts</a:t>
            </a:r>
            <a:endParaRPr lang="en-US" sz="1100" dirty="0"/>
          </a:p>
        </p:txBody>
      </p:sp>
      <p:sp>
        <p:nvSpPr>
          <p:cNvPr id="12" name="card"/>
          <p:cNvSpPr/>
          <p:nvPr/>
        </p:nvSpPr>
        <p:spPr>
          <a:xfrm>
            <a:off x="457200" y="4069080"/>
            <a:ext cx="8229600" cy="548640"/>
          </a:xfrm>
          <a:prstGeom prst="roundRect">
            <a:avLst>
              <a:gd name="adj" fmla="val 16667"/>
            </a:avLst>
          </a:prstGeom>
          <a:solidFill>
            <a:srgbClr val="FFF4DD"/>
          </a:solidFill>
          <a:ln w="12700">
            <a:solidFill>
              <a:srgbClr val="FFF4DD"/>
            </a:solidFill>
            <a:prstDash val="solid"/>
          </a:ln>
        </p:spPr>
      </p:sp>
      <p:sp>
        <p:nvSpPr>
          <p:cNvPr id="13" name="Text 11"/>
          <p:cNvSpPr txBox="1"/>
          <p:nvPr/>
        </p:nvSpPr>
        <p:spPr>
          <a:xfrm>
            <a:off x="594360" y="4160520"/>
            <a:ext cx="7955280" cy="41148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Not measured yet: real power, latency and clock speed. They need the board run. Everything here is a design and simulation result.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Verified bit for bit, and laid out</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Text 2"/>
          <p:cNvSpPr txBox="1"/>
          <p:nvPr/>
        </p:nvSpPr>
        <p:spPr>
          <a:xfrm>
            <a:off x="640080" y="1417320"/>
            <a:ext cx="3657600" cy="91440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41 / 41</a:t>
            </a:r>
            <a:endParaRPr lang="en-US" sz="5400" dirty="0"/>
          </a:p>
        </p:txBody>
      </p:sp>
      <p:sp>
        <p:nvSpPr>
          <p:cNvPr id="5" name="Text 3"/>
          <p:cNvSpPr txBox="1"/>
          <p:nvPr/>
        </p:nvSpPr>
        <p:spPr>
          <a:xfrm>
            <a:off x="640080" y="2514600"/>
            <a:ext cx="3657600" cy="17373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RTL checks in one full run, 0 mismatches against the integer model: core, tail memory, IMPRINT, slow table, encoders, cochlea, sound chain, two-sense chip, cue weighting, second look, threshold and novelty units, clustering, stage and night sequencer, raw senses to a whole stage, board top, host schedule.</a:t>
            </a:r>
            <a:endParaRPr lang="en-US" sz="1200" dirty="0"/>
          </a:p>
        </p:txBody>
      </p:sp>
      <p:sp>
        <p:nvSpPr>
          <p:cNvPr id="6" name="Text 4"/>
          <p:cNvSpPr txBox="1"/>
          <p:nvPr/>
        </p:nvSpPr>
        <p:spPr>
          <a:xfrm>
            <a:off x="640080" y="411480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(RTL simulation)</a:t>
            </a:r>
            <a:endParaRPr lang="en-US" sz="1100" dirty="0"/>
          </a:p>
        </p:txBody>
      </p:sp>
      <p:sp>
        <p:nvSpPr>
          <p:cNvPr id="7"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8" name="Text 6"/>
          <p:cNvSpPr txBox="1"/>
          <p:nvPr/>
        </p:nvSpPr>
        <p:spPr>
          <a:xfrm>
            <a:off x="4846320" y="1417320"/>
            <a:ext cx="365760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0</a:t>
            </a:r>
            <a:endParaRPr lang="en-US" sz="5400" dirty="0"/>
          </a:p>
        </p:txBody>
      </p:sp>
      <p:sp>
        <p:nvSpPr>
          <p:cNvPr id="9" name="Text 7"/>
          <p:cNvSpPr txBox="1"/>
          <p:nvPr/>
        </p:nvSpPr>
        <p:spPr>
          <a:xfrm>
            <a:off x="4846320" y="2514600"/>
            <a:ext cx="3657600" cy="1645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violations left in detailed routing of the SKY130 layout (router count; 145,000 on the first pass), re-run from scratch. A layout in the open flow, not a signed-off or fabricated chip.</a:t>
            </a:r>
            <a:endParaRPr lang="en-US" sz="1300" dirty="0"/>
          </a:p>
        </p:txBody>
      </p:sp>
      <p:sp>
        <p:nvSpPr>
          <p:cNvPr id="10" name="Text 8"/>
          <p:cNvSpPr txBox="1"/>
          <p:nvPr/>
        </p:nvSpPr>
        <p:spPr>
          <a:xfrm>
            <a:off x="4846320" y="411480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 (open-source flow, no sign-off)</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design, so you can verify it</a:t>
            </a:r>
            <a:endParaRPr lang="en-US" sz="3000" dirty="0"/>
          </a:p>
        </p:txBody>
      </p:sp>
      <p:sp>
        <p:nvSpPr>
          <p:cNvPr id="3" name="box"/>
          <p:cNvSpPr/>
          <p:nvPr/>
        </p:nvSpPr>
        <p:spPr>
          <a:xfrm>
            <a:off x="365760" y="1280160"/>
            <a:ext cx="1371600" cy="548640"/>
          </a:xfrm>
          <a:prstGeom prst="roundRect">
            <a:avLst>
              <a:gd name="adj" fmla="val 13333"/>
            </a:avLst>
          </a:prstGeom>
          <a:solidFill>
            <a:srgbClr val="F2A93B"/>
          </a:solidFill>
          <a:ln w="12700">
            <a:solidFill>
              <a:srgbClr val="F2A93B"/>
            </a:solidFill>
            <a:prstDash val="solid"/>
          </a:ln>
        </p:spPr>
      </p:sp>
      <p:sp>
        <p:nvSpPr>
          <p:cNvPr id="4" name="Text 2"/>
          <p:cNvSpPr txBox="1"/>
          <p:nvPr/>
        </p:nvSpPr>
        <p:spPr>
          <a:xfrm>
            <a:off x="438912" y="1325880"/>
            <a:ext cx="1225296" cy="457200"/>
          </a:xfrm>
          <a:prstGeom prst="rect">
            <a:avLst/>
          </a:prstGeom>
          <a:noFill/>
          <a:ln/>
        </p:spPr>
        <p:txBody>
          <a:bodyPr wrap="square" lIns="0" tIns="0" rIns="0" bIns="0" rtlCol="0" anchor="ctr"/>
          <a:lstStyle/>
          <a:p>
            <a:pPr algn="ctr" indent="0" marL="0">
              <a:buNone/>
            </a:pPr>
            <a:r>
              <a:rPr lang="en-US" sz="1100" b="1" dirty="0">
                <a:solidFill>
                  <a:schemeClr val="tx1"/>
                </a:solidFill>
                <a:latin typeface="Calibri" pitchFamily="34" charset="0"/>
                <a:ea typeface="Calibri" pitchFamily="34" charset="-122"/>
                <a:cs typeface="Calibri" pitchFamily="34" charset="-120"/>
              </a:rPr>
              <a:t>Retina (picture)</a:t>
            </a:r>
            <a:endParaRPr lang="en-US" sz="1100" dirty="0"/>
          </a:p>
        </p:txBody>
      </p:sp>
      <p:sp>
        <p:nvSpPr>
          <p:cNvPr id="5" name="box"/>
          <p:cNvSpPr/>
          <p:nvPr/>
        </p:nvSpPr>
        <p:spPr>
          <a:xfrm>
            <a:off x="365760" y="2011680"/>
            <a:ext cx="1371600" cy="548640"/>
          </a:xfrm>
          <a:prstGeom prst="roundRect">
            <a:avLst>
              <a:gd name="adj" fmla="val 13333"/>
            </a:avLst>
          </a:prstGeom>
          <a:solidFill>
            <a:srgbClr val="F2A93B"/>
          </a:solidFill>
          <a:ln w="12700">
            <a:solidFill>
              <a:srgbClr val="F2A93B"/>
            </a:solidFill>
            <a:prstDash val="solid"/>
          </a:ln>
        </p:spPr>
      </p:sp>
      <p:sp>
        <p:nvSpPr>
          <p:cNvPr id="6" name="Text 4"/>
          <p:cNvSpPr txBox="1"/>
          <p:nvPr/>
        </p:nvSpPr>
        <p:spPr>
          <a:xfrm>
            <a:off x="438912" y="2057400"/>
            <a:ext cx="1225296" cy="457200"/>
          </a:xfrm>
          <a:prstGeom prst="rect">
            <a:avLst/>
          </a:prstGeom>
          <a:noFill/>
          <a:ln/>
        </p:spPr>
        <p:txBody>
          <a:bodyPr wrap="square" lIns="0" tIns="0" rIns="0" bIns="0" rtlCol="0" anchor="ctr"/>
          <a:lstStyle/>
          <a:p>
            <a:pPr algn="ctr" indent="0" marL="0">
              <a:buNone/>
            </a:pPr>
            <a:r>
              <a:rPr lang="en-US" sz="1100" b="1" dirty="0">
                <a:solidFill>
                  <a:schemeClr val="tx1"/>
                </a:solidFill>
                <a:latin typeface="Calibri" pitchFamily="34" charset="0"/>
                <a:ea typeface="Calibri" pitchFamily="34" charset="-122"/>
                <a:cs typeface="Calibri" pitchFamily="34" charset="-120"/>
              </a:rPr>
              <a:t>Cochlea (sound)</a:t>
            </a:r>
            <a:endParaRPr lang="en-US" sz="1100" dirty="0"/>
          </a:p>
        </p:txBody>
      </p:sp>
      <p:sp>
        <p:nvSpPr>
          <p:cNvPr id="7" name="arrow"/>
          <p:cNvSpPr/>
          <p:nvPr/>
        </p:nvSpPr>
        <p:spPr>
          <a:xfrm>
            <a:off x="1737360" y="1554480"/>
            <a:ext cx="411480" cy="228600"/>
          </a:xfrm>
          <a:prstGeom prst="line">
            <a:avLst/>
          </a:prstGeom>
          <a:noFill/>
          <a:ln w="19050">
            <a:solidFill>
              <a:srgbClr val="6B7280"/>
            </a:solidFill>
            <a:prstDash val="solid"/>
            <a:tailEnd type="triangle"/>
          </a:ln>
        </p:spPr>
      </p:sp>
      <p:sp>
        <p:nvSpPr>
          <p:cNvPr id="8" name="arrow"/>
          <p:cNvSpPr/>
          <p:nvPr/>
        </p:nvSpPr>
        <p:spPr>
          <a:xfrm>
            <a:off x="1737360" y="2286000"/>
            <a:ext cx="411480" cy="-228600"/>
          </a:xfrm>
          <a:prstGeom prst="line">
            <a:avLst/>
          </a:prstGeom>
          <a:noFill/>
          <a:ln w="19050">
            <a:solidFill>
              <a:srgbClr val="6B7280"/>
            </a:solidFill>
            <a:prstDash val="solid"/>
            <a:tailEnd type="triangle"/>
          </a:ln>
        </p:spPr>
      </p:sp>
      <p:sp>
        <p:nvSpPr>
          <p:cNvPr id="9" name="box"/>
          <p:cNvSpPr/>
          <p:nvPr/>
        </p:nvSpPr>
        <p:spPr>
          <a:xfrm>
            <a:off x="2148840" y="1463040"/>
            <a:ext cx="1554480" cy="731520"/>
          </a:xfrm>
          <a:prstGeom prst="roundRect">
            <a:avLst>
              <a:gd name="adj" fmla="val 10000"/>
            </a:avLst>
          </a:prstGeom>
          <a:solidFill>
            <a:srgbClr val="2B3270"/>
          </a:solidFill>
          <a:ln w="12700">
            <a:solidFill>
              <a:srgbClr val="2B3270"/>
            </a:solidFill>
            <a:prstDash val="solid"/>
          </a:ln>
        </p:spPr>
      </p:sp>
      <p:sp>
        <p:nvSpPr>
          <p:cNvPr id="10" name="Text 8"/>
          <p:cNvSpPr txBox="1"/>
          <p:nvPr/>
        </p:nvSpPr>
        <p:spPr>
          <a:xfrm>
            <a:off x="2221992" y="1508760"/>
            <a:ext cx="1408176" cy="640080"/>
          </a:xfrm>
          <a:prstGeom prst="rect">
            <a:avLst/>
          </a:prstGeom>
          <a:noFill/>
          <a:ln/>
        </p:spPr>
        <p:txBody>
          <a:bodyPr wrap="square" lIns="0" tIns="0" rIns="0" bIns="0" rtlCol="0" anchor="ctr"/>
          <a:lstStyle/>
          <a:p>
            <a:pPr algn="ctr" indent="0" marL="0">
              <a:buNone/>
            </a:pPr>
            <a:r>
              <a:rPr lang="en-US" sz="1000" b="1" dirty="0">
                <a:solidFill>
                  <a:schemeClr val="bg1"/>
                </a:solidFill>
                <a:latin typeface="Calibri" pitchFamily="34" charset="0"/>
                <a:ea typeface="Calibri" pitchFamily="34" charset="-122"/>
                <a:cs typeface="Calibri" pitchFamily="34" charset="-120"/>
              </a:rPr>
              <a:t>Detectors: sparse code, learned without labels</a:t>
            </a:r>
            <a:endParaRPr lang="en-US" sz="1000" dirty="0"/>
          </a:p>
        </p:txBody>
      </p:sp>
      <p:sp>
        <p:nvSpPr>
          <p:cNvPr id="11" name="arrow"/>
          <p:cNvSpPr/>
          <p:nvPr/>
        </p:nvSpPr>
        <p:spPr>
          <a:xfrm>
            <a:off x="3703320" y="1828800"/>
            <a:ext cx="411480" cy="0"/>
          </a:xfrm>
          <a:prstGeom prst="line">
            <a:avLst/>
          </a:prstGeom>
          <a:noFill/>
          <a:ln w="19050">
            <a:solidFill>
              <a:srgbClr val="6B7280"/>
            </a:solidFill>
            <a:prstDash val="solid"/>
            <a:tailEnd type="triangle"/>
          </a:ln>
        </p:spPr>
      </p:sp>
      <p:sp>
        <p:nvSpPr>
          <p:cNvPr id="12" name="box"/>
          <p:cNvSpPr/>
          <p:nvPr/>
        </p:nvSpPr>
        <p:spPr>
          <a:xfrm>
            <a:off x="4114800" y="1188720"/>
            <a:ext cx="2377440" cy="1463040"/>
          </a:xfrm>
          <a:prstGeom prst="roundRect">
            <a:avLst>
              <a:gd name="adj" fmla="val 5000"/>
            </a:avLst>
          </a:prstGeom>
          <a:solidFill>
            <a:srgbClr val="5B6BD6"/>
          </a:solidFill>
          <a:ln w="12700">
            <a:solidFill>
              <a:srgbClr val="5B6BD6"/>
            </a:solidFill>
            <a:prstDash val="solid"/>
          </a:ln>
        </p:spPr>
      </p:sp>
      <p:sp>
        <p:nvSpPr>
          <p:cNvPr id="13" name="Text 11"/>
          <p:cNvSpPr txBox="1"/>
          <p:nvPr/>
        </p:nvSpPr>
        <p:spPr>
          <a:xfrm>
            <a:off x="4187952" y="1234440"/>
            <a:ext cx="2231136" cy="137160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Core: fast 5-bit table, dream counters (10-bit), slow table; counts, compares, shifts; no multiplier</a:t>
            </a:r>
            <a:endParaRPr lang="en-US" sz="1100" dirty="0"/>
          </a:p>
        </p:txBody>
      </p:sp>
      <p:sp>
        <p:nvSpPr>
          <p:cNvPr id="14" name="arrow"/>
          <p:cNvSpPr/>
          <p:nvPr/>
        </p:nvSpPr>
        <p:spPr>
          <a:xfrm>
            <a:off x="6492240" y="1828800"/>
            <a:ext cx="411480" cy="0"/>
          </a:xfrm>
          <a:prstGeom prst="line">
            <a:avLst/>
          </a:prstGeom>
          <a:noFill/>
          <a:ln w="19050">
            <a:solidFill>
              <a:srgbClr val="6B7280"/>
            </a:solidFill>
            <a:prstDash val="solid"/>
            <a:tailEnd type="triangle"/>
          </a:ln>
        </p:spPr>
      </p:sp>
      <p:sp>
        <p:nvSpPr>
          <p:cNvPr id="15" name="box"/>
          <p:cNvSpPr/>
          <p:nvPr/>
        </p:nvSpPr>
        <p:spPr>
          <a:xfrm>
            <a:off x="6903720" y="1463040"/>
            <a:ext cx="1737360" cy="731520"/>
          </a:xfrm>
          <a:prstGeom prst="roundRect">
            <a:avLst>
              <a:gd name="adj" fmla="val 10000"/>
            </a:avLst>
          </a:prstGeom>
          <a:solidFill>
            <a:srgbClr val="2FA37A"/>
          </a:solidFill>
          <a:ln w="12700">
            <a:solidFill>
              <a:srgbClr val="2FA37A"/>
            </a:solidFill>
            <a:prstDash val="solid"/>
          </a:ln>
        </p:spPr>
      </p:sp>
      <p:sp>
        <p:nvSpPr>
          <p:cNvPr id="16" name="Text 14"/>
          <p:cNvSpPr txBox="1"/>
          <p:nvPr/>
        </p:nvSpPr>
        <p:spPr>
          <a:xfrm>
            <a:off x="6976872" y="1508760"/>
            <a:ext cx="1591056" cy="64008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Decision (XNOR + popcount)</a:t>
            </a:r>
            <a:endParaRPr lang="en-US" sz="1100" dirty="0"/>
          </a:p>
        </p:txBody>
      </p:sp>
      <p:sp>
        <p:nvSpPr>
          <p:cNvPr id="17" name="box"/>
          <p:cNvSpPr/>
          <p:nvPr/>
        </p:nvSpPr>
        <p:spPr>
          <a:xfrm>
            <a:off x="365760" y="2926080"/>
            <a:ext cx="1920240" cy="502920"/>
          </a:xfrm>
          <a:prstGeom prst="roundRect">
            <a:avLst>
              <a:gd name="adj" fmla="val 14545"/>
            </a:avLst>
          </a:prstGeom>
          <a:solidFill>
            <a:schemeClr val="bg2"/>
          </a:solidFill>
          <a:ln w="12700">
            <a:solidFill>
              <a:schemeClr val="bg2"/>
            </a:solidFill>
            <a:prstDash val="solid"/>
          </a:ln>
        </p:spPr>
      </p:sp>
      <p:sp>
        <p:nvSpPr>
          <p:cNvPr id="18" name="Text 16"/>
          <p:cNvSpPr txBox="1"/>
          <p:nvPr/>
        </p:nvSpPr>
        <p:spPr>
          <a:xfrm>
            <a:off x="43891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Second look (finer code)</a:t>
            </a:r>
            <a:endParaRPr lang="en-US" sz="1000" dirty="0"/>
          </a:p>
        </p:txBody>
      </p:sp>
      <p:sp>
        <p:nvSpPr>
          <p:cNvPr id="19" name="box"/>
          <p:cNvSpPr/>
          <p:nvPr/>
        </p:nvSpPr>
        <p:spPr>
          <a:xfrm>
            <a:off x="2377440" y="2926080"/>
            <a:ext cx="1920240" cy="502920"/>
          </a:xfrm>
          <a:prstGeom prst="roundRect">
            <a:avLst>
              <a:gd name="adj" fmla="val 14545"/>
            </a:avLst>
          </a:prstGeom>
          <a:solidFill>
            <a:schemeClr val="bg2"/>
          </a:solidFill>
          <a:ln w="12700">
            <a:solidFill>
              <a:schemeClr val="bg2"/>
            </a:solidFill>
            <a:prstDash val="solid"/>
          </a:ln>
        </p:spPr>
      </p:sp>
      <p:sp>
        <p:nvSpPr>
          <p:cNvPr id="20" name="Text 18"/>
          <p:cNvSpPr txBox="1"/>
          <p:nvPr/>
        </p:nvSpPr>
        <p:spPr>
          <a:xfrm>
            <a:off x="245059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Tail memory (sleep)</a:t>
            </a:r>
            <a:endParaRPr lang="en-US" sz="1000" dirty="0"/>
          </a:p>
        </p:txBody>
      </p:sp>
      <p:sp>
        <p:nvSpPr>
          <p:cNvPr id="21" name="box"/>
          <p:cNvSpPr/>
          <p:nvPr/>
        </p:nvSpPr>
        <p:spPr>
          <a:xfrm>
            <a:off x="4389120" y="2926080"/>
            <a:ext cx="1920240" cy="502920"/>
          </a:xfrm>
          <a:prstGeom prst="roundRect">
            <a:avLst>
              <a:gd name="adj" fmla="val 14545"/>
            </a:avLst>
          </a:prstGeom>
          <a:solidFill>
            <a:schemeClr val="bg2"/>
          </a:solidFill>
          <a:ln w="12700">
            <a:solidFill>
              <a:schemeClr val="bg2"/>
            </a:solidFill>
            <a:prstDash val="solid"/>
          </a:ln>
        </p:spPr>
      </p:sp>
      <p:sp>
        <p:nvSpPr>
          <p:cNvPr id="22" name="Text 20"/>
          <p:cNvSpPr txBox="1"/>
          <p:nvPr/>
        </p:nvSpPr>
        <p:spPr>
          <a:xfrm>
            <a:off x="446227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Cue weighting (2 senses)</a:t>
            </a:r>
            <a:endParaRPr lang="en-US" sz="1000" dirty="0"/>
          </a:p>
        </p:txBody>
      </p:sp>
      <p:sp>
        <p:nvSpPr>
          <p:cNvPr id="23" name="box"/>
          <p:cNvSpPr/>
          <p:nvPr/>
        </p:nvSpPr>
        <p:spPr>
          <a:xfrm>
            <a:off x="6400800" y="2926080"/>
            <a:ext cx="2194560" cy="502920"/>
          </a:xfrm>
          <a:prstGeom prst="roundRect">
            <a:avLst>
              <a:gd name="adj" fmla="val 14545"/>
            </a:avLst>
          </a:prstGeom>
          <a:solidFill>
            <a:schemeClr val="bg2"/>
          </a:solidFill>
          <a:ln w="12700">
            <a:solidFill>
              <a:schemeClr val="bg2"/>
            </a:solidFill>
            <a:prstDash val="solid"/>
          </a:ln>
        </p:spPr>
      </p:sp>
      <p:sp>
        <p:nvSpPr>
          <p:cNvPr id="24" name="Text 22"/>
          <p:cNvSpPr txBox="1"/>
          <p:nvPr/>
        </p:nvSpPr>
        <p:spPr>
          <a:xfrm>
            <a:off x="6473952" y="2971800"/>
            <a:ext cx="204825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Thresholds, novelty, grouping</a:t>
            </a:r>
            <a:endParaRPr lang="en-US" sz="1000" dirty="0"/>
          </a:p>
        </p:txBody>
      </p:sp>
      <p:sp>
        <p:nvSpPr>
          <p:cNvPr id="25" name="Text 23"/>
          <p:cNvSpPr txBox="1"/>
          <p:nvPr/>
        </p:nvSpPr>
        <p:spPr>
          <a:xfrm>
            <a:off x="365760" y="2697480"/>
            <a:ext cx="8229600" cy="365760"/>
          </a:xfrm>
          <a:prstGeom prst="rect">
            <a:avLst/>
          </a:prstGeom>
          <a:noFill/>
          <a:ln/>
        </p:spPr>
        <p:txBody>
          <a:bodyPr wrap="square" lIns="0" tIns="0" rIns="0" bIns="0" rtlCol="0" anchor="t"/>
          <a:lstStyle/>
          <a:p>
            <a:pPr indent="0" marL="0">
              <a:buNone/>
            </a:pPr>
            <a:r>
              <a:rPr lang="en-US" sz="1000" dirty="0">
                <a:solidFill>
                  <a:schemeClr val="accent6"/>
                </a:solidFill>
                <a:latin typeface="Calibri" pitchFamily="34" charset="0"/>
                <a:ea typeface="Calibri" pitchFamily="34" charset="-122"/>
                <a:cs typeface="Calibri" pitchFamily="34" charset="-120"/>
              </a:rPr>
              <a:t>On-chip units added after the core, each checked bit for bit</a:t>
            </a:r>
            <a:endParaRPr lang="en-US" sz="1000" dirty="0"/>
          </a:p>
        </p:txBody>
      </p:sp>
      <p:sp>
        <p:nvSpPr>
          <p:cNvPr id="26" name="card"/>
          <p:cNvSpPr/>
          <p:nvPr/>
        </p:nvSpPr>
        <p:spPr>
          <a:xfrm>
            <a:off x="365760" y="3611880"/>
            <a:ext cx="8321040" cy="914400"/>
          </a:xfrm>
          <a:prstGeom prst="roundRect">
            <a:avLst>
              <a:gd name="adj" fmla="val 10000"/>
            </a:avLst>
          </a:prstGeom>
          <a:solidFill>
            <a:schemeClr val="bg2"/>
          </a:solidFill>
          <a:ln w="12700">
            <a:solidFill>
              <a:schemeClr val="bg2"/>
            </a:solidFill>
            <a:prstDash val="solid"/>
          </a:ln>
        </p:spPr>
      </p:sp>
      <p:sp>
        <p:nvSpPr>
          <p:cNvPr id="27" name="Text 25"/>
          <p:cNvSpPr txBox="1"/>
          <p:nvPr/>
        </p:nvSpPr>
        <p:spPr>
          <a:xfrm>
            <a:off x="502920" y="3703320"/>
            <a:ext cx="8046720" cy="77724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Verify: every unit has a Verilog file, a testbench and a script that compares the RTL with the integer model (0 mismatches). One command, sh hw/run_all_checks.sh, reruns all checks. The repository and all logs are available to reviewers on request. Everything shown is SIMULATED; nothing is measured on hardware yet.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L solves, and what it does not</a:t>
            </a:r>
            <a:endParaRPr lang="en-US" sz="3000" dirty="0"/>
          </a:p>
        </p:txBody>
      </p:sp>
      <p:sp>
        <p:nvSpPr>
          <p:cNvPr id="3" name="card"/>
          <p:cNvSpPr/>
          <p:nvPr/>
        </p:nvSpPr>
        <p:spPr>
          <a:xfrm>
            <a:off x="457200" y="1280160"/>
            <a:ext cx="4023360" cy="3291840"/>
          </a:xfrm>
          <a:prstGeom prst="roundRect">
            <a:avLst>
              <a:gd name="adj" fmla="val 2778"/>
            </a:avLst>
          </a:prstGeom>
          <a:solidFill>
            <a:schemeClr val="bg2"/>
          </a:solidFill>
          <a:ln w="12700">
            <a:solidFill>
              <a:schemeClr val="bg2"/>
            </a:solidFill>
            <a:prstDash val="solid"/>
          </a:ln>
        </p:spPr>
      </p:sp>
      <p:sp>
        <p:nvSpPr>
          <p:cNvPr id="4" name="card"/>
          <p:cNvSpPr/>
          <p:nvPr/>
        </p:nvSpPr>
        <p:spPr>
          <a:xfrm>
            <a:off x="4663440" y="1280160"/>
            <a:ext cx="4023360" cy="3291840"/>
          </a:xfrm>
          <a:prstGeom prst="roundRect">
            <a:avLst>
              <a:gd name="adj" fmla="val 2778"/>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3"/>
                </a:solidFill>
                <a:latin typeface="Cambria" pitchFamily="34" charset="0"/>
                <a:ea typeface="Cambria" pitchFamily="34" charset="-122"/>
                <a:cs typeface="Cambria" pitchFamily="34" charset="-120"/>
              </a:rPr>
              <a:t>What L solves</a:t>
            </a:r>
            <a:endParaRPr lang="en-US" sz="2000" dirty="0"/>
          </a:p>
        </p:txBody>
      </p:sp>
      <p:sp>
        <p:nvSpPr>
          <p:cNvPr id="6" name="Text 4"/>
          <p:cNvSpPr txBox="1"/>
          <p:nvPr/>
        </p:nvSpPr>
        <p:spPr>
          <a:xfrm>
            <a:off x="640080" y="1874520"/>
            <a:ext cx="36576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Small AI on devices that must keep learning: no retraining on a server, no hardware thrown away to update it (SIMULATED)</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No stored examples, 84 KB of memory for images, no multiplier</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About 74x less energy per decision than an 8-bit network, counting operations needed (ESTIMATED)</a:t>
            </a:r>
            <a:endParaRPr lang="en-US" sz="13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4"/>
                </a:solidFill>
                <a:latin typeface="Cambria" pitchFamily="34" charset="0"/>
                <a:ea typeface="Cambria" pitchFamily="34" charset="-122"/>
                <a:cs typeface="Cambria" pitchFamily="34" charset="-120"/>
              </a:rPr>
              <a:t>What L does not solve</a:t>
            </a:r>
            <a:endParaRPr lang="en-US" sz="2000" dirty="0"/>
          </a:p>
        </p:txBody>
      </p:sp>
      <p:sp>
        <p:nvSpPr>
          <p:cNvPr id="8" name="Text 6"/>
          <p:cNvSpPr txBox="1"/>
          <p:nvPr/>
        </p:nvSpPr>
        <p:spPr>
          <a:xfrm>
            <a:off x="4846320" y="1874520"/>
            <a:ext cx="36576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The cost of large language models and image generators: GPU and memory prices, data-centre heat and water</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It cannot run existing models (CNNs, transformers, LLMs): it is a dedicated chip for its own brain-style model</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Nothing is measured on hardware yet</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Why the model must change, not just the chip</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502920"/>
          </a:xfrm>
          <a:prstGeom prst="rect">
            <a:avLst/>
          </a:prstGeom>
          <a:noFill/>
          <a:ln/>
        </p:spPr>
        <p:txBody>
          <a:bodyPr wrap="square" lIns="0" tIns="0" rIns="0" bIns="0" rtlCol="0" anchor="t"/>
          <a:lstStyle/>
          <a:p>
            <a:pPr indent="0" marL="0">
              <a:buNone/>
            </a:pPr>
            <a:r>
              <a:rPr lang="en-US" sz="1400" b="1" dirty="0">
                <a:solidFill>
                  <a:schemeClr val="accent4"/>
                </a:solidFill>
                <a:latin typeface="Cambria" pitchFamily="34" charset="0"/>
                <a:ea typeface="Cambria" pitchFamily="34" charset="-122"/>
                <a:cs typeface="Cambria" pitchFamily="34" charset="-120"/>
              </a:rPr>
              <a:t>A chip alone cannot fix it</a:t>
            </a:r>
            <a:endParaRPr lang="en-US" sz="1400" dirty="0"/>
          </a:p>
        </p:txBody>
      </p:sp>
      <p:sp>
        <p:nvSpPr>
          <p:cNvPr id="5" name="Text 3"/>
          <p:cNvSpPr txBox="1"/>
          <p:nvPr/>
        </p:nvSpPr>
        <p:spPr>
          <a:xfrm>
            <a:off x="59436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faster chip for a standard transformer is a GPU or a TPU, and those already exist, with far more money behind them. The waste is in the model: dense maths on every weight for every word.</a:t>
            </a:r>
            <a:endParaRPr lang="en-US" sz="1300" dirty="0"/>
          </a:p>
        </p:txBody>
      </p:sp>
      <p:sp>
        <p:nvSpPr>
          <p:cNvPr id="6" name="Text 4"/>
          <p:cNvSpPr txBox="1"/>
          <p:nvPr/>
        </p:nvSpPr>
        <p:spPr>
          <a:xfrm>
            <a:off x="59436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Reasoning from public facts</a:t>
            </a:r>
            <a:endParaRPr lang="en-US" sz="1000" dirty="0"/>
          </a:p>
        </p:txBody>
      </p:sp>
      <p:sp>
        <p:nvSpPr>
          <p:cNvPr id="7"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8" name="Text 6"/>
          <p:cNvSpPr txBox="1"/>
          <p:nvPr/>
        </p:nvSpPr>
        <p:spPr>
          <a:xfrm>
            <a:off x="3383280" y="1280160"/>
            <a:ext cx="2377440" cy="50292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What must change in the model</a:t>
            </a:r>
            <a:endParaRPr lang="en-US" sz="1400" dirty="0"/>
          </a:p>
        </p:txBody>
      </p:sp>
      <p:sp>
        <p:nvSpPr>
          <p:cNvPr id="9" name="Text 7"/>
          <p:cNvSpPr txBox="1"/>
          <p:nvPr/>
        </p:nvSpPr>
        <p:spPr>
          <a:xfrm>
            <a:off x="338328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constant-size state instead of an attention memory that grows with the text. Sparse activity, so only a few rows are touched. Low-bit or counting weights. Local learning by counting, because backpropagation needs gradients and a lot of memory.</a:t>
            </a:r>
            <a:endParaRPr lang="en-US" sz="1300" dirty="0"/>
          </a:p>
        </p:txBody>
      </p:sp>
      <p:sp>
        <p:nvSpPr>
          <p:cNvPr id="10" name="Text 8"/>
          <p:cNvSpPr txBox="1"/>
          <p:nvPr/>
        </p:nvSpPr>
        <p:spPr>
          <a:xfrm>
            <a:off x="338328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The L design rules</a:t>
            </a:r>
            <a:endParaRPr lang="en-US" sz="1000" dirty="0"/>
          </a:p>
        </p:txBody>
      </p:sp>
      <p:sp>
        <p:nvSpPr>
          <p:cNvPr id="11"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2" name="Text 10"/>
          <p:cNvSpPr txBox="1"/>
          <p:nvPr/>
        </p:nvSpPr>
        <p:spPr>
          <a:xfrm>
            <a:off x="6172200" y="1280160"/>
            <a:ext cx="2377440" cy="50292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So: design them together</a:t>
            </a:r>
            <a:endParaRPr lang="en-US" sz="1400" dirty="0"/>
          </a:p>
        </p:txBody>
      </p:sp>
      <p:sp>
        <p:nvSpPr>
          <p:cNvPr id="13" name="Text 11"/>
          <p:cNvSpPr txBox="1"/>
          <p:nvPr/>
        </p:nvSpPr>
        <p:spPr>
          <a:xfrm>
            <a:off x="617220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Alter an existing model to these rules, or design a new one with them, and build the chip for exactly that. Model and chip designed together: that is the L bet. Without the model change we would only be a weaker GPU.</a:t>
            </a:r>
            <a:endParaRPr lang="en-US" sz="1300" dirty="0"/>
          </a:p>
        </p:txBody>
      </p:sp>
      <p:sp>
        <p:nvSpPr>
          <p:cNvPr id="14" name="Text 12"/>
          <p:cNvSpPr txBox="1"/>
          <p:nvPr/>
        </p:nvSpPr>
        <p:spPr>
          <a:xfrm>
            <a:off x="617220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The L hypothesis</a:t>
            </a:r>
            <a:endParaRPr lang="en-US" sz="1000" dirty="0"/>
          </a:p>
        </p:txBody>
      </p:sp>
      <p:sp>
        <p:nvSpPr>
          <p:cNvPr id="15" name="card"/>
          <p:cNvSpPr/>
          <p:nvPr/>
        </p:nvSpPr>
        <p:spPr>
          <a:xfrm>
            <a:off x="457200" y="4069080"/>
            <a:ext cx="8229600" cy="566928"/>
          </a:xfrm>
          <a:prstGeom prst="roundRect">
            <a:avLst>
              <a:gd name="adj" fmla="val 16129"/>
            </a:avLst>
          </a:prstGeom>
          <a:solidFill>
            <a:srgbClr val="FFF4DD"/>
          </a:solidFill>
          <a:ln w="12700">
            <a:solidFill>
              <a:srgbClr val="FFF4DD"/>
            </a:solidFill>
            <a:prstDash val="solid"/>
          </a:ln>
        </p:spPr>
      </p:sp>
      <p:sp>
        <p:nvSpPr>
          <p:cNvPr id="16" name="Text 14"/>
          <p:cNvSpPr txBox="1"/>
          <p:nvPr/>
        </p:nvSpPr>
        <p:spPr>
          <a:xfrm>
            <a:off x="594360" y="4142232"/>
            <a:ext cx="7955280" cy="4572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Honest status: the small version works (L Cortex, classifiers). The language-model version is untested, with tests that can prove it wrong.</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real AI models can run on L</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50292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Alter an existing model</a:t>
            </a:r>
            <a:endParaRPr lang="en-US" sz="1400" dirty="0"/>
          </a:p>
        </p:txBody>
      </p:sp>
      <p:sp>
        <p:nvSpPr>
          <p:cNvPr id="5" name="Text 3"/>
          <p:cNvSpPr txBox="1"/>
          <p:nvPr/>
        </p:nvSpPr>
        <p:spPr>
          <a:xfrm>
            <a:off x="59436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Ternary weights (-1, 0, +1) turn multiplies into adds; published work runs language models of billions of parameters this way. Table and event-driven forms drop the multiplier too. Cost: some accuracy.</a:t>
            </a:r>
            <a:endParaRPr lang="en-US" sz="1300" dirty="0"/>
          </a:p>
        </p:txBody>
      </p:sp>
      <p:sp>
        <p:nvSpPr>
          <p:cNvPr id="6" name="Text 4"/>
          <p:cNvSpPr txBox="1"/>
          <p:nvPr/>
        </p:nvSpPr>
        <p:spPr>
          <a:xfrm>
            <a:off x="59436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Published research, verify; ternary is still a matrix of adds</a:t>
            </a:r>
            <a:endParaRPr lang="en-US" sz="1000" dirty="0"/>
          </a:p>
        </p:txBody>
      </p:sp>
      <p:sp>
        <p:nvSpPr>
          <p:cNvPr id="7"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8" name="Text 6"/>
          <p:cNvSpPr txBox="1"/>
          <p:nvPr/>
        </p:nvSpPr>
        <p:spPr>
          <a:xfrm>
            <a:off x="3383280" y="1280160"/>
            <a:ext cx="2377440" cy="50292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Design our own model</a:t>
            </a:r>
            <a:endParaRPr lang="en-US" sz="1400" dirty="0"/>
          </a:p>
        </p:txBody>
      </p:sp>
      <p:sp>
        <p:nvSpPr>
          <p:cNvPr id="9" name="Text 7"/>
          <p:cNvSpPr txBox="1"/>
          <p:nvPr/>
        </p:nvSpPr>
        <p:spPr>
          <a:xfrm>
            <a:off x="338328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counting language model: hash the recent words into a sparse code, a table of counters predicts the next word one bit at a time. No multiplier, no matrix, and it learns on the device.</a:t>
            </a:r>
            <a:endParaRPr lang="en-US" sz="1300" dirty="0"/>
          </a:p>
        </p:txBody>
      </p:sp>
      <p:sp>
        <p:nvSpPr>
          <p:cNvPr id="10" name="Text 8"/>
          <p:cNvSpPr txBox="1"/>
          <p:nvPr/>
        </p:nvSpPr>
        <p:spPr>
          <a:xfrm>
            <a:off x="338328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Counting classifier SIMULATED; language model is the next test</a:t>
            </a:r>
            <a:endParaRPr lang="en-US" sz="1000" dirty="0"/>
          </a:p>
        </p:txBody>
      </p:sp>
      <p:sp>
        <p:nvSpPr>
          <p:cNvPr id="11"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2" name="Text 10"/>
          <p:cNvSpPr txBox="1"/>
          <p:nvPr/>
        </p:nvSpPr>
        <p:spPr>
          <a:xfrm>
            <a:off x="6172200" y="1280160"/>
            <a:ext cx="2377440" cy="50292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Grow the memory</a:t>
            </a:r>
            <a:endParaRPr lang="en-US" sz="1400" dirty="0"/>
          </a:p>
        </p:txBody>
      </p:sp>
      <p:sp>
        <p:nvSpPr>
          <p:cNvPr id="13" name="Text 11"/>
          <p:cNvSpPr txBox="1"/>
          <p:nvPr/>
        </p:nvSpPr>
        <p:spPr>
          <a:xfrm>
            <a:off x="617220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Big tables live in outside DRAM. Sparse lookups touch only a few rows per word, so bandwidth stays small. First test: quality against table size in simulation, then a board with DRAM.</a:t>
            </a:r>
            <a:endParaRPr lang="en-US" sz="1300" dirty="0"/>
          </a:p>
        </p:txBody>
      </p:sp>
      <p:sp>
        <p:nvSpPr>
          <p:cNvPr id="14" name="Text 12"/>
          <p:cNvSpPr txBox="1"/>
          <p:nvPr/>
        </p:nvSpPr>
        <p:spPr>
          <a:xfrm>
            <a:off x="617220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ESTIMATED; a hypothesis with tests</a:t>
            </a:r>
            <a:endParaRPr lang="en-US" sz="1000" dirty="0"/>
          </a:p>
        </p:txBody>
      </p:sp>
      <p:sp>
        <p:nvSpPr>
          <p:cNvPr id="15" name="card"/>
          <p:cNvSpPr/>
          <p:nvPr/>
        </p:nvSpPr>
        <p:spPr>
          <a:xfrm>
            <a:off x="457200" y="4069080"/>
            <a:ext cx="8229600" cy="566928"/>
          </a:xfrm>
          <a:prstGeom prst="roundRect">
            <a:avLst>
              <a:gd name="adj" fmla="val 16129"/>
            </a:avLst>
          </a:prstGeom>
          <a:solidFill>
            <a:srgbClr val="FFF4DD"/>
          </a:solidFill>
          <a:ln w="12700">
            <a:solidFill>
              <a:srgbClr val="FFF4DD"/>
            </a:solidFill>
            <a:prstDash val="solid"/>
          </a:ln>
        </p:spPr>
      </p:sp>
      <p:sp>
        <p:nvSpPr>
          <p:cNvPr id="16" name="Text 14"/>
          <p:cNvSpPr txBox="1"/>
          <p:nvPr/>
        </p:nvSpPr>
        <p:spPr>
          <a:xfrm>
            <a:off x="594360" y="4142232"/>
            <a:ext cx="7955280" cy="4572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Status: we claim the route and the tests that can prove it wrong, not a billion-parameter result. The chip today is the small version of this idea.</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hypothesis we will test</a:t>
            </a:r>
            <a:endParaRPr lang="en-US" sz="3000" dirty="0"/>
          </a:p>
        </p:txBody>
      </p:sp>
      <p:sp>
        <p:nvSpPr>
          <p:cNvPr id="3" name="card"/>
          <p:cNvSpPr/>
          <p:nvPr/>
        </p:nvSpPr>
        <p:spPr>
          <a:xfrm>
            <a:off x="457200" y="1234440"/>
            <a:ext cx="8229600" cy="1234440"/>
          </a:xfrm>
          <a:prstGeom prst="roundRect">
            <a:avLst>
              <a:gd name="adj" fmla="val 7407"/>
            </a:avLst>
          </a:prstGeom>
          <a:solidFill>
            <a:srgbClr val="FFF4DD"/>
          </a:solidFill>
          <a:ln w="12700">
            <a:solidFill>
              <a:srgbClr val="FFF4DD"/>
            </a:solidFill>
            <a:prstDash val="solid"/>
          </a:ln>
        </p:spPr>
      </p:sp>
      <p:sp>
        <p:nvSpPr>
          <p:cNvPr id="4" name="Text 2"/>
          <p:cNvSpPr txBox="1"/>
          <p:nvPr/>
        </p:nvSpPr>
        <p:spPr>
          <a:xfrm>
            <a:off x="640080" y="1325880"/>
            <a:ext cx="7863840" cy="36576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HYPOTHESIS (not a result)</a:t>
            </a:r>
            <a:endParaRPr lang="en-US" sz="1200" dirty="0"/>
          </a:p>
        </p:txBody>
      </p:sp>
      <p:sp>
        <p:nvSpPr>
          <p:cNvPr id="5" name="Text 3"/>
          <p:cNvSpPr txBox="1"/>
          <p:nvPr/>
        </p:nvSpPr>
        <p:spPr>
          <a:xfrm>
            <a:off x="640080" y="1600200"/>
            <a:ext cx="786384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brain-style model with constant-size state, sparse event-driven activity and low-bit weights, on a chip built for it, needs far less memory traffic and energy per token than a transformer on a GPU at the same quality, and so less scarce HBM, heat and water.</a:t>
            </a:r>
            <a:endParaRPr lang="en-US" sz="1400" dirty="0"/>
          </a:p>
        </p:txBody>
      </p:sp>
      <p:sp>
        <p:nvSpPr>
          <p:cNvPr id="6" name="card"/>
          <p:cNvSpPr/>
          <p:nvPr/>
        </p:nvSpPr>
        <p:spPr>
          <a:xfrm>
            <a:off x="457200" y="2651760"/>
            <a:ext cx="4023360" cy="1920240"/>
          </a:xfrm>
          <a:prstGeom prst="roundRect">
            <a:avLst>
              <a:gd name="adj" fmla="val 4762"/>
            </a:avLst>
          </a:prstGeom>
          <a:solidFill>
            <a:schemeClr val="bg2"/>
          </a:solidFill>
          <a:ln w="12700">
            <a:solidFill>
              <a:schemeClr val="bg2"/>
            </a:solidFill>
            <a:prstDash val="solid"/>
          </a:ln>
        </p:spPr>
      </p:sp>
      <p:sp>
        <p:nvSpPr>
          <p:cNvPr id="7" name="card"/>
          <p:cNvSpPr/>
          <p:nvPr/>
        </p:nvSpPr>
        <p:spPr>
          <a:xfrm>
            <a:off x="4663440" y="2651760"/>
            <a:ext cx="4023360" cy="1920240"/>
          </a:xfrm>
          <a:prstGeom prst="roundRect">
            <a:avLst>
              <a:gd name="adj" fmla="val 4762"/>
            </a:avLst>
          </a:prstGeom>
          <a:solidFill>
            <a:schemeClr val="bg2"/>
          </a:solidFill>
          <a:ln w="12700">
            <a:solidFill>
              <a:schemeClr val="bg2"/>
            </a:solidFill>
            <a:prstDash val="solid"/>
          </a:ln>
        </p:spPr>
      </p:sp>
      <p:sp>
        <p:nvSpPr>
          <p:cNvPr id="8" name="Text 6"/>
          <p:cNvSpPr txBox="1"/>
          <p:nvPr/>
        </p:nvSpPr>
        <p:spPr>
          <a:xfrm>
            <a:off x="640080" y="2743200"/>
            <a:ext cx="3657600" cy="365760"/>
          </a:xfrm>
          <a:prstGeom prst="rect">
            <a:avLst/>
          </a:prstGeom>
          <a:noFill/>
          <a:ln/>
        </p:spPr>
        <p:txBody>
          <a:bodyPr wrap="square" lIns="0" tIns="0" rIns="0" bIns="0" rtlCol="0" anchor="t"/>
          <a:lstStyle/>
          <a:p>
            <a:pPr indent="0" marL="0">
              <a:buNone/>
            </a:pPr>
            <a:r>
              <a:rPr lang="en-US" sz="1500" b="1" dirty="0">
                <a:solidFill>
                  <a:schemeClr val="accent2"/>
                </a:solidFill>
                <a:latin typeface="Cambria" pitchFamily="34" charset="0"/>
                <a:ea typeface="Cambria" pitchFamily="34" charset="-122"/>
                <a:cs typeface="Cambria" pitchFamily="34" charset="-120"/>
              </a:rPr>
              <a:t>Why the model comes first</a:t>
            </a:r>
            <a:endParaRPr lang="en-US" sz="1500" dirty="0"/>
          </a:p>
        </p:txBody>
      </p:sp>
      <p:sp>
        <p:nvSpPr>
          <p:cNvPr id="9" name="Text 7"/>
          <p:cNvSpPr txBox="1"/>
          <p:nvPr/>
        </p:nvSpPr>
        <p:spPr>
          <a:xfrm>
            <a:off x="640080" y="3108960"/>
            <a:ext cx="3657600" cy="137160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The savings come from the model's state size, sparsity and low-bit weights. A chip can only exploit them, not create them. L Cortex proves the principles at small scale only.</a:t>
            </a:r>
            <a:endParaRPr lang="en-US" sz="1200" dirty="0"/>
          </a:p>
        </p:txBody>
      </p:sp>
      <p:sp>
        <p:nvSpPr>
          <p:cNvPr id="10" name="Text 8"/>
          <p:cNvSpPr txBox="1"/>
          <p:nvPr/>
        </p:nvSpPr>
        <p:spPr>
          <a:xfrm>
            <a:off x="4846320" y="2743200"/>
            <a:ext cx="3657600" cy="365760"/>
          </a:xfrm>
          <a:prstGeom prst="rect">
            <a:avLst/>
          </a:prstGeom>
          <a:noFill/>
          <a:ln/>
        </p:spPr>
        <p:txBody>
          <a:bodyPr wrap="square" lIns="0" tIns="0" rIns="0" bIns="0" rtlCol="0" anchor="t"/>
          <a:lstStyle/>
          <a:p>
            <a:pPr indent="0" marL="0">
              <a:buNone/>
            </a:pPr>
            <a:r>
              <a:rPr lang="en-US" sz="1500" b="1" dirty="0">
                <a:solidFill>
                  <a:schemeClr val="accent4"/>
                </a:solidFill>
                <a:latin typeface="Cambria" pitchFamily="34" charset="0"/>
                <a:ea typeface="Cambria" pitchFamily="34" charset="-122"/>
                <a:cs typeface="Cambria" pitchFamily="34" charset="-120"/>
              </a:rPr>
              <a:t>It is falsified if</a:t>
            </a:r>
            <a:endParaRPr lang="en-US" sz="1500" dirty="0"/>
          </a:p>
        </p:txBody>
      </p:sp>
      <p:sp>
        <p:nvSpPr>
          <p:cNvPr id="11" name="Text 9"/>
          <p:cNvSpPr txBox="1"/>
          <p:nvPr/>
        </p:nvSpPr>
        <p:spPr>
          <a:xfrm>
            <a:off x="4846320" y="3108960"/>
            <a:ext cx="3657600" cy="14173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L loses its quality edge at larger sizes or when matrix-free</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A fused GPU version gets within about 3x of the simulated chip</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A transformer chip with the same memory matches its energy per token</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Where it is level, and where it is weaker</a:t>
            </a:r>
            <a:endParaRPr lang="en-US" sz="3000" dirty="0"/>
          </a:p>
        </p:txBody>
      </p:sp>
      <p:sp>
        <p:nvSpPr>
          <p:cNvPr id="3" name="Text 1"/>
          <p:cNvSpPr txBox="1"/>
          <p:nvPr/>
        </p:nvSpPr>
        <p:spPr>
          <a:xfrm>
            <a:off x="457200" y="1280160"/>
            <a:ext cx="8229600" cy="329184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Nothing is measured on hardware yet: every chip number is simulated</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Staged clothing about 82%, 5 points below its one pass; many ideas tried</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A trained CNN is ahead by about 2 points on clothing when all data is available</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Small tests: digits, clothing, 20 classes, up to 35 words; noise is simulated; two-sense data is paired by class</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Second look costs about 2.8x memory; a few steps still run on the host</a:t>
            </a:r>
            <a:endParaRPr lang="en-US" sz="16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Not the first, and clear about what is new</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6"/>
                </a:solidFill>
                <a:latin typeface="Cambria" pitchFamily="34" charset="0"/>
                <a:ea typeface="Cambria" pitchFamily="34" charset="-122"/>
                <a:cs typeface="Cambria" pitchFamily="34" charset="-120"/>
              </a:rPr>
              <a:t>Already exists</a:t>
            </a:r>
            <a:endParaRPr lang="en-US" sz="2000" dirty="0"/>
          </a:p>
        </p:txBody>
      </p:sp>
      <p:sp>
        <p:nvSpPr>
          <p:cNvPr id="6" name="Text 4"/>
          <p:cNvSpPr txBox="1"/>
          <p:nvPr/>
        </p:nvSpPr>
        <p:spPr>
          <a:xfrm>
            <a:off x="64008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Hyperdimensional-computing accelerators</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Intel Loihi 2, TrueNorth, SpiNNaker (event-driven spiking chips)</a:t>
            </a:r>
            <a:endParaRPr lang="en-US" sz="1500" dirty="0"/>
          </a:p>
          <a:p>
            <a:pPr marL="342900" indent="-342900">
              <a:buSzPct val="100000"/>
              <a:buChar char="•"/>
            </a:pPr>
            <a:r>
              <a:rPr lang="en-US" sz="1500" dirty="0">
                <a:solidFill>
                  <a:schemeClr val="tx1"/>
                </a:solidFill>
                <a:latin typeface="Calibri" pitchFamily="34" charset="0"/>
                <a:ea typeface="Calibri" pitchFamily="34" charset="-122"/>
                <a:cs typeface="Calibri" pitchFamily="34" charset="-120"/>
              </a:rPr>
              <a:t>Replay-based continual learning</a:t>
            </a:r>
            <a:endParaRPr lang="en-US" sz="15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What we add</a:t>
            </a:r>
            <a:endParaRPr lang="en-US" sz="2000" dirty="0"/>
          </a:p>
        </p:txBody>
      </p:sp>
      <p:sp>
        <p:nvSpPr>
          <p:cNvPr id="8" name="Text 6"/>
          <p:cNvSpPr txBox="1"/>
          <p:nvPr/>
        </p:nvSpPr>
        <p:spPr>
          <a:xfrm>
            <a:off x="484632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Dreams from 10-bit counters, no stored examples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night that ends by itself; consolidation that scales with the data</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No multiplier or matrix, bit-exact from raw senses to decision, with grouping and thresholds on the chip</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comes next</a:t>
            </a:r>
            <a:endParaRPr lang="en-US" sz="3000" dirty="0"/>
          </a:p>
        </p:txBody>
      </p:sp>
      <p:sp>
        <p:nvSpPr>
          <p:cNvPr id="3" name="card"/>
          <p:cNvSpPr/>
          <p:nvPr/>
        </p:nvSpPr>
        <p:spPr>
          <a:xfrm>
            <a:off x="457200" y="1371600"/>
            <a:ext cx="1965960" cy="2651760"/>
          </a:xfrm>
          <a:prstGeom prst="roundRect">
            <a:avLst>
              <a:gd name="adj" fmla="val 4651"/>
            </a:avLst>
          </a:prstGeom>
          <a:solidFill>
            <a:schemeClr val="bg2"/>
          </a:solidFill>
          <a:ln w="12700">
            <a:solidFill>
              <a:schemeClr val="bg2"/>
            </a:solidFill>
            <a:prstDash val="solid"/>
          </a:ln>
        </p:spPr>
      </p:sp>
      <p:sp>
        <p:nvSpPr>
          <p:cNvPr id="4" name="marker"/>
          <p:cNvSpPr/>
          <p:nvPr/>
        </p:nvSpPr>
        <p:spPr>
          <a:xfrm>
            <a:off x="594360" y="1508760"/>
            <a:ext cx="502920" cy="502920"/>
          </a:xfrm>
          <a:prstGeom prst="ellipse">
            <a:avLst/>
          </a:prstGeom>
          <a:solidFill>
            <a:schemeClr val="accent3"/>
          </a:solidFill>
          <a:ln w="12700">
            <a:solidFill>
              <a:schemeClr val="accent3"/>
            </a:solidFill>
            <a:prstDash val="solid"/>
          </a:ln>
        </p:spPr>
      </p:sp>
      <p:sp>
        <p:nvSpPr>
          <p:cNvPr id="5" name="Text 3"/>
          <p:cNvSpPr txBox="1"/>
          <p:nvPr/>
        </p:nvSpPr>
        <p:spPr>
          <a:xfrm>
            <a:off x="59436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59436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Done</a:t>
            </a:r>
            <a:endParaRPr lang="en-US" sz="1700" dirty="0"/>
          </a:p>
        </p:txBody>
      </p:sp>
      <p:sp>
        <p:nvSpPr>
          <p:cNvPr id="7" name="Text 5"/>
          <p:cNvSpPr txBox="1"/>
          <p:nvPr/>
        </p:nvSpPr>
        <p:spPr>
          <a:xfrm>
            <a:off x="59436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Model, RTL with every check passing, second look, tail memory, on-chip thresholds and grouping, scale tests</a:t>
            </a:r>
            <a:endParaRPr lang="en-US" sz="1100" dirty="0"/>
          </a:p>
        </p:txBody>
      </p:sp>
      <p:sp>
        <p:nvSpPr>
          <p:cNvPr id="8" name="card"/>
          <p:cNvSpPr/>
          <p:nvPr/>
        </p:nvSpPr>
        <p:spPr>
          <a:xfrm>
            <a:off x="2560320" y="1371600"/>
            <a:ext cx="1965960" cy="2651760"/>
          </a:xfrm>
          <a:prstGeom prst="roundRect">
            <a:avLst>
              <a:gd name="adj" fmla="val 4651"/>
            </a:avLst>
          </a:prstGeom>
          <a:solidFill>
            <a:schemeClr val="bg2"/>
          </a:solidFill>
          <a:ln w="12700">
            <a:solidFill>
              <a:schemeClr val="bg2"/>
            </a:solidFill>
            <a:prstDash val="solid"/>
          </a:ln>
        </p:spPr>
      </p:sp>
      <p:sp>
        <p:nvSpPr>
          <p:cNvPr id="9" name="marker"/>
          <p:cNvSpPr/>
          <p:nvPr/>
        </p:nvSpPr>
        <p:spPr>
          <a:xfrm>
            <a:off x="2697480" y="1508760"/>
            <a:ext cx="502920" cy="502920"/>
          </a:xfrm>
          <a:prstGeom prst="ellipse">
            <a:avLst/>
          </a:prstGeom>
          <a:solidFill>
            <a:schemeClr val="accent1"/>
          </a:solidFill>
          <a:ln w="12700">
            <a:solidFill>
              <a:schemeClr val="accent1"/>
            </a:solidFill>
            <a:prstDash val="solid"/>
          </a:ln>
        </p:spPr>
      </p:sp>
      <p:sp>
        <p:nvSpPr>
          <p:cNvPr id="10" name="Text 8"/>
          <p:cNvSpPr txBox="1"/>
          <p:nvPr/>
        </p:nvSpPr>
        <p:spPr>
          <a:xfrm>
            <a:off x="269748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269748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Next</a:t>
            </a:r>
            <a:endParaRPr lang="en-US" sz="1700" dirty="0"/>
          </a:p>
        </p:txBody>
      </p:sp>
      <p:sp>
        <p:nvSpPr>
          <p:cNvPr id="12" name="Text 10"/>
          <p:cNvSpPr txBox="1"/>
          <p:nvPr/>
        </p:nvSpPr>
        <p:spPr>
          <a:xfrm>
            <a:off x="269748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Run on the real Tang Nano: the first MEASURED numbers</a:t>
            </a:r>
            <a:endParaRPr lang="en-US" sz="1100" dirty="0"/>
          </a:p>
        </p:txBody>
      </p:sp>
      <p:sp>
        <p:nvSpPr>
          <p:cNvPr id="13" name="card"/>
          <p:cNvSpPr/>
          <p:nvPr/>
        </p:nvSpPr>
        <p:spPr>
          <a:xfrm>
            <a:off x="4663440" y="1371600"/>
            <a:ext cx="1965960" cy="2651760"/>
          </a:xfrm>
          <a:prstGeom prst="roundRect">
            <a:avLst>
              <a:gd name="adj" fmla="val 4651"/>
            </a:avLst>
          </a:prstGeom>
          <a:solidFill>
            <a:schemeClr val="bg2"/>
          </a:solidFill>
          <a:ln w="12700">
            <a:solidFill>
              <a:schemeClr val="bg2"/>
            </a:solidFill>
            <a:prstDash val="solid"/>
          </a:ln>
        </p:spPr>
      </p:sp>
      <p:sp>
        <p:nvSpPr>
          <p:cNvPr id="14" name="marker"/>
          <p:cNvSpPr/>
          <p:nvPr/>
        </p:nvSpPr>
        <p:spPr>
          <a:xfrm>
            <a:off x="4800600" y="1508760"/>
            <a:ext cx="502920" cy="502920"/>
          </a:xfrm>
          <a:prstGeom prst="ellipse">
            <a:avLst/>
          </a:prstGeom>
          <a:solidFill>
            <a:schemeClr val="accent2"/>
          </a:solidFill>
          <a:ln w="12700">
            <a:solidFill>
              <a:schemeClr val="accent2"/>
            </a:solidFill>
            <a:prstDash val="solid"/>
          </a:ln>
        </p:spPr>
      </p:sp>
      <p:sp>
        <p:nvSpPr>
          <p:cNvPr id="15" name="Text 13"/>
          <p:cNvSpPr txBox="1"/>
          <p:nvPr/>
        </p:nvSpPr>
        <p:spPr>
          <a:xfrm>
            <a:off x="480060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480060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Then</a:t>
            </a:r>
            <a:endParaRPr lang="en-US" sz="1700" dirty="0"/>
          </a:p>
        </p:txBody>
      </p:sp>
      <p:sp>
        <p:nvSpPr>
          <p:cNvPr id="17" name="Text 15"/>
          <p:cNvSpPr txBox="1"/>
          <p:nvPr/>
        </p:nvSpPr>
        <p:spPr>
          <a:xfrm>
            <a:off x="480060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Harder tests: larger vocabulary, real recorded noise, a harder image set</a:t>
            </a:r>
            <a:endParaRPr lang="en-US" sz="1100" dirty="0"/>
          </a:p>
        </p:txBody>
      </p:sp>
      <p:sp>
        <p:nvSpPr>
          <p:cNvPr id="18" name="card"/>
          <p:cNvSpPr/>
          <p:nvPr/>
        </p:nvSpPr>
        <p:spPr>
          <a:xfrm>
            <a:off x="6766560" y="1371600"/>
            <a:ext cx="1965960" cy="2651760"/>
          </a:xfrm>
          <a:prstGeom prst="roundRect">
            <a:avLst>
              <a:gd name="adj" fmla="val 4651"/>
            </a:avLst>
          </a:prstGeom>
          <a:solidFill>
            <a:schemeClr val="bg2"/>
          </a:solidFill>
          <a:ln w="12700">
            <a:solidFill>
              <a:schemeClr val="bg2"/>
            </a:solidFill>
            <a:prstDash val="solid"/>
          </a:ln>
        </p:spPr>
      </p:sp>
      <p:sp>
        <p:nvSpPr>
          <p:cNvPr id="19" name="marker"/>
          <p:cNvSpPr/>
          <p:nvPr/>
        </p:nvSpPr>
        <p:spPr>
          <a:xfrm>
            <a:off x="6903720" y="1508760"/>
            <a:ext cx="502920" cy="502920"/>
          </a:xfrm>
          <a:prstGeom prst="ellipse">
            <a:avLst/>
          </a:prstGeom>
          <a:solidFill>
            <a:schemeClr val="accent5"/>
          </a:solidFill>
          <a:ln w="12700">
            <a:solidFill>
              <a:schemeClr val="accent5"/>
            </a:solidFill>
            <a:prstDash val="solid"/>
          </a:ln>
        </p:spPr>
      </p:sp>
      <p:sp>
        <p:nvSpPr>
          <p:cNvPr id="20" name="Text 18"/>
          <p:cNvSpPr txBox="1"/>
          <p:nvPr/>
        </p:nvSpPr>
        <p:spPr>
          <a:xfrm>
            <a:off x="690372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690372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Later</a:t>
            </a:r>
            <a:endParaRPr lang="en-US" sz="1700" dirty="0"/>
          </a:p>
        </p:txBody>
      </p:sp>
      <p:sp>
        <p:nvSpPr>
          <p:cNvPr id="22" name="Text 20"/>
          <p:cNvSpPr txBox="1"/>
          <p:nvPr/>
        </p:nvSpPr>
        <p:spPr>
          <a:xfrm>
            <a:off x="690372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Matrix-free chip for the L language model; ASIC memory for sound and the second look</a:t>
            </a:r>
            <a:endParaRPr lang="en-US" sz="1100" dirty="0"/>
          </a:p>
        </p:txBody>
      </p:sp>
      <p:sp>
        <p:nvSpPr>
          <p:cNvPr id="23" name="Text 21"/>
          <p:cNvSpPr txBox="1"/>
          <p:nvPr/>
        </p:nvSpPr>
        <p:spPr>
          <a:xfrm>
            <a:off x="457200" y="4206240"/>
            <a:ext cx="8229600" cy="4572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Horizon: a provable result within 6 to 8 months, then shrink and attract investors. No fabrication is planned yet.</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tracks toward the bigger problem</a:t>
            </a:r>
            <a:endParaRPr lang="en-US" sz="3000" dirty="0"/>
          </a:p>
        </p:txBody>
      </p:sp>
      <p:sp>
        <p:nvSpPr>
          <p:cNvPr id="3" name="card"/>
          <p:cNvSpPr/>
          <p:nvPr/>
        </p:nvSpPr>
        <p:spPr>
          <a:xfrm>
            <a:off x="457200" y="1280160"/>
            <a:ext cx="4023360" cy="3291840"/>
          </a:xfrm>
          <a:prstGeom prst="roundRect">
            <a:avLst>
              <a:gd name="adj" fmla="val 2778"/>
            </a:avLst>
          </a:prstGeom>
          <a:solidFill>
            <a:schemeClr val="bg2"/>
          </a:solidFill>
          <a:ln w="12700">
            <a:solidFill>
              <a:schemeClr val="bg2"/>
            </a:solidFill>
            <a:prstDash val="solid"/>
          </a:ln>
        </p:spPr>
      </p:sp>
      <p:sp>
        <p:nvSpPr>
          <p:cNvPr id="4" name="card"/>
          <p:cNvSpPr/>
          <p:nvPr/>
        </p:nvSpPr>
        <p:spPr>
          <a:xfrm>
            <a:off x="4663440" y="1280160"/>
            <a:ext cx="4023360" cy="3291840"/>
          </a:xfrm>
          <a:prstGeom prst="roundRect">
            <a:avLst>
              <a:gd name="adj" fmla="val 2778"/>
            </a:avLst>
          </a:prstGeom>
          <a:solidFill>
            <a:schemeClr val="bg2"/>
          </a:solidFill>
          <a:ln w="12700">
            <a:solidFill>
              <a:schemeClr val="bg2"/>
            </a:solidFill>
            <a:prstDash val="solid"/>
          </a:ln>
        </p:spPr>
      </p:sp>
      <p:sp>
        <p:nvSpPr>
          <p:cNvPr id="5" name="Text 3"/>
          <p:cNvSpPr txBox="1"/>
          <p:nvPr/>
        </p:nvSpPr>
        <p:spPr>
          <a:xfrm>
            <a:off x="640080" y="1389888"/>
            <a:ext cx="3657600" cy="365760"/>
          </a:xfrm>
          <a:prstGeom prst="rect">
            <a:avLst/>
          </a:prstGeom>
          <a:noFill/>
          <a:ln/>
        </p:spPr>
        <p:txBody>
          <a:bodyPr wrap="square" lIns="0" tIns="0" rIns="0" bIns="0" rtlCol="0" anchor="t"/>
          <a:lstStyle/>
          <a:p>
            <a:pPr indent="0" marL="0">
              <a:buNone/>
            </a:pPr>
            <a:r>
              <a:rPr lang="en-US" sz="1700" b="1" dirty="0">
                <a:solidFill>
                  <a:schemeClr val="accent3"/>
                </a:solidFill>
                <a:latin typeface="Cambria" pitchFamily="34" charset="0"/>
                <a:ea typeface="Cambria" pitchFamily="34" charset="-122"/>
                <a:cs typeface="Cambria" pitchFamily="34" charset="-120"/>
              </a:rPr>
              <a:t>Track 1: the L chip (hardware)</a:t>
            </a:r>
            <a:endParaRPr lang="en-US" sz="1700" dirty="0"/>
          </a:p>
        </p:txBody>
      </p:sp>
      <p:sp>
        <p:nvSpPr>
          <p:cNvPr id="6" name="Text 4"/>
          <p:cNvSpPr txBox="1"/>
          <p:nvPr/>
        </p:nvSpPr>
        <p:spPr>
          <a:xfrm>
            <a:off x="640080" y="1828800"/>
            <a:ext cx="3657600" cy="2651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Now: verified in simulation, bit-exact RTL</a:t>
            </a:r>
            <a:endParaRPr lang="en-US" sz="1300" dirty="0"/>
          </a:p>
          <a:p>
            <a:pPr marL="342900" indent="-3429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Next: run on the Tang Nano for the first MEASURED numbers</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Then: harder tests, external memory for sound and the second look</a:t>
            </a:r>
            <a:endParaRPr lang="en-US" sz="1300" dirty="0"/>
          </a:p>
        </p:txBody>
      </p:sp>
      <p:sp>
        <p:nvSpPr>
          <p:cNvPr id="7" name="Text 5"/>
          <p:cNvSpPr txBox="1"/>
          <p:nvPr/>
        </p:nvSpPr>
        <p:spPr>
          <a:xfrm>
            <a:off x="4846320" y="1389888"/>
            <a:ext cx="3657600" cy="365760"/>
          </a:xfrm>
          <a:prstGeom prst="rect">
            <a:avLst/>
          </a:prstGeom>
          <a:noFill/>
          <a:ln/>
        </p:spPr>
        <p:txBody>
          <a:bodyPr wrap="square" lIns="0" tIns="0" rIns="0" bIns="0" rtlCol="0" anchor="t"/>
          <a:lstStyle/>
          <a:p>
            <a:pPr indent="0" marL="0">
              <a:buNone/>
            </a:pPr>
            <a:r>
              <a:rPr lang="en-US" sz="1700" b="1" dirty="0">
                <a:solidFill>
                  <a:schemeClr val="accent2"/>
                </a:solidFill>
                <a:latin typeface="Cambria" pitchFamily="34" charset="0"/>
                <a:ea typeface="Cambria" pitchFamily="34" charset="-122"/>
                <a:cs typeface="Cambria" pitchFamily="34" charset="-120"/>
              </a:rPr>
              <a:t>Track 2: the L AI model (later)</a:t>
            </a:r>
            <a:endParaRPr lang="en-US" sz="1700" dirty="0"/>
          </a:p>
        </p:txBody>
      </p:sp>
      <p:sp>
        <p:nvSpPr>
          <p:cNvPr id="8" name="Text 6"/>
          <p:cNvSpPr txBox="1"/>
          <p:nvPr/>
        </p:nvSpPr>
        <p:spPr>
          <a:xfrm>
            <a:off x="4846320" y="1828800"/>
            <a:ext cx="3657600" cy="26517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1: measure the model: firing rates, ablations, seeds</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2: fused GPU baseline; stop if a GPU is already close</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3: matrix-free version keeps its quality</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Then: simulator and FPGA; study memory: can constant-size state and event-driven reads move work from scarce HBM to cheaper DRAM or SRAM? (a question, not a claim)</a:t>
            </a:r>
            <a:endParaRPr lang="en-US" sz="1200" dirty="0"/>
          </a:p>
        </p:txBody>
      </p:sp>
      <p:sp>
        <p:nvSpPr>
          <p:cNvPr id="9" name="Text 7"/>
          <p:cNvSpPr txBox="1"/>
          <p:nvPr/>
        </p:nvSpPr>
        <p:spPr>
          <a:xfrm>
            <a:off x="457200" y="4617720"/>
            <a:ext cx="8229600" cy="274320"/>
          </a:xfrm>
          <a:prstGeom prst="rect">
            <a:avLst/>
          </a:prstGeom>
          <a:noFill/>
          <a:ln/>
        </p:spPr>
        <p:txBody>
          <a:bodyPr wrap="square" lIns="0" tIns="0" rIns="0" bIns="0" rtlCol="0" anchor="t"/>
          <a:lstStyle/>
          <a:p>
            <a:pPr indent="0" marL="0">
              <a:buNone/>
            </a:pPr>
            <a:r>
              <a:rPr lang="en-US" sz="1100" dirty="0">
                <a:solidFill>
                  <a:schemeClr val="accent6"/>
                </a:solidFill>
                <a:latin typeface="Calibri" pitchFamily="34" charset="0"/>
                <a:ea typeface="Calibri" pitchFamily="34" charset="-122"/>
                <a:cs typeface="Calibri" pitchFamily="34" charset="-120"/>
              </a:rPr>
              <a:t>PLAN: the language-model track has small-scale evidence only (9M parameters).</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Silicon, node and size: the honest plan</a:t>
            </a:r>
            <a:endParaRPr lang="en-US" sz="3000" dirty="0"/>
          </a:p>
        </p:txBody>
      </p:sp>
      <p:sp>
        <p:nvSpPr>
          <p:cNvPr id="3" name="card"/>
          <p:cNvSpPr/>
          <p:nvPr/>
        </p:nvSpPr>
        <p:spPr>
          <a:xfrm>
            <a:off x="457200" y="1188720"/>
            <a:ext cx="5212080" cy="493776"/>
          </a:xfrm>
          <a:prstGeom prst="roundRect">
            <a:avLst>
              <a:gd name="adj" fmla="val 18519"/>
            </a:avLst>
          </a:prstGeom>
          <a:solidFill>
            <a:schemeClr val="accent2"/>
          </a:solidFill>
          <a:ln w="12700">
            <a:solidFill>
              <a:schemeClr val="accent2"/>
            </a:solidFill>
            <a:prstDash val="solid"/>
          </a:ln>
        </p:spPr>
      </p:sp>
      <p:sp>
        <p:nvSpPr>
          <p:cNvPr id="4" name="Text 2"/>
          <p:cNvSpPr txBox="1"/>
          <p:nvPr/>
        </p:nvSpPr>
        <p:spPr>
          <a:xfrm>
            <a:off x="548640" y="1280160"/>
            <a:ext cx="914400" cy="365760"/>
          </a:xfrm>
          <a:prstGeom prst="rect">
            <a:avLst/>
          </a:prstGeom>
          <a:noFill/>
          <a:ln/>
        </p:spPr>
        <p:txBody>
          <a:bodyPr wrap="square" lIns="0" tIns="0" rIns="0" bIns="0" rtlCol="0" anchor="t"/>
          <a:lstStyle/>
          <a:p>
            <a:pPr indent="0" marL="0">
              <a:buNone/>
            </a:pPr>
            <a:r>
              <a:rPr lang="en-US" sz="1200" b="1" dirty="0">
                <a:solidFill>
                  <a:schemeClr val="bg1"/>
                </a:solidFill>
                <a:latin typeface="Calibri" pitchFamily="34" charset="0"/>
                <a:ea typeface="Calibri" pitchFamily="34" charset="-122"/>
                <a:cs typeface="Calibri" pitchFamily="34" charset="-120"/>
              </a:rPr>
              <a:t>Node</a:t>
            </a:r>
            <a:endParaRPr lang="en-US" sz="1200" dirty="0"/>
          </a:p>
        </p:txBody>
      </p:sp>
      <p:sp>
        <p:nvSpPr>
          <p:cNvPr id="5" name="Text 3"/>
          <p:cNvSpPr txBox="1"/>
          <p:nvPr/>
        </p:nvSpPr>
        <p:spPr>
          <a:xfrm>
            <a:off x="1463040" y="1252728"/>
            <a:ext cx="2377440" cy="411480"/>
          </a:xfrm>
          <a:prstGeom prst="rect">
            <a:avLst/>
          </a:prstGeom>
          <a:noFill/>
          <a:ln/>
        </p:spPr>
        <p:txBody>
          <a:bodyPr wrap="square" lIns="0" tIns="0" rIns="0" bIns="0" rtlCol="0" anchor="t"/>
          <a:lstStyle/>
          <a:p>
            <a:pPr indent="0" marL="0">
              <a:buNone/>
            </a:pPr>
            <a:r>
              <a:rPr lang="en-US" sz="1000" b="1" dirty="0">
                <a:solidFill>
                  <a:schemeClr val="bg1"/>
                </a:solidFill>
                <a:latin typeface="Calibri" pitchFamily="34" charset="0"/>
                <a:ea typeface="Calibri" pitchFamily="34" charset="-122"/>
                <a:cs typeface="Calibri" pitchFamily="34" charset="-120"/>
              </a:rPr>
              <a:t>Who uses it / access</a:t>
            </a:r>
            <a:endParaRPr lang="en-US" sz="1000" dirty="0"/>
          </a:p>
        </p:txBody>
      </p:sp>
      <p:sp>
        <p:nvSpPr>
          <p:cNvPr id="6" name="Text 4"/>
          <p:cNvSpPr txBox="1"/>
          <p:nvPr/>
        </p:nvSpPr>
        <p:spPr>
          <a:xfrm>
            <a:off x="3886200" y="1252728"/>
            <a:ext cx="1737360" cy="411480"/>
          </a:xfrm>
          <a:prstGeom prst="rect">
            <a:avLst/>
          </a:prstGeom>
          <a:noFill/>
          <a:ln/>
        </p:spPr>
        <p:txBody>
          <a:bodyPr wrap="square" lIns="0" tIns="0" rIns="0" bIns="0" rtlCol="0" anchor="t"/>
          <a:lstStyle/>
          <a:p>
            <a:pPr indent="0" marL="0">
              <a:buNone/>
            </a:pPr>
            <a:r>
              <a:rPr lang="en-US" sz="1000" b="1" dirty="0">
                <a:solidFill>
                  <a:schemeClr val="bg1"/>
                </a:solidFill>
                <a:latin typeface="Calibri" pitchFamily="34" charset="0"/>
                <a:ea typeface="Calibri" pitchFamily="34" charset="-122"/>
                <a:cs typeface="Calibri" pitchFamily="34" charset="-120"/>
              </a:rPr>
              <a:t>Cost, ESTIMATED</a:t>
            </a:r>
            <a:endParaRPr lang="en-US" sz="1000" dirty="0"/>
          </a:p>
        </p:txBody>
      </p:sp>
      <p:sp>
        <p:nvSpPr>
          <p:cNvPr id="7" name="card"/>
          <p:cNvSpPr/>
          <p:nvPr/>
        </p:nvSpPr>
        <p:spPr>
          <a:xfrm>
            <a:off x="457200" y="1755648"/>
            <a:ext cx="5212080" cy="493776"/>
          </a:xfrm>
          <a:prstGeom prst="roundRect">
            <a:avLst>
              <a:gd name="adj" fmla="val 18519"/>
            </a:avLst>
          </a:prstGeom>
          <a:solidFill>
            <a:schemeClr val="bg2"/>
          </a:solidFill>
          <a:ln w="12700">
            <a:solidFill>
              <a:schemeClr val="bg2"/>
            </a:solidFill>
            <a:prstDash val="solid"/>
          </a:ln>
        </p:spPr>
      </p:sp>
      <p:sp>
        <p:nvSpPr>
          <p:cNvPr id="8" name="Text 6"/>
          <p:cNvSpPr txBox="1"/>
          <p:nvPr/>
        </p:nvSpPr>
        <p:spPr>
          <a:xfrm>
            <a:off x="548640" y="1847088"/>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130 nm</a:t>
            </a:r>
            <a:endParaRPr lang="en-US" sz="1200" dirty="0"/>
          </a:p>
        </p:txBody>
      </p:sp>
      <p:sp>
        <p:nvSpPr>
          <p:cNvPr id="9" name="Text 7"/>
          <p:cNvSpPr txBox="1"/>
          <p:nvPr/>
        </p:nvSpPr>
        <p:spPr>
          <a:xfrm>
            <a:off x="1463040" y="1819656"/>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open PDK (SKY130); prototype only, not comparable to a GPU</a:t>
            </a:r>
            <a:endParaRPr lang="en-US" sz="1000" dirty="0"/>
          </a:p>
        </p:txBody>
      </p:sp>
      <p:sp>
        <p:nvSpPr>
          <p:cNvPr id="10" name="Text 8"/>
          <p:cNvSpPr txBox="1"/>
          <p:nvPr/>
        </p:nvSpPr>
        <p:spPr>
          <a:xfrm>
            <a:off x="3886200" y="1819656"/>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free flow; shuttle ~$10k-50k</a:t>
            </a:r>
            <a:endParaRPr lang="en-US" sz="1000" dirty="0"/>
          </a:p>
        </p:txBody>
      </p:sp>
      <p:sp>
        <p:nvSpPr>
          <p:cNvPr id="11" name="card"/>
          <p:cNvSpPr/>
          <p:nvPr/>
        </p:nvSpPr>
        <p:spPr>
          <a:xfrm>
            <a:off x="457200" y="2322576"/>
            <a:ext cx="5212080" cy="493776"/>
          </a:xfrm>
          <a:prstGeom prst="roundRect">
            <a:avLst>
              <a:gd name="adj" fmla="val 18519"/>
            </a:avLst>
          </a:prstGeom>
          <a:solidFill>
            <a:schemeClr val="bg2"/>
          </a:solidFill>
          <a:ln w="12700">
            <a:solidFill>
              <a:schemeClr val="bg2"/>
            </a:solidFill>
            <a:prstDash val="solid"/>
          </a:ln>
        </p:spPr>
      </p:sp>
      <p:sp>
        <p:nvSpPr>
          <p:cNvPr id="12" name="Text 10"/>
          <p:cNvSpPr txBox="1"/>
          <p:nvPr/>
        </p:nvSpPr>
        <p:spPr>
          <a:xfrm>
            <a:off x="548640" y="2414016"/>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28-65 nm</a:t>
            </a:r>
            <a:endParaRPr lang="en-US" sz="1200" dirty="0"/>
          </a:p>
        </p:txBody>
      </p:sp>
      <p:sp>
        <p:nvSpPr>
          <p:cNvPr id="13" name="Text 11"/>
          <p:cNvSpPr txBox="1"/>
          <p:nvPr/>
        </p:nvSpPr>
        <p:spPr>
          <a:xfrm>
            <a:off x="1463040" y="2386584"/>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mature; via a university or Europractice-style programme</a:t>
            </a:r>
            <a:endParaRPr lang="en-US" sz="1000" dirty="0"/>
          </a:p>
        </p:txBody>
      </p:sp>
      <p:sp>
        <p:nvSpPr>
          <p:cNvPr id="14" name="Text 12"/>
          <p:cNvSpPr txBox="1"/>
          <p:nvPr/>
        </p:nvSpPr>
        <p:spPr>
          <a:xfrm>
            <a:off x="3886200" y="2386584"/>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shuttle ~$50k-300k</a:t>
            </a:r>
            <a:endParaRPr lang="en-US" sz="1000" dirty="0"/>
          </a:p>
        </p:txBody>
      </p:sp>
      <p:sp>
        <p:nvSpPr>
          <p:cNvPr id="15" name="card"/>
          <p:cNvSpPr/>
          <p:nvPr/>
        </p:nvSpPr>
        <p:spPr>
          <a:xfrm>
            <a:off x="457200" y="2889504"/>
            <a:ext cx="5212080" cy="493776"/>
          </a:xfrm>
          <a:prstGeom prst="roundRect">
            <a:avLst>
              <a:gd name="adj" fmla="val 18519"/>
            </a:avLst>
          </a:prstGeom>
          <a:solidFill>
            <a:schemeClr val="bg2"/>
          </a:solidFill>
          <a:ln w="12700">
            <a:solidFill>
              <a:schemeClr val="bg2"/>
            </a:solidFill>
            <a:prstDash val="solid"/>
          </a:ln>
        </p:spPr>
      </p:sp>
      <p:sp>
        <p:nvSpPr>
          <p:cNvPr id="16" name="Text 14"/>
          <p:cNvSpPr txBox="1"/>
          <p:nvPr/>
        </p:nvSpPr>
        <p:spPr>
          <a:xfrm>
            <a:off x="548640" y="2980944"/>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5 nm class</a:t>
            </a:r>
            <a:endParaRPr lang="en-US" sz="1200" dirty="0"/>
          </a:p>
        </p:txBody>
      </p:sp>
      <p:sp>
        <p:nvSpPr>
          <p:cNvPr id="17" name="Text 15"/>
          <p:cNvSpPr txBox="1"/>
          <p:nvPr/>
        </p:nvSpPr>
        <p:spPr>
          <a:xfrm>
            <a:off x="1463040" y="2953512"/>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today's data-centre GPUs (TSMC 4N, die up to ~814 mm2)</a:t>
            </a:r>
            <a:endParaRPr lang="en-US" sz="1000" dirty="0"/>
          </a:p>
        </p:txBody>
      </p:sp>
      <p:sp>
        <p:nvSpPr>
          <p:cNvPr id="18" name="Text 16"/>
          <p:cNvSpPr txBox="1"/>
          <p:nvPr/>
        </p:nvSpPr>
        <p:spPr>
          <a:xfrm>
            <a:off x="3886200" y="2953512"/>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wafer ~$17k; design tens of $M</a:t>
            </a:r>
            <a:endParaRPr lang="en-US" sz="1000" dirty="0"/>
          </a:p>
        </p:txBody>
      </p:sp>
      <p:sp>
        <p:nvSpPr>
          <p:cNvPr id="19" name="card"/>
          <p:cNvSpPr/>
          <p:nvPr/>
        </p:nvSpPr>
        <p:spPr>
          <a:xfrm>
            <a:off x="5852160" y="1188720"/>
            <a:ext cx="2834640" cy="2194560"/>
          </a:xfrm>
          <a:prstGeom prst="roundRect">
            <a:avLst>
              <a:gd name="adj" fmla="val 4167"/>
            </a:avLst>
          </a:prstGeom>
          <a:solidFill>
            <a:schemeClr val="bg2"/>
          </a:solidFill>
          <a:ln w="12700">
            <a:solidFill>
              <a:schemeClr val="bg2"/>
            </a:solidFill>
            <a:prstDash val="solid"/>
          </a:ln>
        </p:spPr>
      </p:sp>
      <p:sp>
        <p:nvSpPr>
          <p:cNvPr id="20" name="Text 18"/>
          <p:cNvSpPr txBox="1"/>
          <p:nvPr/>
        </p:nvSpPr>
        <p:spPr>
          <a:xfrm>
            <a:off x="5989320" y="1280160"/>
            <a:ext cx="2560320" cy="36576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Material: silicon CMOS</a:t>
            </a:r>
            <a:endParaRPr lang="en-US" sz="1400" dirty="0"/>
          </a:p>
        </p:txBody>
      </p:sp>
      <p:sp>
        <p:nvSpPr>
          <p:cNvPr id="21" name="Text 19"/>
          <p:cNvSpPr txBox="1"/>
          <p:nvPr/>
        </p:nvSpPr>
        <p:spPr>
          <a:xfrm>
            <a:off x="5989320" y="1645920"/>
            <a:ext cx="2560320" cy="1737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only practical choice for dense logic: mature, high yield, full tools. Limits: cost at advanced nodes, heat, SRAM not shrinking as fast, supply concentrated in few fabs. GaN, SiC, 2D materials and memristors are not ready for dense logic; non-volatile memory is a later option.</a:t>
            </a:r>
            <a:endParaRPr lang="en-US" sz="1000" dirty="0"/>
          </a:p>
        </p:txBody>
      </p:sp>
      <p:sp>
        <p:nvSpPr>
          <p:cNvPr id="22" name="card"/>
          <p:cNvSpPr/>
          <p:nvPr/>
        </p:nvSpPr>
        <p:spPr>
          <a:xfrm>
            <a:off x="457200" y="3611880"/>
            <a:ext cx="8229600" cy="960120"/>
          </a:xfrm>
          <a:prstGeom prst="roundRect">
            <a:avLst>
              <a:gd name="adj" fmla="val 9524"/>
            </a:avLst>
          </a:prstGeom>
          <a:solidFill>
            <a:srgbClr val="FFF4DD"/>
          </a:solidFill>
          <a:ln w="12700">
            <a:solidFill>
              <a:srgbClr val="FFF4DD"/>
            </a:solidFill>
            <a:prstDash val="solid"/>
          </a:ln>
        </p:spPr>
      </p:sp>
      <p:sp>
        <p:nvSpPr>
          <p:cNvPr id="23" name="Text 21"/>
          <p:cNvSpPr txBox="1"/>
          <p:nvPr/>
        </p:nvSpPr>
        <p:spPr>
          <a:xfrm>
            <a:off x="640080" y="3703320"/>
            <a:ext cx="786384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Plan: write the design node-agnostic; compare energy against GPUs at a GPU-class node using published scaling (ESTIMATED, uncertain); prove it on an FPGA; tape out at an accessible mature node when funded. A 5 nm-class chip needs tens of millions of dollars and foundry access we do not have: say so.</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we need to go further</a:t>
            </a:r>
            <a:endParaRPr lang="en-US" sz="3000" dirty="0"/>
          </a:p>
        </p:txBody>
      </p:sp>
      <p:sp>
        <p:nvSpPr>
          <p:cNvPr id="3" name="card"/>
          <p:cNvSpPr/>
          <p:nvPr/>
        </p:nvSpPr>
        <p:spPr>
          <a:xfrm>
            <a:off x="457200" y="1188720"/>
            <a:ext cx="8229600" cy="694944"/>
          </a:xfrm>
          <a:prstGeom prst="roundRect">
            <a:avLst>
              <a:gd name="adj" fmla="val 13158"/>
            </a:avLst>
          </a:prstGeom>
          <a:solidFill>
            <a:schemeClr val="bg2"/>
          </a:solidFill>
          <a:ln w="12700">
            <a:solidFill>
              <a:schemeClr val="bg2"/>
            </a:solidFill>
            <a:prstDash val="solid"/>
          </a:ln>
        </p:spPr>
      </p:sp>
      <p:sp>
        <p:nvSpPr>
          <p:cNvPr id="4" name="marker"/>
          <p:cNvSpPr/>
          <p:nvPr/>
        </p:nvSpPr>
        <p:spPr>
          <a:xfrm>
            <a:off x="566928" y="1307592"/>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566928" y="1371600"/>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43000" y="1261872"/>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FPGA board run</a:t>
            </a:r>
            <a:endParaRPr lang="en-US" sz="1300" dirty="0"/>
          </a:p>
        </p:txBody>
      </p:sp>
      <p:sp>
        <p:nvSpPr>
          <p:cNvPr id="7" name="Text 5"/>
          <p:cNvSpPr txBox="1"/>
          <p:nvPr/>
        </p:nvSpPr>
        <p:spPr>
          <a:xfrm>
            <a:off x="3566160" y="1243584"/>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Tang Nano 20K, about Rs 4,200 incl. GST (listing price + 18%, MODELLED)</a:t>
            </a:r>
            <a:endParaRPr lang="en-US" sz="1000" dirty="0"/>
          </a:p>
        </p:txBody>
      </p:sp>
      <p:sp>
        <p:nvSpPr>
          <p:cNvPr id="8" name="Text 6"/>
          <p:cNvSpPr txBox="1"/>
          <p:nvPr/>
        </p:nvSpPr>
        <p:spPr>
          <a:xfrm>
            <a:off x="6309360" y="1243584"/>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bit-exact with simulation, accuracy and power measured</a:t>
            </a:r>
            <a:endParaRPr lang="en-US" sz="1000" dirty="0"/>
          </a:p>
        </p:txBody>
      </p:sp>
      <p:sp>
        <p:nvSpPr>
          <p:cNvPr id="9" name="card"/>
          <p:cNvSpPr/>
          <p:nvPr/>
        </p:nvSpPr>
        <p:spPr>
          <a:xfrm>
            <a:off x="457200" y="1975104"/>
            <a:ext cx="8229600" cy="694944"/>
          </a:xfrm>
          <a:prstGeom prst="roundRect">
            <a:avLst>
              <a:gd name="adj" fmla="val 13158"/>
            </a:avLst>
          </a:prstGeom>
          <a:solidFill>
            <a:schemeClr val="bg2"/>
          </a:solidFill>
          <a:ln w="12700">
            <a:solidFill>
              <a:schemeClr val="bg2"/>
            </a:solidFill>
            <a:prstDash val="solid"/>
          </a:ln>
        </p:spPr>
      </p:sp>
      <p:sp>
        <p:nvSpPr>
          <p:cNvPr id="10" name="marker"/>
          <p:cNvSpPr/>
          <p:nvPr/>
        </p:nvSpPr>
        <p:spPr>
          <a:xfrm>
            <a:off x="566928" y="2093976"/>
            <a:ext cx="438912" cy="438912"/>
          </a:xfrm>
          <a:prstGeom prst="ellipse">
            <a:avLst/>
          </a:prstGeom>
          <a:solidFill>
            <a:schemeClr val="accent1"/>
          </a:solidFill>
          <a:ln w="12700">
            <a:solidFill>
              <a:schemeClr val="accent1"/>
            </a:solidFill>
            <a:prstDash val="solid"/>
          </a:ln>
        </p:spPr>
      </p:sp>
      <p:sp>
        <p:nvSpPr>
          <p:cNvPr id="11" name="Text 9"/>
          <p:cNvSpPr txBox="1"/>
          <p:nvPr/>
        </p:nvSpPr>
        <p:spPr>
          <a:xfrm>
            <a:off x="566928" y="2157984"/>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43000" y="2048256"/>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Micro-chip on a shared shuttle</a:t>
            </a:r>
            <a:endParaRPr lang="en-US" sz="1300" dirty="0"/>
          </a:p>
        </p:txBody>
      </p:sp>
      <p:sp>
        <p:nvSpPr>
          <p:cNvPr id="13" name="Text 11"/>
          <p:cNvSpPr txBox="1"/>
          <p:nvPr/>
        </p:nvSpPr>
        <p:spPr>
          <a:xfrm>
            <a:off x="3566160" y="2029968"/>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about $100-300 per tile, 130 nm (ESTIMATED)</a:t>
            </a:r>
            <a:endParaRPr lang="en-US" sz="1000" dirty="0"/>
          </a:p>
        </p:txBody>
      </p:sp>
      <p:sp>
        <p:nvSpPr>
          <p:cNvPr id="14" name="Text 12"/>
          <p:cNvSpPr txBox="1"/>
          <p:nvPr/>
        </p:nvSpPr>
        <p:spPr>
          <a:xfrm>
            <a:off x="6309360" y="2029968"/>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the verified on-chip units run in real silicon</a:t>
            </a:r>
            <a:endParaRPr lang="en-US" sz="1000" dirty="0"/>
          </a:p>
        </p:txBody>
      </p:sp>
      <p:sp>
        <p:nvSpPr>
          <p:cNvPr id="15" name="card"/>
          <p:cNvSpPr/>
          <p:nvPr/>
        </p:nvSpPr>
        <p:spPr>
          <a:xfrm>
            <a:off x="457200" y="2761488"/>
            <a:ext cx="8229600" cy="694944"/>
          </a:xfrm>
          <a:prstGeom prst="roundRect">
            <a:avLst>
              <a:gd name="adj" fmla="val 13158"/>
            </a:avLst>
          </a:prstGeom>
          <a:solidFill>
            <a:schemeClr val="bg2"/>
          </a:solidFill>
          <a:ln w="12700">
            <a:solidFill>
              <a:schemeClr val="bg2"/>
            </a:solidFill>
            <a:prstDash val="solid"/>
          </a:ln>
        </p:spPr>
      </p:sp>
      <p:sp>
        <p:nvSpPr>
          <p:cNvPr id="16" name="marker"/>
          <p:cNvSpPr/>
          <p:nvPr/>
        </p:nvSpPr>
        <p:spPr>
          <a:xfrm>
            <a:off x="566928" y="2880360"/>
            <a:ext cx="438912" cy="438912"/>
          </a:xfrm>
          <a:prstGeom prst="ellipse">
            <a:avLst/>
          </a:prstGeom>
          <a:solidFill>
            <a:schemeClr val="accent1"/>
          </a:solidFill>
          <a:ln w="12700">
            <a:solidFill>
              <a:schemeClr val="accent1"/>
            </a:solidFill>
            <a:prstDash val="solid"/>
          </a:ln>
        </p:spPr>
      </p:sp>
      <p:sp>
        <p:nvSpPr>
          <p:cNvPr id="17" name="Text 15"/>
          <p:cNvSpPr txBox="1"/>
          <p:nvPr/>
        </p:nvSpPr>
        <p:spPr>
          <a:xfrm>
            <a:off x="566928" y="2944368"/>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3</a:t>
            </a:r>
            <a:endParaRPr lang="en-US" sz="1500" dirty="0"/>
          </a:p>
        </p:txBody>
      </p:sp>
      <p:sp>
        <p:nvSpPr>
          <p:cNvPr id="18" name="Text 16"/>
          <p:cNvSpPr txBox="1"/>
          <p:nvPr/>
        </p:nvSpPr>
        <p:spPr>
          <a:xfrm>
            <a:off x="1143000" y="2834640"/>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Full chip at a mature node</a:t>
            </a:r>
            <a:endParaRPr lang="en-US" sz="1300" dirty="0"/>
          </a:p>
        </p:txBody>
      </p:sp>
      <p:sp>
        <p:nvSpPr>
          <p:cNvPr id="19" name="Text 17"/>
          <p:cNvSpPr txBox="1"/>
          <p:nvPr/>
        </p:nvSpPr>
        <p:spPr>
          <a:xfrm>
            <a:off x="3566160" y="2816352"/>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shuttle $50k-300k, 28-65 nm (ESTIMATED), with a university or programme partner</a:t>
            </a:r>
            <a:endParaRPr lang="en-US" sz="1000" dirty="0"/>
          </a:p>
        </p:txBody>
      </p:sp>
      <p:sp>
        <p:nvSpPr>
          <p:cNvPr id="20" name="Text 18"/>
          <p:cNvSpPr txBox="1"/>
          <p:nvPr/>
        </p:nvSpPr>
        <p:spPr>
          <a:xfrm>
            <a:off x="6309360" y="2816352"/>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measured energy within 2x of the FPGA-calibrated model</a:t>
            </a:r>
            <a:endParaRPr lang="en-US" sz="1000" dirty="0"/>
          </a:p>
        </p:txBody>
      </p:sp>
      <p:sp>
        <p:nvSpPr>
          <p:cNvPr id="21" name="card"/>
          <p:cNvSpPr/>
          <p:nvPr/>
        </p:nvSpPr>
        <p:spPr>
          <a:xfrm>
            <a:off x="457200" y="3547872"/>
            <a:ext cx="8229600" cy="694944"/>
          </a:xfrm>
          <a:prstGeom prst="roundRect">
            <a:avLst>
              <a:gd name="adj" fmla="val 13158"/>
            </a:avLst>
          </a:prstGeom>
          <a:solidFill>
            <a:schemeClr val="bg2"/>
          </a:solidFill>
          <a:ln w="12700">
            <a:solidFill>
              <a:schemeClr val="bg2"/>
            </a:solidFill>
            <a:prstDash val="solid"/>
          </a:ln>
        </p:spPr>
      </p:sp>
      <p:sp>
        <p:nvSpPr>
          <p:cNvPr id="22" name="marker"/>
          <p:cNvSpPr/>
          <p:nvPr/>
        </p:nvSpPr>
        <p:spPr>
          <a:xfrm>
            <a:off x="566928" y="3666744"/>
            <a:ext cx="438912" cy="438912"/>
          </a:xfrm>
          <a:prstGeom prst="ellipse">
            <a:avLst/>
          </a:prstGeom>
          <a:solidFill>
            <a:schemeClr val="accent6"/>
          </a:solidFill>
          <a:ln w="12700">
            <a:solidFill>
              <a:schemeClr val="accent6"/>
            </a:solidFill>
            <a:prstDash val="solid"/>
          </a:ln>
        </p:spPr>
      </p:sp>
      <p:sp>
        <p:nvSpPr>
          <p:cNvPr id="23" name="Text 21"/>
          <p:cNvSpPr txBox="1"/>
          <p:nvPr/>
        </p:nvSpPr>
        <p:spPr>
          <a:xfrm>
            <a:off x="566928" y="3730752"/>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p>
        </p:txBody>
      </p:sp>
      <p:sp>
        <p:nvSpPr>
          <p:cNvPr id="24" name="Text 22"/>
          <p:cNvSpPr txBox="1"/>
          <p:nvPr/>
        </p:nvSpPr>
        <p:spPr>
          <a:xfrm>
            <a:off x="1143000" y="3621024"/>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GPU-class node (5 nm class)</a:t>
            </a:r>
            <a:endParaRPr lang="en-US" sz="1300" dirty="0"/>
          </a:p>
        </p:txBody>
      </p:sp>
      <p:sp>
        <p:nvSpPr>
          <p:cNvPr id="25" name="Text 23"/>
          <p:cNvSpPr txBox="1"/>
          <p:nvPr/>
        </p:nvSpPr>
        <p:spPr>
          <a:xfrm>
            <a:off x="3566160" y="3602736"/>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tens of millions of dollars: not requested now</a:t>
            </a:r>
            <a:endParaRPr lang="en-US" sz="1000" dirty="0"/>
          </a:p>
        </p:txBody>
      </p:sp>
      <p:sp>
        <p:nvSpPr>
          <p:cNvPr id="26" name="Text 24"/>
          <p:cNvSpPr txBox="1"/>
          <p:nvPr/>
        </p:nvSpPr>
        <p:spPr>
          <a:xfrm>
            <a:off x="6309360" y="3602736"/>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Only after steps 1-3</a:t>
            </a:r>
            <a:endParaRPr lang="en-US" sz="1000" dirty="0"/>
          </a:p>
        </p:txBody>
      </p:sp>
      <p:sp>
        <p:nvSpPr>
          <p:cNvPr id="27" name="Text 25"/>
          <p:cNvSpPr txBox="1"/>
          <p:nvPr/>
        </p:nvSpPr>
        <p:spPr>
          <a:xfrm>
            <a:off x="457200" y="4389120"/>
            <a:ext cx="8229600" cy="4572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Also welcome: a university or programme partner for shuttle access, a mentor, and compute credits for the language-model gates. Prices are estimates from public information: verify before committing.</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A chip that keeps learning</a:t>
            </a:r>
            <a:endParaRPr lang="en-US" sz="4000" dirty="0"/>
          </a:p>
        </p:txBody>
      </p:sp>
      <p:sp>
        <p:nvSpPr>
          <p:cNvPr id="3" name="Text 1"/>
          <p:cNvSpPr txBox="1"/>
          <p:nvPr/>
        </p:nvSpPr>
        <p:spPr>
          <a:xfrm>
            <a:off x="548640" y="2834640"/>
            <a:ext cx="8046720" cy="914400"/>
          </a:xfrm>
          <a:prstGeom prst="rect">
            <a:avLst/>
          </a:prstGeom>
          <a:noFill/>
          <a:ln/>
        </p:spPr>
        <p:txBody>
          <a:bodyPr wrap="square" lIns="0" tIns="0" rIns="0" bIns="0" rtlCol="0" anchor="t"/>
          <a:lstStyle/>
          <a:p>
            <a:pPr indent="0" marL="0">
              <a:buNone/>
            </a:pPr>
            <a:r>
              <a:rPr lang="en-US" sz="1800" i="1" dirty="0">
                <a:solidFill>
                  <a:schemeClr val="accent1"/>
                </a:solidFill>
                <a:latin typeface="Calibri" pitchFamily="34" charset="0"/>
                <a:ea typeface="Calibri" pitchFamily="34" charset="-122"/>
                <a:cs typeface="Calibri" pitchFamily="34" charset="-120"/>
              </a:rPr>
              <a:t>It learns in the field, keeps what it knew, shares what it learned, and needs no multiplier. It is weaker than a trained network in some places, and we have said where.</a:t>
            </a:r>
            <a:endParaRPr lang="en-US" sz="18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Thank you. Questions?</a:t>
            </a:r>
            <a:endParaRPr lang="en-US" sz="2200" dirty="0"/>
          </a:p>
        </p:txBody>
      </p:sp>
    </p:spTree>
  </p:cSld>
  <p:clrMapOvr>
    <a:masterClrMapping/>
  </p:clrMapOvr>
</p:sld>
</file>

<file path=ppt/theme/theme1.xml><?xml version="1.0" encoding="utf-8"?>
<a:theme xmlns:a="http://schemas.openxmlformats.org/drawingml/2006/main" name="L">
  <a:themeElements>
    <a:clrScheme name="L">
      <a:dk1>
        <a:srgbClr val="151A3D"/>
      </a:dk1>
      <a:lt1>
        <a:srgbClr val="FFFFFF"/>
      </a:lt1>
      <a:dk2>
        <a:srgbClr val="2B3270"/>
      </a:dk2>
      <a:lt2>
        <a:srgbClr val="EEF0FA"/>
      </a:lt2>
      <a:accent1>
        <a:srgbClr val="F2A93B"/>
      </a:accent1>
      <a:accent2>
        <a:srgbClr val="5B6BD6"/>
      </a:accent2>
      <a:accent3>
        <a:srgbClr val="2FA37A"/>
      </a:accent3>
      <a:accent4>
        <a:srgbClr val="D9534F"/>
      </a:accent4>
      <a:accent5>
        <a:srgbClr val="8A93C9"/>
      </a:accent5>
      <a:accent6>
        <a:srgbClr val="6B7280"/>
      </a:accent6>
      <a:hlink>
        <a:srgbClr val="5B6BD6"/>
      </a:hlink>
      <a:folHlink>
        <a:srgbClr val="8A93C9"/>
      </a:folHlink>
    </a:clrScheme>
    <a:fontScheme name="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dc:title>
  <dc:subject>PptxGenJS Presentation</dc:subject>
  <dc:creator>L Lawliet (Navin), CKCET</dc:creator>
  <cp:lastModifiedBy>L Lawliet (Navin), CKCET</cp:lastModifiedBy>
  <cp:revision>1</cp:revision>
  <dcterms:created xsi:type="dcterms:W3CDTF">2026-10-23T04:01:01Z</dcterms:created>
  <dcterms:modified xsi:type="dcterms:W3CDTF">2026-10-23T04:01:01Z</dcterms:modified>
</cp:coreProperties>
</file>