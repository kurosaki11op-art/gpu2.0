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e0f99968-55f0-8be1-8da3-8d3705dde2a1}">
          <p14:sldIdLst>
            <p14:sldId id="256"/>
          </p14:sldIdLst>
        </p14:section>
        <p14:section name="Why" id="{31177b26-ba3f-dcfe-7f5b-66dd50776afa}">
          <p14:sldIdLst>
            <p14:sldId id="257"/>
            <p14:sldId id="258"/>
          </p14:sldIdLst>
        </p14:section>
        <p14:section name="Results" id="{32c76abf-70c8-7c1b-d027-6d509609f093}">
          <p14:sldIdLst>
            <p14:sldId id="259"/>
            <p14:sldId id="260"/>
            <p14:sldId id="261"/>
            <p14:sldId id="262"/>
            <p14:sldId id="263"/>
            <p14:sldId id="264"/>
            <p14:sldId id="265"/>
          </p14:sldIdLst>
        </p14:section>
        <p14:section name="Build" id="{88e09d1d-1965-a5e5-86f7-3cfcd3e268f0}">
          <p14:sldIdLst>
            <p14:sldId id="266"/>
            <p14:sldId id="267"/>
            <p14:sldId id="268"/>
            <p14:sldId id="269"/>
          </p14:sldIdLst>
        </p14:section>
        <p14:section name="Honest" id="{3c51b4b9-0cbc-7696-1d46-9dc58c6d10b5}">
          <p14:sldIdLst>
            <p14:sldId id="270"/>
            <p14:sldId id="271"/>
            <p14:sldId id="272"/>
            <p14:sldId id="273"/>
          </p14:sldIdLst>
        </p14:section>
        <p14:section name="Next" id="{5e67a275-0230-0a87-1687-8924e02b1a81}">
          <p14:sldIdLst>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A3D"/>
                </a:solidFill>
                <a:latin typeface="+mn-lt"/>
              </a:defRPr>
            </a:pPr>
            <a:r>
              <a:rPr sz="1400" b="0" i="0" u="none" strike="noStrike">
                <a:solidFill>
                  <a:srgbClr val="151A3D"/>
                </a:solidFill>
                <a:latin typeface="+mn-lt"/>
              </a:rPr>
              <a:t>Accuracy after learning in stages (%)</a:t>
            </a:r>
          </a:p>
        </c:rich>
      </c:tx>
      <c:layout/>
      <c:overlay val="0"/>
    </c:title>
    <c:autoTitleDeleted val="0"/>
    <c:plotArea>
      <c:layout/>
      <c:barChart>
        <c:barDir val="col"/>
        <c:grouping val="clustered"/>
        <c:varyColors val="0"/>
        <c:ser>
          <c:idx val="0"/>
          <c:order val="0"/>
          <c:tx>
            <c:strRef>
              <c:f>Sheet1!$B$1</c:f>
              <c:strCache>
                <c:ptCount val="1"/>
                <c:pt idx="0">
                  <c:v>L chip design (no stored examples)</c:v>
                </c:pt>
              </c:strCache>
            </c:strRef>
          </c:tx>
          <c:spPr>
            <a:solidFill>
              <a:srgbClr val="2FA37A"/>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20 classes</c:v>
                  </c:pt>
                </c:lvl>
              </c:multiLvlStrCache>
            </c:multiLvlStrRef>
          </c:cat>
          <c:val>
            <c:numRef>
              <c:f>Sheet1!$B$2:$B$4</c:f>
              <c:numCache>
                <c:formatCode>General</c:formatCode>
                <c:ptCount val="3"/>
                <c:pt idx="0">
                  <c:v>95.6</c:v>
                </c:pt>
                <c:pt idx="1">
                  <c:v>81</c:v>
                </c:pt>
                <c:pt idx="2">
                  <c:v>87.4</c:v>
                </c:pt>
              </c:numCache>
            </c:numRef>
          </c:val>
        </c:ser>
        <c:ser>
          <c:idx val="1"/>
          <c:order val="1"/>
          <c:tx>
            <c:strRef>
              <c:f>Sheet1!$C$1</c:f>
              <c:strCache>
                <c:ptCount val="1"/>
                <c:pt idx="0">
                  <c:v>CNN in stages (MEASURED)</c:v>
                </c:pt>
              </c:strCache>
            </c:strRef>
          </c:tx>
          <c:spPr>
            <a:solidFill>
              <a:srgbClr val="8A93C9"/>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20 classes</c:v>
                  </c:pt>
                </c:lvl>
              </c:multiLvlStrCache>
            </c:multiLvlStrRef>
          </c:cat>
          <c:val>
            <c:numRef>
              <c:f>Sheet1!$C$2:$C$4</c:f>
              <c:numCache>
                <c:formatCode>General</c:formatCode>
                <c:ptCount val="3"/>
                <c:pt idx="0">
                  <c:v>19.5</c:v>
                </c:pt>
                <c:pt idx="1">
                  <c:v>20</c:v>
                </c:pt>
                <c:pt idx="2">
                  <c:v>5</c:v>
                </c:pt>
              </c:numCache>
            </c:numRef>
          </c:val>
        </c:ser>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2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32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A3D"/>
                </a:solidFill>
                <a:latin typeface="+mn-lt"/>
              </a:defRPr>
            </a:pPr>
            <a:r>
              <a:rPr sz="1400" b="0" i="0" u="none" strike="noStrike">
                <a:solidFill>
                  <a:srgbClr val="151A3D"/>
                </a:solidFill>
                <a:latin typeface="+mn-lt"/>
              </a:rPr>
              <a:t>Accuracy (%)</a:t>
            </a:r>
          </a:p>
        </c:rich>
      </c:tx>
      <c:layout/>
      <c:overlay val="0"/>
    </c:title>
    <c:autoTitleDeleted val="0"/>
    <c:plotArea>
      <c:layout/>
      <c:barChart>
        <c:barDir val="col"/>
        <c:grouping val="clustered"/>
        <c:varyColors val="0"/>
        <c:ser>
          <c:idx val="0"/>
          <c:order val="0"/>
          <c:tx>
            <c:strRef>
              <c:f>Sheet1!$B$1</c:f>
              <c:strCache>
                <c:ptCount val="1"/>
                <c:pt idx="0">
                  <c:v>L chip design</c:v>
                </c:pt>
              </c:strCache>
            </c:strRef>
          </c:tx>
          <c:spPr>
            <a:solidFill>
              <a:srgbClr val="2FA37A"/>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Sheet1!$A$2:$A$5</c:f>
              <c:multiLvlStrCache>
                <c:ptCount val="4"/>
                <c:lvl>
                  <c:pt idx="0">
                    <c:v>digits</c:v>
                  </c:pt>
                  <c:pt idx="1">
                    <c:v>clothing</c:v>
                  </c:pt>
                  <c:pt idx="2">
                    <c:v>20 classes</c:v>
                  </c:pt>
                  <c:pt idx="3">
                    <c:v>35 words</c:v>
                  </c:pt>
                </c:lvl>
              </c:multiLvlStrCache>
            </c:multiLvlStrRef>
          </c:cat>
          <c:val>
            <c:numRef>
              <c:f>Sheet1!$B$2:$B$5</c:f>
              <c:numCache>
                <c:formatCode>General</c:formatCode>
                <c:ptCount val="4"/>
                <c:pt idx="0">
                  <c:v>98.45</c:v>
                </c:pt>
                <c:pt idx="1">
                  <c:v>88.93</c:v>
                </c:pt>
                <c:pt idx="2">
                  <c:v>91.18</c:v>
                </c:pt>
                <c:pt idx="3">
                  <c:v>72.4</c:v>
                </c:pt>
              </c:numCache>
            </c:numRef>
          </c:val>
        </c:ser>
        <c:ser>
          <c:idx val="1"/>
          <c:order val="1"/>
          <c:tx>
            <c:strRef>
              <c:f>Sheet1!$C$1</c:f>
              <c:strCache>
                <c:ptCount val="1"/>
                <c:pt idx="0">
                  <c:v>CNN, all data at once (MEASURED)</c:v>
                </c:pt>
              </c:strCache>
            </c:strRef>
          </c:tx>
          <c:spPr>
            <a:solidFill>
              <a:srgbClr val="8A93C9"/>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Sheet1!$A$2:$A$5</c:f>
              <c:multiLvlStrCache>
                <c:ptCount val="4"/>
                <c:lvl>
                  <c:pt idx="0">
                    <c:v>digits</c:v>
                  </c:pt>
                  <c:pt idx="1">
                    <c:v>clothing</c:v>
                  </c:pt>
                  <c:pt idx="2">
                    <c:v>20 classes</c:v>
                  </c:pt>
                  <c:pt idx="3">
                    <c:v>35 words</c:v>
                  </c:pt>
                </c:lvl>
              </c:multiLvlStrCache>
            </c:multiLvlStrRef>
          </c:cat>
          <c:val>
            <c:numRef>
              <c:f>Sheet1!$C$2:$C$5</c:f>
              <c:numCache>
                <c:formatCode>General</c:formatCode>
                <c:ptCount val="4"/>
                <c:pt idx="0">
                  <c:v>98.87</c:v>
                </c:pt>
                <c:pt idx="1">
                  <c:v>90.96</c:v>
                </c:pt>
                <c:pt idx="2">
                  <c:v>90.96</c:v>
                </c:pt>
                <c:pt idx="3">
                  <c:v>72.5</c:v>
                </c:pt>
              </c:numCache>
            </c:numRef>
          </c:val>
        </c:ser>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2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32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A3D"/>
                </a:solidFill>
                <a:latin typeface="+mn-lt"/>
              </a:defRPr>
            </a:pPr>
            <a:r>
              <a:rPr sz="1400" b="0" i="0" u="none" strike="noStrike">
                <a:solidFill>
                  <a:srgbClr val="151A3D"/>
                </a:solidFill>
                <a:latin typeface="+mn-lt"/>
              </a:rPr>
              <a:t>Clothing in stages, by training images (%)</a:t>
            </a:r>
          </a:p>
        </c:rich>
      </c:tx>
      <c:layout/>
      <c:overlay val="0"/>
    </c:title>
    <c:autoTitleDeleted val="0"/>
    <c:plotArea>
      <c:layout/>
      <c:barChart>
        <c:barDir val="col"/>
        <c:grouping val="clustered"/>
        <c:varyColors val="0"/>
        <c:ser>
          <c:idx val="0"/>
          <c:order val="0"/>
          <c:tx>
            <c:strRef>
              <c:f>Sheet1!$B$1</c:f>
              <c:strCache>
                <c:ptCount val="1"/>
                <c:pt idx="0">
                  <c:v>Fixed consolidation (first design)</c:v>
                </c:pt>
              </c:strCache>
            </c:strRef>
          </c:tx>
          <c:spPr>
            <a:solidFill>
              <a:srgbClr val="8A93C9"/>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10,000</c:v>
                  </c:pt>
                  <c:pt idx="1">
                    <c:v>30,000</c:v>
                  </c:pt>
                  <c:pt idx="2">
                    <c:v>60,000</c:v>
                  </c:pt>
                </c:lvl>
              </c:multiLvlStrCache>
            </c:multiLvlStrRef>
          </c:cat>
          <c:val>
            <c:numRef>
              <c:f>Sheet1!$B$2:$B$4</c:f>
              <c:numCache>
                <c:formatCode>General</c:formatCode>
                <c:ptCount val="3"/>
                <c:pt idx="0">
                  <c:v>83.3</c:v>
                </c:pt>
                <c:pt idx="1">
                  <c:v>79.4</c:v>
                </c:pt>
                <c:pt idx="2">
                  <c:v>78</c:v>
                </c:pt>
              </c:numCache>
            </c:numRef>
          </c:val>
        </c:ser>
        <c:ser>
          <c:idx val="1"/>
          <c:order val="1"/>
          <c:tx>
            <c:strRef>
              <c:f>Sheet1!$C$1</c:f>
              <c:strCache>
                <c:ptCount val="1"/>
                <c:pt idx="0">
                  <c:v>Consolidation scaled with the stage size</c:v>
                </c:pt>
              </c:strCache>
            </c:strRef>
          </c:tx>
          <c:spPr>
            <a:solidFill>
              <a:srgbClr val="2FA37A"/>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10,000</c:v>
                  </c:pt>
                  <c:pt idx="1">
                    <c:v>30,000</c:v>
                  </c:pt>
                  <c:pt idx="2">
                    <c:v>60,000</c:v>
                  </c:pt>
                </c:lvl>
              </c:multiLvlStrCache>
            </c:multiLvlStrRef>
          </c:cat>
          <c:val>
            <c:numRef>
              <c:f>Sheet1!$C$2:$C$4</c:f>
              <c:numCache>
                <c:formatCode>General</c:formatCode>
                <c:ptCount val="3"/>
                <c:pt idx="0">
                  <c:v>83.3</c:v>
                </c:pt>
                <c:pt idx="1">
                  <c:v>81.2</c:v>
                </c:pt>
                <c:pt idx="2">
                  <c:v>81</c:v>
                </c:pt>
              </c:numCache>
            </c:numRef>
          </c:val>
        </c:ser>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2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32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A3D"/>
                </a:solidFill>
                <a:latin typeface="+mn-lt"/>
              </a:defRPr>
            </a:pPr>
            <a:r>
              <a:rPr sz="1400" b="0" i="0" u="none" strike="noStrike">
                <a:solidFill>
                  <a:srgbClr val="151A3D"/>
                </a:solidFill>
                <a:latin typeface="+mn-lt"/>
              </a:rPr>
              <a:t>35 spoken words, learned in stages, white noise (%)</a:t>
            </a:r>
          </a:p>
        </c:rich>
      </c:tx>
      <c:layout/>
      <c:overlay val="0"/>
    </c:title>
    <c:autoTitleDeleted val="0"/>
    <c:plotArea>
      <c:layout/>
      <c:barChart>
        <c:barDir val="col"/>
        <c:grouping val="clustered"/>
        <c:varyColors val="0"/>
        <c:ser>
          <c:idx val="0"/>
          <c:order val="0"/>
          <c:tx>
            <c:strRef>
              <c:f>Sheet1!$B$1</c:f>
              <c:strCache>
                <c:ptCount val="1"/>
                <c:pt idx="0">
                  <c:v>First design</c:v>
                </c:pt>
              </c:strCache>
            </c:strRef>
          </c:tx>
          <c:spPr>
            <a:solidFill>
              <a:srgbClr val="8A93C9"/>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Sheet1!$A$2:$A$5</c:f>
              <c:multiLvlStrCache>
                <c:ptCount val="4"/>
                <c:lvl>
                  <c:pt idx="0">
                    <c:v>clean</c:v>
                  </c:pt>
                  <c:pt idx="1">
                    <c:v>20 dB</c:v>
                  </c:pt>
                  <c:pt idx="2">
                    <c:v>10 dB</c:v>
                  </c:pt>
                  <c:pt idx="3">
                    <c:v>5 dB</c:v>
                  </c:pt>
                </c:lvl>
              </c:multiLvlStrCache>
            </c:multiLvlStrRef>
          </c:cat>
          <c:val>
            <c:numRef>
              <c:f>Sheet1!$B$2:$B$5</c:f>
              <c:numCache>
                <c:formatCode>General</c:formatCode>
                <c:ptCount val="4"/>
                <c:pt idx="0">
                  <c:v>68.3</c:v>
                </c:pt>
                <c:pt idx="1">
                  <c:v>56.5</c:v>
                </c:pt>
                <c:pt idx="2">
                  <c:v>39.8</c:v>
                </c:pt>
                <c:pt idx="3">
                  <c:v>27.4</c:v>
                </c:pt>
              </c:numCache>
            </c:numRef>
          </c:val>
        </c:ser>
        <c:ser>
          <c:idx val="1"/>
          <c:order val="1"/>
          <c:tx>
            <c:strRef>
              <c:f>Sheet1!$C$1</c:f>
              <c:strCache>
                <c:ptCount val="1"/>
                <c:pt idx="0">
                  <c:v>Noisy copies + second look</c:v>
                </c:pt>
              </c:strCache>
            </c:strRef>
          </c:tx>
          <c:spPr>
            <a:solidFill>
              <a:srgbClr val="2FA37A"/>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Sheet1!$A$2:$A$5</c:f>
              <c:multiLvlStrCache>
                <c:ptCount val="4"/>
                <c:lvl>
                  <c:pt idx="0">
                    <c:v>clean</c:v>
                  </c:pt>
                  <c:pt idx="1">
                    <c:v>20 dB</c:v>
                  </c:pt>
                  <c:pt idx="2">
                    <c:v>10 dB</c:v>
                  </c:pt>
                  <c:pt idx="3">
                    <c:v>5 dB</c:v>
                  </c:pt>
                </c:lvl>
              </c:multiLvlStrCache>
            </c:multiLvlStrRef>
          </c:cat>
          <c:val>
            <c:numRef>
              <c:f>Sheet1!$C$2:$C$5</c:f>
              <c:numCache>
                <c:formatCode>General</c:formatCode>
                <c:ptCount val="4"/>
                <c:pt idx="0">
                  <c:v>72.4</c:v>
                </c:pt>
                <c:pt idx="1">
                  <c:v>67.3</c:v>
                </c:pt>
                <c:pt idx="2">
                  <c:v>57.6</c:v>
                </c:pt>
                <c:pt idx="3">
                  <c:v>47.2</c:v>
                </c:pt>
              </c:numCache>
            </c:numRef>
          </c:val>
        </c:ser>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2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32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A3D"/>
                </a:solidFill>
                <a:latin typeface="+mn-lt"/>
              </a:defRPr>
            </a:pPr>
            <a:r>
              <a:rPr sz="1400" b="0" i="0" u="none" strike="noStrike">
                <a:solidFill>
                  <a:srgbClr val="151A3D"/>
                </a:solidFill>
                <a:latin typeface="+mn-lt"/>
              </a:rPr>
              <a:t>Digits: picture + sound (%)</a:t>
            </a:r>
          </a:p>
        </c:rich>
      </c:tx>
      <c:layout/>
      <c:overlay val="0"/>
    </c:title>
    <c:autoTitleDeleted val="0"/>
    <c:plotArea>
      <c:layout/>
      <c:barChart>
        <c:barDir val="col"/>
        <c:grouping val="clustered"/>
        <c:varyColors val="0"/>
        <c:ser>
          <c:idx val="0"/>
          <c:order val="0"/>
          <c:tx>
            <c:strRef>
              <c:f>Sheet1!$B$1</c:f>
              <c:strCache>
                <c:ptCount val="1"/>
                <c:pt idx="0">
                  <c:v>Joint table</c:v>
                </c:pt>
              </c:strCache>
            </c:strRef>
          </c:tx>
          <c:spPr>
            <a:solidFill>
              <a:srgbClr val="8A93C9"/>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clean</c:v>
                  </c:pt>
                  <c:pt idx="1">
                    <c:v>picture 25% damaged</c:v>
                  </c:pt>
                  <c:pt idx="2">
                    <c:v>picture 50% damaged</c:v>
                  </c:pt>
                </c:lvl>
              </c:multiLvlStrCache>
            </c:multiLvlStrRef>
          </c:cat>
          <c:val>
            <c:numRef>
              <c:f>Sheet1!$B$2:$B$4</c:f>
              <c:numCache>
                <c:formatCode>General</c:formatCode>
                <c:ptCount val="3"/>
                <c:pt idx="0">
                  <c:v>98.3</c:v>
                </c:pt>
                <c:pt idx="1">
                  <c:v>97.5</c:v>
                </c:pt>
                <c:pt idx="2">
                  <c:v>94.6</c:v>
                </c:pt>
              </c:numCache>
            </c:numRef>
          </c:val>
        </c:ser>
        <c:ser>
          <c:idx val="1"/>
          <c:order val="1"/>
          <c:tx>
            <c:strRef>
              <c:f>Sheet1!$C$1</c:f>
              <c:strCache>
                <c:ptCount val="1"/>
                <c:pt idx="0">
                  <c:v>Weighted by confidence</c:v>
                </c:pt>
              </c:strCache>
            </c:strRef>
          </c:tx>
          <c:spPr>
            <a:solidFill>
              <a:srgbClr val="2FA37A"/>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clean</c:v>
                  </c:pt>
                  <c:pt idx="1">
                    <c:v>picture 25% damaged</c:v>
                  </c:pt>
                  <c:pt idx="2">
                    <c:v>picture 50% damaged</c:v>
                  </c:pt>
                </c:lvl>
              </c:multiLvlStrCache>
            </c:multiLvlStrRef>
          </c:cat>
          <c:val>
            <c:numRef>
              <c:f>Sheet1!$C$2:$C$4</c:f>
              <c:numCache>
                <c:formatCode>General</c:formatCode>
                <c:ptCount val="3"/>
                <c:pt idx="0">
                  <c:v>98.9</c:v>
                </c:pt>
                <c:pt idx="1">
                  <c:v>98.4</c:v>
                </c:pt>
                <c:pt idx="2">
                  <c:v>96.2</c:v>
                </c:pt>
              </c:numCache>
            </c:numRef>
          </c:val>
        </c:ser>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2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32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A3D"/>
                </a:solidFill>
                <a:latin typeface="+mn-lt"/>
              </a:defRPr>
            </a:pPr>
            <a:r>
              <a:rPr sz="1400" b="0" i="0" u="none" strike="noStrike">
                <a:solidFill>
                  <a:srgbClr val="151A3D"/>
                </a:solidFill>
                <a:latin typeface="+mn-lt"/>
              </a:rPr>
              <a:t>Accuracy on all 10 classes, 1 example per new class (%)</a:t>
            </a:r>
          </a:p>
        </c:rich>
      </c:tx>
      <c:layout/>
      <c:overlay val="0"/>
    </c:title>
    <c:autoTitleDeleted val="0"/>
    <c:plotArea>
      <c:layout/>
      <c:barChart>
        <c:barDir val="col"/>
        <c:grouping val="clustered"/>
        <c:varyColors val="0"/>
        <c:ser>
          <c:idx val="0"/>
          <c:order val="0"/>
          <c:tx>
            <c:strRef>
              <c:f>Sheet1!$B$1</c:f>
              <c:strCache>
                <c:ptCount val="1"/>
                <c:pt idx="0">
                  <c:v>Before the fix</c:v>
                </c:pt>
              </c:strCache>
            </c:strRef>
          </c:tx>
          <c:spPr>
            <a:solidFill>
              <a:srgbClr val="8A93C9"/>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spoken words</c:v>
                  </c:pt>
                </c:lvl>
              </c:multiLvlStrCache>
            </c:multiLvlStrRef>
          </c:cat>
          <c:val>
            <c:numRef>
              <c:f>Sheet1!$B$2:$B$4</c:f>
              <c:numCache>
                <c:formatCode>General</c:formatCode>
                <c:ptCount val="3"/>
                <c:pt idx="0">
                  <c:v>54.1</c:v>
                </c:pt>
                <c:pt idx="1">
                  <c:v>49.7</c:v>
                </c:pt>
                <c:pt idx="2">
                  <c:v>45.2</c:v>
                </c:pt>
              </c:numCache>
            </c:numRef>
          </c:val>
        </c:ser>
        <c:ser>
          <c:idx val="1"/>
          <c:order val="1"/>
          <c:tx>
            <c:strRef>
              <c:f>Sheet1!$C$1</c:f>
              <c:strCache>
                <c:ptCount val="1"/>
                <c:pt idx="0">
                  <c:v>With IMPRINT + short sleep</c:v>
                </c:pt>
              </c:strCache>
            </c:strRef>
          </c:tx>
          <c:spPr>
            <a:solidFill>
              <a:srgbClr val="F2A93B"/>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spoken words</c:v>
                  </c:pt>
                </c:lvl>
              </c:multiLvlStrCache>
            </c:multiLvlStrRef>
          </c:cat>
          <c:val>
            <c:numRef>
              <c:f>Sheet1!$C$2:$C$4</c:f>
              <c:numCache>
                <c:formatCode>General</c:formatCode>
                <c:ptCount val="3"/>
                <c:pt idx="0">
                  <c:v>69.9</c:v>
                </c:pt>
                <c:pt idx="1">
                  <c:v>64</c:v>
                </c:pt>
                <c:pt idx="2">
                  <c:v>48.3</c:v>
                </c:pt>
              </c:numCache>
            </c:numRef>
          </c:val>
        </c:ser>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2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32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A3D"/>
                </a:solidFill>
                <a:latin typeface="+mn-lt"/>
              </a:defRPr>
            </a:pPr>
            <a:r>
              <a:rPr sz="1400" b="0" i="0" u="none" strike="noStrike">
                <a:solidFill>
                  <a:srgbClr val="151A3D"/>
                </a:solidFill>
                <a:latin typeface="+mn-lt"/>
              </a:rPr>
              <a:t>Accuracy after moving knowledge (%)</a:t>
            </a:r>
          </a:p>
        </c:rich>
      </c:tx>
      <c:layout/>
      <c:overlay val="0"/>
    </c:title>
    <c:autoTitleDeleted val="0"/>
    <c:plotArea>
      <c:layout/>
      <c:barChart>
        <c:barDir val="col"/>
        <c:grouping val="clustered"/>
        <c:varyColors val="0"/>
        <c:ser>
          <c:idx val="0"/>
          <c:order val="0"/>
          <c:tx>
            <c:strRef>
              <c:f>Sheet1!$B$1</c:f>
              <c:strCache>
                <c:ptCount val="1"/>
                <c:pt idx="0">
                  <c:v>Merge two chips</c:v>
                </c:pt>
              </c:strCache>
            </c:strRef>
          </c:tx>
          <c:spPr>
            <a:solidFill>
              <a:srgbClr val="8A93C9"/>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spoken words</c:v>
                  </c:pt>
                </c:lvl>
              </c:multiLvlStrCache>
            </c:multiLvlStrRef>
          </c:cat>
          <c:val>
            <c:numRef>
              <c:f>Sheet1!$B$2:$B$4</c:f>
              <c:numCache>
                <c:formatCode>General</c:formatCode>
                <c:ptCount val="3"/>
                <c:pt idx="0">
                  <c:v>93.3</c:v>
                </c:pt>
                <c:pt idx="1">
                  <c:v>81.4</c:v>
                </c:pt>
                <c:pt idx="2">
                  <c:v>64.3</c:v>
                </c:pt>
              </c:numCache>
            </c:numRef>
          </c:val>
        </c:ser>
        <c:ser>
          <c:idx val="1"/>
          <c:order val="1"/>
          <c:tx>
            <c:strRef>
              <c:f>Sheet1!$C$1</c:f>
              <c:strCache>
                <c:ptCount val="1"/>
                <c:pt idx="0">
                  <c:v>Hand-over, then learn on</c:v>
                </c:pt>
              </c:strCache>
            </c:strRef>
          </c:tx>
          <c:spPr>
            <a:solidFill>
              <a:srgbClr val="2FA37A"/>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spoken words</c:v>
                  </c:pt>
                </c:lvl>
              </c:multiLvlStrCache>
            </c:multiLvlStrRef>
          </c:cat>
          <c:val>
            <c:numRef>
              <c:f>Sheet1!$C$2:$C$4</c:f>
              <c:numCache>
                <c:formatCode>General</c:formatCode>
                <c:ptCount val="3"/>
                <c:pt idx="0">
                  <c:v>95.6</c:v>
                </c:pt>
                <c:pt idx="1">
                  <c:v>82.7</c:v>
                </c:pt>
                <c:pt idx="2">
                  <c:v>71.6</c:v>
                </c:pt>
              </c:numCache>
            </c:numRef>
          </c:val>
        </c:ser>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2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327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judges. We are L Lawliet from CKCET and the project is called L. L is a small chip design that keeps learning after it ships, without forgetting what it knew, with no multiplier, no matrices and no backpropagation. One promise before the numbers: every number on these slides is labelled simulated, estimated or measured, and nothing has run on a real board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normal neural network learns once. Teach it in stages and it keeps only the last stage: about 20 percent on digits and clothing, and 5 percent on twenty classes. Those are measured numbers from a small CNN we trained on the same images, one seed. The usual fix is to retrain from scratch, which costs energy and means hardware cannot be updated in the field. A chip that learns in the field avoids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rule is to follow the brain, not the GPU. Senses that learn without labels. Learning by counting, one example at a time, with no backpropagation, no multiplier and no matrices. Sleep: the chip dreams old classes from small counters instead of storing examples, and a slow table consolidates the fast one. Looking again when unsure, and trusting the more confident sense. And sharing: memory is counts, so chips can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result. Learning in stages of two classes with no stored examples, the chip keeps 95.6 percent on digits and 81 on clothing with sixty thousand training images, and 87.4 percent on twenty classes. The CNN that learned in the same stages keeps about 20 and 5 percent. The chip numbers are simulated with an exact integer model, two to five seeds; the CNN numbers are measured, one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everything available at once, the chip with its second look is within half a point of a trained CNN on digits, two points behind on clothing, level on twenty classes, and level on thirty-five spoken words even though the chip learned the words in stages. The second look costs about 2.8 times the table memory. Say it plainly: a CNN is still ahead on clothing.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whether the chip holds up with more data, and found a failure: at sixty thousand images the staged result fell. The cause was consolidation timing; one fixed rule that scales the follow interval with the stage size removes the collapse, on both datasets, without a per-dataset setting. We also report that one-pass accuracy barely improves with more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sound path goes from raw samples through a cochlea and noise floor to the same counting table. With one noisy copy of each training clip and a second look, thirty-five words in stages reach 72.4 percent clean and 47 percent at 5 decibels, against 68 and 27 for the first design. The noise is simulated white noise, not real recordings.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retina and a cochlea feed one table. When a quarter of the picture is damaged, weighting each sense by how confident it is lifts digits from 97.5 to 98.4. A heard word can name pictures with no picture labels, groups can form with no labels, and the chip can notice a new class by itself. Be honest: the pictures and sounds come from different datasets that share only the digit.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brand-new class seen once was almost invisible. IMPRINT writes its mean code into the table at once and a short sleep blends it in: digits go from 54 to 70, clothing from 50 to 64. Spoken words from one to five recordings stay weak and I say so on the limits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chip works alone; sharing is an option. Because the memory is counts, two chips that learned different classes can be merged by adding their counters, or one chip hands its memory to another that keeps learning. Merge gives 93, 81 and 64 percent; hand-over gives 96, 83 and 72. A normal network cannot merge two separately trained copies like this. A GPU cluster joins many GPUs for size and speed, which is a different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The image memory is 84 kilobytes and fits a 25-dollar Tang Nano 20K with no hardware multipliers. Counting only the operations a decision needs it uses about 74 times less energy than an 8-bit network, an estimate. The layout estimate is higher, about a fifth of a microjoule. The second look costs about 2.8 times the table memory, and sound needs 422 kilobytes.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belongs with embedded systems. It is a dedicated function inside a device under tight limits: 84 kilobytes of memory for images, no multiplier, a small low-cost FPGA. It has real device interfaces: a camera-style picture input and microphone samples encoded on the chip, and a UART byte protocol so any microcontroller or PC can teach it, ask it, and read or write its memory. We simulated the board's top-level design end to end: digits recognised from UART bytes. On the device it learns new classes in the field, sleeps when idle, and its memory can be moved between devices. The honest limit: real power, latency and clock speed are not measured yet; they need the board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is not just a simulator result. Every check passes bit for bit between the integer model and the RTL, covering the learning core, the sense layers, the whole sound chain, the two-sense chip, the new units that moved host steps onto the chip, and the board top. We also took it through an open-source SKY130 layout flow; routing ended at one remaining violation. This is verification in simulation, not a chip.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design, so you can check it. Pictures and sound go through detectors that learn without labels and make a sparse code. The core is a fast five-bit table, ten-bit dream counters for sleep and a slow consolidating table, using counts, compares and shifts, with no multiplier. The decision is an XNOR and popcount. On top are the units we added: the second look, the tail memory, the confidence weighting of two senses, and the threshold, novelty and grouping units. Each has a Verilog file, a testbench and a script that compares it bit for bit with the integer model. One command reruns every check. The repository and logs are available to reviewers on request. Everything 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about scope. L solves a small part of the AI problem: devices that must keep learning in the field without retraining on a server and without being thrown away. That is simulated, and the energy figure is an estimate. L does not solve what is driving GPU and memory prices today, which is large language models and image generators in data centres. It also cannot run existing models: it is a dedicated chip for its own model. And nothing is measured on hardware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hypothesis, said as a hypothesis. A brain-style model with a constant-size state, sparse event-driven activity and low-bit weights, on a chip built for it, should need much less memory traffic and energy per token than a transformer on a GPU at the same quality. That could reduce the demand for scarce high-bandwidth memory and the heat and water of serving. The model has to be proven first, because the chip can only exploit those properties. It is falsified if the quality edge disappears at larger sizes or when matrix-free, if a fused GPU version gets within about three times of the simulated chip, or if a transformer chip with the same memory matches the energy per token. The thresholds are my proposals, not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want you to remember. Nothing has run on hardware. Staged clothing is about 82 percent, five points under its one-pass number, and I tried many fixes. A trained CNN is still ahead on clothing by about two points. The tests are small and the noise is simulated; the two-sense data is paired by class, not real audio-visual recordings. The second look costs about 2.8 times the memory, and a few steps still run on the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the first continual-learning chip. Hyperdimensional-computing accelerators and event-driven spiking chips such as Loihi 2, TrueNorth and SpiNNaker exist. What we add is the combination: dreams from small counters so no examples are stored, a night that ends by itself, consolidation that scales with the data, and a design with no multiplier or matrix that is bit-exact from raw senses to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comes next. The model and RTL are done and verified in simulation. The next milestone is the real Tang Nano board, which gives the first measured numbers. Then harder tests: a larger vocabulary, real recorded noise and a harder image set. Later, a matrix-free chip for the L language model, and external memory for sound and the second look. No fabrication is planned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plan to approach the bigger problem on two tracks. Track one is the L chip, which is done in simulation and next goes to a real board. Track two is the L AI model for language, which has small-scale evidence only, so it goes through gates: first measure the model, then compare against a fused GPU implementation and stop if the GPU is already close, then check that a matrix-free version keeps its quality. Only then a simulator and an FPGA. Later we study memory: whether the constant-size state and event-driven reads can move work from scarce high-bandwidth memory to cheaper DRAM or on-chip memory. That is a question to study, not a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fabrication. The open 130 nanometre flow is good for a prototype but not comparable to a GPU. Today's data-centre GPUs use a five-nanometre-class process and dies up to about 800 square millimetres. Reaching that node costs tens of millions of dollars and needs foundry access we do not have, so we will not claim it. The plan is to write the design independent of the node, compare energy against GPUs at a GPU-class node using published scaling, which is an uncertain estimate, prove the design on an FPGA, and tape out at an accessible mature node, around 28 to 65 nanometres through a university or shuttle programme, when funded. Silicon CMOS is the only practical material for dense logic: mature, high yield, full tools. Its limits are cost at advanced nodes, heat, SRAM that no longer shrinks as fast, and supply concentrated in a few fabs. Other materials are not ready for dense logic. All cost figures are estimates from memory of public reports; verify before quoting.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need to go further, in steps, each with a pass criterion. Step one is the FPGA board run, about four thousand rupees including tax, and it gives the first measured numbers: bit-exact agreement with the simulation, accuracy and power. Step two is a micro-chip on a shared shuttle, around a hundred to three hundred dollars per tile, to show the verified on-chip units in real silicon. Step three is a full chip at a mature node through a university or programme partner, tens of thousands of dollars. Step four, a GPU-class node, costs tens of millions and is not requested now. Besides money we welcome a partner for shuttle access, a mentor, and compute credits for the language-model gates. All prices are estimates; verify before committing.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L is a chip design that keeps learning after it ships. It keeps what it knew, shares what it learned, and needs no multiplier. It is weaker than a trained network in a few places, and I have told you where.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L</a:t>
            </a:r>
            <a:endParaRPr lang="en-US" sz="4000" dirty="0"/>
          </a:p>
        </p:txBody>
      </p:sp>
      <p:sp>
        <p:nvSpPr>
          <p:cNvPr id="3" name="Text 1"/>
          <p:cNvSpPr txBox="1"/>
          <p:nvPr/>
        </p:nvSpPr>
        <p:spPr>
          <a:xfrm>
            <a:off x="548640" y="2697480"/>
            <a:ext cx="8046720" cy="457200"/>
          </a:xfrm>
          <a:prstGeom prst="rect">
            <a:avLst/>
          </a:prstGeom>
          <a:noFill/>
          <a:ln/>
        </p:spPr>
        <p:txBody>
          <a:bodyPr wrap="square" lIns="0" tIns="0" rIns="0" bIns="0" rtlCol="0" anchor="t"/>
          <a:lstStyle/>
          <a:p>
            <a:pPr indent="0" marL="0">
              <a:buNone/>
            </a:pPr>
            <a:r>
              <a:rPr lang="en-US" sz="2200" i="1" dirty="0">
                <a:solidFill>
                  <a:schemeClr val="accent1"/>
                </a:solidFill>
                <a:latin typeface="Calibri" pitchFamily="34" charset="0"/>
                <a:ea typeface="Calibri" pitchFamily="34" charset="-122"/>
                <a:cs typeface="Calibri" pitchFamily="34" charset="-120"/>
              </a:rPr>
              <a:t>A brain-principled chip that keeps learning after it ships</a:t>
            </a:r>
            <a:endParaRPr lang="en-US" sz="2200" dirty="0"/>
          </a:p>
        </p:txBody>
      </p:sp>
      <p:sp>
        <p:nvSpPr>
          <p:cNvPr id="4" name="Text 2"/>
          <p:cNvSpPr txBox="1"/>
          <p:nvPr/>
        </p:nvSpPr>
        <p:spPr>
          <a:xfrm>
            <a:off x="548640" y="4023360"/>
            <a:ext cx="8046720" cy="3657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L Lawliet  |  Navin (Kakashi), CKCET  |  PALS innoWAH! 2026-27</a:t>
            </a:r>
            <a:endParaRPr lang="en-US" sz="1400" dirty="0"/>
          </a:p>
        </p:txBody>
      </p:sp>
      <p:sp>
        <p:nvSpPr>
          <p:cNvPr id="5" name="Text 3"/>
          <p:cNvSpPr txBox="1"/>
          <p:nvPr/>
        </p:nvSpPr>
        <p:spPr>
          <a:xfrm>
            <a:off x="548640" y="4389120"/>
            <a:ext cx="8046720" cy="36576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Every number is labelled SIMULATED, ESTIMATED or MEASURED. The chip has not run on hardware yet: say it first, then show what is verified.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AI stops learning the day it ships</a:t>
            </a:r>
            <a:endParaRPr lang="en-US" sz="3000" dirty="0"/>
          </a:p>
        </p:txBody>
      </p:sp>
      <p:sp>
        <p:nvSpPr>
          <p:cNvPr id="3" name="card"/>
          <p:cNvSpPr/>
          <p:nvPr/>
        </p:nvSpPr>
        <p:spPr>
          <a:xfrm>
            <a:off x="457200" y="1371600"/>
            <a:ext cx="2560320" cy="2103120"/>
          </a:xfrm>
          <a:prstGeom prst="roundRect">
            <a:avLst>
              <a:gd name="adj" fmla="val 4348"/>
            </a:avLst>
          </a:prstGeom>
          <a:solidFill>
            <a:schemeClr val="bg2"/>
          </a:solidFill>
          <a:ln w="12700">
            <a:solidFill>
              <a:schemeClr val="bg2"/>
            </a:solidFill>
            <a:prstDash val="solid"/>
          </a:ln>
        </p:spPr>
      </p:sp>
      <p:sp>
        <p:nvSpPr>
          <p:cNvPr id="4" name="Text 2"/>
          <p:cNvSpPr txBox="1"/>
          <p:nvPr/>
        </p:nvSpPr>
        <p:spPr>
          <a:xfrm>
            <a:off x="640080" y="1554480"/>
            <a:ext cx="2194560" cy="914400"/>
          </a:xfrm>
          <a:prstGeom prst="rect">
            <a:avLst/>
          </a:prstGeom>
          <a:noFill/>
          <a:ln/>
        </p:spPr>
        <p:txBody>
          <a:bodyPr wrap="square" lIns="0" tIns="0" rIns="0" bIns="0" rtlCol="0" anchor="t"/>
          <a:lstStyle/>
          <a:p>
            <a:pPr indent="0" marL="0">
              <a:buNone/>
            </a:pPr>
            <a:r>
              <a:rPr lang="en-US" sz="5400" b="1" dirty="0">
                <a:solidFill>
                  <a:schemeClr val="accent4"/>
                </a:solidFill>
                <a:latin typeface="Cambria" pitchFamily="34" charset="0"/>
                <a:ea typeface="Cambria" pitchFamily="34" charset="-122"/>
                <a:cs typeface="Cambria" pitchFamily="34" charset="-120"/>
              </a:rPr>
              <a:t>19.5%</a:t>
            </a:r>
            <a:endParaRPr lang="en-US" sz="5400" dirty="0"/>
          </a:p>
        </p:txBody>
      </p:sp>
      <p:sp>
        <p:nvSpPr>
          <p:cNvPr id="5" name="Text 3"/>
          <p:cNvSpPr txBox="1"/>
          <p:nvPr/>
        </p:nvSpPr>
        <p:spPr>
          <a:xfrm>
            <a:off x="640080" y="2606040"/>
            <a:ext cx="219456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digits: a small CNN that learns in 5 stages keeps only the last stage</a:t>
            </a:r>
            <a:endParaRPr lang="en-US" sz="1400" dirty="0"/>
          </a:p>
        </p:txBody>
      </p:sp>
      <p:sp>
        <p:nvSpPr>
          <p:cNvPr id="6" name="card"/>
          <p:cNvSpPr/>
          <p:nvPr/>
        </p:nvSpPr>
        <p:spPr>
          <a:xfrm>
            <a:off x="3291840" y="1371600"/>
            <a:ext cx="2560320" cy="2103120"/>
          </a:xfrm>
          <a:prstGeom prst="roundRect">
            <a:avLst>
              <a:gd name="adj" fmla="val 4348"/>
            </a:avLst>
          </a:prstGeom>
          <a:solidFill>
            <a:schemeClr val="bg2"/>
          </a:solidFill>
          <a:ln w="12700">
            <a:solidFill>
              <a:schemeClr val="bg2"/>
            </a:solidFill>
            <a:prstDash val="solid"/>
          </a:ln>
        </p:spPr>
      </p:sp>
      <p:sp>
        <p:nvSpPr>
          <p:cNvPr id="7" name="Text 5"/>
          <p:cNvSpPr txBox="1"/>
          <p:nvPr/>
        </p:nvSpPr>
        <p:spPr>
          <a:xfrm>
            <a:off x="3474720" y="1554480"/>
            <a:ext cx="2194560" cy="914400"/>
          </a:xfrm>
          <a:prstGeom prst="rect">
            <a:avLst/>
          </a:prstGeom>
          <a:noFill/>
          <a:ln/>
        </p:spPr>
        <p:txBody>
          <a:bodyPr wrap="square" lIns="0" tIns="0" rIns="0" bIns="0" rtlCol="0" anchor="t"/>
          <a:lstStyle/>
          <a:p>
            <a:pPr indent="0" marL="0">
              <a:buNone/>
            </a:pPr>
            <a:r>
              <a:rPr lang="en-US" sz="5400" b="1" dirty="0">
                <a:solidFill>
                  <a:schemeClr val="accent4"/>
                </a:solidFill>
                <a:latin typeface="Cambria" pitchFamily="34" charset="0"/>
                <a:ea typeface="Cambria" pitchFamily="34" charset="-122"/>
                <a:cs typeface="Cambria" pitchFamily="34" charset="-120"/>
              </a:rPr>
              <a:t>20.0%</a:t>
            </a:r>
            <a:endParaRPr lang="en-US" sz="5400" dirty="0"/>
          </a:p>
        </p:txBody>
      </p:sp>
      <p:sp>
        <p:nvSpPr>
          <p:cNvPr id="8" name="Text 6"/>
          <p:cNvSpPr txBox="1"/>
          <p:nvPr/>
        </p:nvSpPr>
        <p:spPr>
          <a:xfrm>
            <a:off x="3474720" y="2606040"/>
            <a:ext cx="219456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clothing: same test, 60,000 images, same forgetting</a:t>
            </a:r>
            <a:endParaRPr lang="en-US" sz="1400" dirty="0"/>
          </a:p>
        </p:txBody>
      </p:sp>
      <p:sp>
        <p:nvSpPr>
          <p:cNvPr id="9" name="card"/>
          <p:cNvSpPr/>
          <p:nvPr/>
        </p:nvSpPr>
        <p:spPr>
          <a:xfrm>
            <a:off x="6126480" y="1371600"/>
            <a:ext cx="2560320" cy="2103120"/>
          </a:xfrm>
          <a:prstGeom prst="roundRect">
            <a:avLst>
              <a:gd name="adj" fmla="val 4348"/>
            </a:avLst>
          </a:prstGeom>
          <a:solidFill>
            <a:schemeClr val="bg2"/>
          </a:solidFill>
          <a:ln w="12700">
            <a:solidFill>
              <a:schemeClr val="bg2"/>
            </a:solidFill>
            <a:prstDash val="solid"/>
          </a:ln>
        </p:spPr>
      </p:sp>
      <p:sp>
        <p:nvSpPr>
          <p:cNvPr id="10" name="Text 8"/>
          <p:cNvSpPr txBox="1"/>
          <p:nvPr/>
        </p:nvSpPr>
        <p:spPr>
          <a:xfrm>
            <a:off x="6309360" y="1554480"/>
            <a:ext cx="2194560" cy="914400"/>
          </a:xfrm>
          <a:prstGeom prst="rect">
            <a:avLst/>
          </a:prstGeom>
          <a:noFill/>
          <a:ln/>
        </p:spPr>
        <p:txBody>
          <a:bodyPr wrap="square" lIns="0" tIns="0" rIns="0" bIns="0" rtlCol="0" anchor="t"/>
          <a:lstStyle/>
          <a:p>
            <a:pPr indent="0" marL="0">
              <a:buNone/>
            </a:pPr>
            <a:r>
              <a:rPr lang="en-US" sz="5400" b="1" dirty="0">
                <a:solidFill>
                  <a:schemeClr val="accent4"/>
                </a:solidFill>
                <a:latin typeface="Cambria" pitchFamily="34" charset="0"/>
                <a:ea typeface="Cambria" pitchFamily="34" charset="-122"/>
                <a:cs typeface="Cambria" pitchFamily="34" charset="-120"/>
              </a:rPr>
              <a:t>5.0%</a:t>
            </a:r>
            <a:endParaRPr lang="en-US" sz="5400" dirty="0"/>
          </a:p>
        </p:txBody>
      </p:sp>
      <p:sp>
        <p:nvSpPr>
          <p:cNvPr id="11" name="Text 9"/>
          <p:cNvSpPr txBox="1"/>
          <p:nvPr/>
        </p:nvSpPr>
        <p:spPr>
          <a:xfrm>
            <a:off x="6309360" y="2606040"/>
            <a:ext cx="219456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20 classes in 10 stages: almost everything is forgotten</a:t>
            </a:r>
            <a:endParaRPr lang="en-US" sz="1400" dirty="0"/>
          </a:p>
        </p:txBody>
      </p:sp>
      <p:sp>
        <p:nvSpPr>
          <p:cNvPr id="12" name="Text 10"/>
          <p:cNvSpPr txBox="1"/>
          <p:nvPr/>
        </p:nvSpPr>
        <p:spPr>
          <a:xfrm>
            <a:off x="457200" y="3749040"/>
            <a:ext cx="8229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MEASURED: a CNN we trained on the same images, one seed. Fixing forgetting today means retraining from scratch: more energy, more heat, hardware thrown away when it can no longer be updated.</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idea: a brain, as a chip</a:t>
            </a:r>
            <a:endParaRPr lang="en-US" sz="3000" dirty="0"/>
          </a:p>
        </p:txBody>
      </p:sp>
      <p:sp>
        <p:nvSpPr>
          <p:cNvPr id="3" name="card"/>
          <p:cNvSpPr/>
          <p:nvPr/>
        </p:nvSpPr>
        <p:spPr>
          <a:xfrm>
            <a:off x="457200" y="1143000"/>
            <a:ext cx="8229600" cy="621792"/>
          </a:xfrm>
          <a:prstGeom prst="roundRect">
            <a:avLst>
              <a:gd name="adj" fmla="val 14706"/>
            </a:avLst>
          </a:prstGeom>
          <a:solidFill>
            <a:schemeClr val="bg2"/>
          </a:solidFill>
          <a:ln w="12700">
            <a:solidFill>
              <a:schemeClr val="bg2"/>
            </a:solidFill>
            <a:prstDash val="solid"/>
          </a:ln>
        </p:spPr>
      </p:sp>
      <p:sp>
        <p:nvSpPr>
          <p:cNvPr id="4" name="marker"/>
          <p:cNvSpPr/>
          <p:nvPr/>
        </p:nvSpPr>
        <p:spPr>
          <a:xfrm>
            <a:off x="566928" y="1234440"/>
            <a:ext cx="420624" cy="420624"/>
          </a:xfrm>
          <a:prstGeom prst="ellipse">
            <a:avLst/>
          </a:prstGeom>
          <a:solidFill>
            <a:schemeClr val="accent1"/>
          </a:solidFill>
          <a:ln w="12700">
            <a:solidFill>
              <a:schemeClr val="accent1"/>
            </a:solidFill>
            <a:prstDash val="solid"/>
          </a:ln>
        </p:spPr>
      </p:sp>
      <p:sp>
        <p:nvSpPr>
          <p:cNvPr id="5" name="Text 3"/>
          <p:cNvSpPr txBox="1"/>
          <p:nvPr/>
        </p:nvSpPr>
        <p:spPr>
          <a:xfrm>
            <a:off x="566928" y="1289304"/>
            <a:ext cx="420624" cy="27432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143000" y="1207008"/>
            <a:ext cx="2011680" cy="45720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Senses</a:t>
            </a:r>
            <a:endParaRPr lang="en-US" sz="1500" dirty="0"/>
          </a:p>
        </p:txBody>
      </p:sp>
      <p:sp>
        <p:nvSpPr>
          <p:cNvPr id="7" name="Text 5"/>
          <p:cNvSpPr txBox="1"/>
          <p:nvPr/>
        </p:nvSpPr>
        <p:spPr>
          <a:xfrm>
            <a:off x="3108960" y="1207008"/>
            <a:ext cx="5394960" cy="5029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Eyes and ears turn pixels and sound into a sparse code. Detectors learn by themselves, no labels.</a:t>
            </a:r>
            <a:endParaRPr lang="en-US" sz="1200" dirty="0"/>
          </a:p>
        </p:txBody>
      </p:sp>
      <p:sp>
        <p:nvSpPr>
          <p:cNvPr id="8" name="card"/>
          <p:cNvSpPr/>
          <p:nvPr/>
        </p:nvSpPr>
        <p:spPr>
          <a:xfrm>
            <a:off x="457200" y="1847088"/>
            <a:ext cx="8229600" cy="621792"/>
          </a:xfrm>
          <a:prstGeom prst="roundRect">
            <a:avLst>
              <a:gd name="adj" fmla="val 14706"/>
            </a:avLst>
          </a:prstGeom>
          <a:solidFill>
            <a:schemeClr val="bg2"/>
          </a:solidFill>
          <a:ln w="12700">
            <a:solidFill>
              <a:schemeClr val="bg2"/>
            </a:solidFill>
            <a:prstDash val="solid"/>
          </a:ln>
        </p:spPr>
      </p:sp>
      <p:sp>
        <p:nvSpPr>
          <p:cNvPr id="9" name="marker"/>
          <p:cNvSpPr/>
          <p:nvPr/>
        </p:nvSpPr>
        <p:spPr>
          <a:xfrm>
            <a:off x="566928" y="1938528"/>
            <a:ext cx="420624" cy="420624"/>
          </a:xfrm>
          <a:prstGeom prst="ellipse">
            <a:avLst/>
          </a:prstGeom>
          <a:solidFill>
            <a:schemeClr val="accent1"/>
          </a:solidFill>
          <a:ln w="12700">
            <a:solidFill>
              <a:schemeClr val="accent1"/>
            </a:solidFill>
            <a:prstDash val="solid"/>
          </a:ln>
        </p:spPr>
      </p:sp>
      <p:sp>
        <p:nvSpPr>
          <p:cNvPr id="10" name="Text 8"/>
          <p:cNvSpPr txBox="1"/>
          <p:nvPr/>
        </p:nvSpPr>
        <p:spPr>
          <a:xfrm>
            <a:off x="566928" y="1993392"/>
            <a:ext cx="420624" cy="27432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143000" y="1911096"/>
            <a:ext cx="2011680" cy="45720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Learn by counting</a:t>
            </a:r>
            <a:endParaRPr lang="en-US" sz="1500" dirty="0"/>
          </a:p>
        </p:txBody>
      </p:sp>
      <p:sp>
        <p:nvSpPr>
          <p:cNvPr id="12" name="Text 10"/>
          <p:cNvSpPr txBox="1"/>
          <p:nvPr/>
        </p:nvSpPr>
        <p:spPr>
          <a:xfrm>
            <a:off x="3108960" y="1911096"/>
            <a:ext cx="5394960" cy="5029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Each example is counted into a small fast table. No backpropagation, no multiplier, no matrices.</a:t>
            </a:r>
            <a:endParaRPr lang="en-US" sz="1200" dirty="0"/>
          </a:p>
        </p:txBody>
      </p:sp>
      <p:sp>
        <p:nvSpPr>
          <p:cNvPr id="13" name="card"/>
          <p:cNvSpPr/>
          <p:nvPr/>
        </p:nvSpPr>
        <p:spPr>
          <a:xfrm>
            <a:off x="457200" y="2551176"/>
            <a:ext cx="8229600" cy="621792"/>
          </a:xfrm>
          <a:prstGeom prst="roundRect">
            <a:avLst>
              <a:gd name="adj" fmla="val 14706"/>
            </a:avLst>
          </a:prstGeom>
          <a:solidFill>
            <a:schemeClr val="bg2"/>
          </a:solidFill>
          <a:ln w="12700">
            <a:solidFill>
              <a:schemeClr val="bg2"/>
            </a:solidFill>
            <a:prstDash val="solid"/>
          </a:ln>
        </p:spPr>
      </p:sp>
      <p:sp>
        <p:nvSpPr>
          <p:cNvPr id="14" name="marker"/>
          <p:cNvSpPr/>
          <p:nvPr/>
        </p:nvSpPr>
        <p:spPr>
          <a:xfrm>
            <a:off x="566928" y="2642616"/>
            <a:ext cx="420624" cy="420624"/>
          </a:xfrm>
          <a:prstGeom prst="ellipse">
            <a:avLst/>
          </a:prstGeom>
          <a:solidFill>
            <a:schemeClr val="accent1"/>
          </a:solidFill>
          <a:ln w="12700">
            <a:solidFill>
              <a:schemeClr val="accent1"/>
            </a:solidFill>
            <a:prstDash val="solid"/>
          </a:ln>
        </p:spPr>
      </p:sp>
      <p:sp>
        <p:nvSpPr>
          <p:cNvPr id="15" name="Text 13"/>
          <p:cNvSpPr txBox="1"/>
          <p:nvPr/>
        </p:nvSpPr>
        <p:spPr>
          <a:xfrm>
            <a:off x="566928" y="2697480"/>
            <a:ext cx="420624" cy="27432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1143000" y="2615184"/>
            <a:ext cx="2011680" cy="45720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Dream and sleep</a:t>
            </a:r>
            <a:endParaRPr lang="en-US" sz="1500" dirty="0"/>
          </a:p>
        </p:txBody>
      </p:sp>
      <p:sp>
        <p:nvSpPr>
          <p:cNvPr id="17" name="Text 15"/>
          <p:cNvSpPr txBox="1"/>
          <p:nvPr/>
        </p:nvSpPr>
        <p:spPr>
          <a:xfrm>
            <a:off x="3108960" y="2615184"/>
            <a:ext cx="5394960" cy="5029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Old classes are replayed from 10-bit counters, so nothing is stored. A slow table consolidates the fast one.</a:t>
            </a:r>
            <a:endParaRPr lang="en-US" sz="1200" dirty="0"/>
          </a:p>
        </p:txBody>
      </p:sp>
      <p:sp>
        <p:nvSpPr>
          <p:cNvPr id="18" name="card"/>
          <p:cNvSpPr/>
          <p:nvPr/>
        </p:nvSpPr>
        <p:spPr>
          <a:xfrm>
            <a:off x="457200" y="3255264"/>
            <a:ext cx="8229600" cy="621792"/>
          </a:xfrm>
          <a:prstGeom prst="roundRect">
            <a:avLst>
              <a:gd name="adj" fmla="val 14706"/>
            </a:avLst>
          </a:prstGeom>
          <a:solidFill>
            <a:schemeClr val="bg2"/>
          </a:solidFill>
          <a:ln w="12700">
            <a:solidFill>
              <a:schemeClr val="bg2"/>
            </a:solidFill>
            <a:prstDash val="solid"/>
          </a:ln>
        </p:spPr>
      </p:sp>
      <p:sp>
        <p:nvSpPr>
          <p:cNvPr id="19" name="marker"/>
          <p:cNvSpPr/>
          <p:nvPr/>
        </p:nvSpPr>
        <p:spPr>
          <a:xfrm>
            <a:off x="566928" y="3346704"/>
            <a:ext cx="420624" cy="420624"/>
          </a:xfrm>
          <a:prstGeom prst="ellipse">
            <a:avLst/>
          </a:prstGeom>
          <a:solidFill>
            <a:schemeClr val="accent1"/>
          </a:solidFill>
          <a:ln w="12700">
            <a:solidFill>
              <a:schemeClr val="accent1"/>
            </a:solidFill>
            <a:prstDash val="solid"/>
          </a:ln>
        </p:spPr>
      </p:sp>
      <p:sp>
        <p:nvSpPr>
          <p:cNvPr id="20" name="Text 18"/>
          <p:cNvSpPr txBox="1"/>
          <p:nvPr/>
        </p:nvSpPr>
        <p:spPr>
          <a:xfrm>
            <a:off x="566928" y="3401568"/>
            <a:ext cx="420624" cy="27432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4</a:t>
            </a:r>
            <a:endParaRPr lang="en-US" sz="1500" dirty="0"/>
          </a:p>
        </p:txBody>
      </p:sp>
      <p:sp>
        <p:nvSpPr>
          <p:cNvPr id="21" name="Text 19"/>
          <p:cNvSpPr txBox="1"/>
          <p:nvPr/>
        </p:nvSpPr>
        <p:spPr>
          <a:xfrm>
            <a:off x="1143000" y="3319272"/>
            <a:ext cx="2011680" cy="45720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Look again</a:t>
            </a:r>
            <a:endParaRPr lang="en-US" sz="1500" dirty="0"/>
          </a:p>
        </p:txBody>
      </p:sp>
      <p:sp>
        <p:nvSpPr>
          <p:cNvPr id="22" name="Text 20"/>
          <p:cNvSpPr txBox="1"/>
          <p:nvPr/>
        </p:nvSpPr>
        <p:spPr>
          <a:xfrm>
            <a:off x="3108960" y="3319272"/>
            <a:ext cx="5394960" cy="5029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When unsure, a second look at a finer code; when two senses disagree, trust the more confident one.</a:t>
            </a:r>
            <a:endParaRPr lang="en-US" sz="1200" dirty="0"/>
          </a:p>
        </p:txBody>
      </p:sp>
      <p:sp>
        <p:nvSpPr>
          <p:cNvPr id="23" name="card"/>
          <p:cNvSpPr/>
          <p:nvPr/>
        </p:nvSpPr>
        <p:spPr>
          <a:xfrm>
            <a:off x="457200" y="3959352"/>
            <a:ext cx="8229600" cy="621792"/>
          </a:xfrm>
          <a:prstGeom prst="roundRect">
            <a:avLst>
              <a:gd name="adj" fmla="val 14706"/>
            </a:avLst>
          </a:prstGeom>
          <a:solidFill>
            <a:schemeClr val="bg2"/>
          </a:solidFill>
          <a:ln w="12700">
            <a:solidFill>
              <a:schemeClr val="bg2"/>
            </a:solidFill>
            <a:prstDash val="solid"/>
          </a:ln>
        </p:spPr>
      </p:sp>
      <p:sp>
        <p:nvSpPr>
          <p:cNvPr id="24" name="marker"/>
          <p:cNvSpPr/>
          <p:nvPr/>
        </p:nvSpPr>
        <p:spPr>
          <a:xfrm>
            <a:off x="566928" y="4050792"/>
            <a:ext cx="420624" cy="420624"/>
          </a:xfrm>
          <a:prstGeom prst="ellipse">
            <a:avLst/>
          </a:prstGeom>
          <a:solidFill>
            <a:schemeClr val="accent1"/>
          </a:solidFill>
          <a:ln w="12700">
            <a:solidFill>
              <a:schemeClr val="accent1"/>
            </a:solidFill>
            <a:prstDash val="solid"/>
          </a:ln>
        </p:spPr>
      </p:sp>
      <p:sp>
        <p:nvSpPr>
          <p:cNvPr id="25" name="Text 23"/>
          <p:cNvSpPr txBox="1"/>
          <p:nvPr/>
        </p:nvSpPr>
        <p:spPr>
          <a:xfrm>
            <a:off x="566928" y="4105656"/>
            <a:ext cx="420624" cy="27432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5</a:t>
            </a:r>
            <a:endParaRPr lang="en-US" sz="1500" dirty="0"/>
          </a:p>
        </p:txBody>
      </p:sp>
      <p:sp>
        <p:nvSpPr>
          <p:cNvPr id="26" name="Text 24"/>
          <p:cNvSpPr txBox="1"/>
          <p:nvPr/>
        </p:nvSpPr>
        <p:spPr>
          <a:xfrm>
            <a:off x="1143000" y="4023360"/>
            <a:ext cx="2011680" cy="45720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Share (optional)</a:t>
            </a:r>
            <a:endParaRPr lang="en-US" sz="1500" dirty="0"/>
          </a:p>
        </p:txBody>
      </p:sp>
      <p:sp>
        <p:nvSpPr>
          <p:cNvPr id="27" name="Text 25"/>
          <p:cNvSpPr txBox="1"/>
          <p:nvPr/>
        </p:nvSpPr>
        <p:spPr>
          <a:xfrm>
            <a:off x="3108960" y="4023360"/>
            <a:ext cx="5394960" cy="5029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One chip works alone. Two chips can merge what they learned by adding counts, or one hands its memory to the other. A normal network cannot do this.</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It learns in stages and keeps what it knew</a:t>
            </a:r>
            <a:endParaRPr lang="en-US" sz="3000" dirty="0"/>
          </a:p>
        </p:txBody>
      </p:sp>
      <p:graphicFrame>
        <p:nvGraphicFramePr>
          <p:cNvPr id="3" name="Chart 0" descr=""/>
          <p:cNvGraphicFramePr/>
          <p:nvPr/>
        </p:nvGraphicFramePr>
        <p:xfrm>
          <a:off x="457200" y="118872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943600" y="1280160"/>
            <a:ext cx="2743200" cy="329184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6126480" y="1417320"/>
            <a:ext cx="2377440" cy="36576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SIMULATED (chip), MEASURED (CNN)</a:t>
            </a:r>
            <a:endParaRPr lang="en-US" sz="1200" dirty="0"/>
          </a:p>
        </p:txBody>
      </p:sp>
      <p:sp>
        <p:nvSpPr>
          <p:cNvPr id="6" name="Text 3"/>
          <p:cNvSpPr txBox="1"/>
          <p:nvPr/>
        </p:nvSpPr>
        <p:spPr>
          <a:xfrm>
            <a:off x="6126480" y="1783080"/>
            <a:ext cx="2377440" cy="20116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Exact integer model of the chip, 2-5 seeds, the full test sets. Digits and clothing: 60,000 training images in 5 stages of 2 classes. 20 classes: digits plus clothing in 10 stages.</a:t>
            </a:r>
            <a:endParaRPr lang="en-US" sz="1300" dirty="0"/>
          </a:p>
        </p:txBody>
      </p:sp>
      <p:sp>
        <p:nvSpPr>
          <p:cNvPr id="7" name="Text 4"/>
          <p:cNvSpPr txBox="1"/>
          <p:nvPr/>
        </p:nvSpPr>
        <p:spPr>
          <a:xfrm>
            <a:off x="6126480" y="3840480"/>
            <a:ext cx="2377440" cy="640080"/>
          </a:xfrm>
          <a:prstGeom prst="rect">
            <a:avLst/>
          </a:prstGeom>
          <a:noFill/>
          <a:ln/>
        </p:spPr>
        <p:txBody>
          <a:bodyPr wrap="square" lIns="0" tIns="0" rIns="0" bIns="0" rtlCol="0" anchor="t"/>
          <a:lstStyle/>
          <a:p>
            <a:pPr indent="0" marL="0">
              <a:buNone/>
            </a:pPr>
            <a:r>
              <a:rPr lang="en-US" sz="1300" b="1" dirty="0">
                <a:solidFill>
                  <a:schemeClr val="accent3"/>
                </a:solidFill>
                <a:latin typeface="Calibri" pitchFamily="34" charset="0"/>
                <a:ea typeface="Calibri" pitchFamily="34" charset="-122"/>
                <a:cs typeface="Calibri" pitchFamily="34" charset="-120"/>
              </a:rPr>
              <a:t>Stored examples: none. Memory: 84 KB for images.</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Close to a CNN trained on everything</a:t>
            </a:r>
            <a:endParaRPr lang="en-US" sz="3000" dirty="0"/>
          </a:p>
        </p:txBody>
      </p:sp>
      <p:graphicFrame>
        <p:nvGraphicFramePr>
          <p:cNvPr id="3" name="Chart 0" descr=""/>
          <p:cNvGraphicFramePr/>
          <p:nvPr/>
        </p:nvGraphicFramePr>
        <p:xfrm>
          <a:off x="457200" y="1188720"/>
          <a:ext cx="548640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6126480" y="1280160"/>
            <a:ext cx="2560320" cy="3291840"/>
          </a:xfrm>
          <a:prstGeom prst="roundRect">
            <a:avLst>
              <a:gd name="adj" fmla="val 3571"/>
            </a:avLst>
          </a:prstGeom>
          <a:solidFill>
            <a:schemeClr val="bg2"/>
          </a:solidFill>
          <a:ln w="12700">
            <a:solidFill>
              <a:schemeClr val="bg2"/>
            </a:solidFill>
            <a:prstDash val="solid"/>
          </a:ln>
        </p:spPr>
      </p:sp>
      <p:sp>
        <p:nvSpPr>
          <p:cNvPr id="5" name="Text 2"/>
          <p:cNvSpPr txBox="1"/>
          <p:nvPr/>
        </p:nvSpPr>
        <p:spPr>
          <a:xfrm>
            <a:off x="6309360" y="1417320"/>
            <a:ext cx="2194560" cy="36576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SIMULATED vs MEASURED</a:t>
            </a:r>
            <a:endParaRPr lang="en-US" sz="1200" dirty="0"/>
          </a:p>
        </p:txBody>
      </p:sp>
      <p:sp>
        <p:nvSpPr>
          <p:cNvPr id="6" name="Text 3"/>
          <p:cNvSpPr txBox="1"/>
          <p:nvPr/>
        </p:nvSpPr>
        <p:spPr>
          <a:xfrm>
            <a:off x="6309360" y="1783080"/>
            <a:ext cx="2194560" cy="21031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One pass with a second look on a finer code (digits, clothing: 60,000 images). 20 classes: one pass, no second look. Words: the chip learned in stages and the CNN all at once.</a:t>
            </a:r>
            <a:endParaRPr lang="en-US" sz="1200" dirty="0"/>
          </a:p>
        </p:txBody>
      </p:sp>
      <p:sp>
        <p:nvSpPr>
          <p:cNvPr id="7" name="Text 4"/>
          <p:cNvSpPr txBox="1"/>
          <p:nvPr/>
        </p:nvSpPr>
        <p:spPr>
          <a:xfrm>
            <a:off x="6309360" y="3931920"/>
            <a:ext cx="2194560" cy="548640"/>
          </a:xfrm>
          <a:prstGeom prst="rect">
            <a:avLst/>
          </a:prstGeom>
          <a:noFill/>
          <a:ln/>
        </p:spPr>
        <p:txBody>
          <a:bodyPr wrap="square" lIns="0" tIns="0" rIns="0" bIns="0" rtlCol="0" anchor="t"/>
          <a:lstStyle/>
          <a:p>
            <a:pPr indent="0" marL="0">
              <a:buNone/>
            </a:pPr>
            <a:r>
              <a:rPr lang="en-US" sz="1200" b="1" dirty="0">
                <a:solidFill>
                  <a:schemeClr val="accent4"/>
                </a:solidFill>
                <a:latin typeface="Calibri" pitchFamily="34" charset="0"/>
                <a:ea typeface="Calibri" pitchFamily="34" charset="-122"/>
                <a:cs typeface="Calibri" pitchFamily="34" charset="-120"/>
              </a:rPr>
              <a:t>A trained CNN is still ahead on clothing by 2 points.</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It scales: more data does not break it</a:t>
            </a:r>
            <a:endParaRPr lang="en-US" sz="3000" dirty="0"/>
          </a:p>
        </p:txBody>
      </p:sp>
      <p:graphicFrame>
        <p:nvGraphicFramePr>
          <p:cNvPr id="3" name="Chart 0" descr=""/>
          <p:cNvGraphicFramePr/>
          <p:nvPr/>
        </p:nvGraphicFramePr>
        <p:xfrm>
          <a:off x="457200" y="118872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943600" y="1280160"/>
            <a:ext cx="2743200" cy="329184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6126480" y="1417320"/>
            <a:ext cx="2377440" cy="36576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SIMULATED, 3 seeds</a:t>
            </a:r>
            <a:endParaRPr lang="en-US" sz="1200" dirty="0"/>
          </a:p>
        </p:txBody>
      </p:sp>
      <p:sp>
        <p:nvSpPr>
          <p:cNvPr id="6" name="Text 3"/>
          <p:cNvSpPr txBox="1"/>
          <p:nvPr/>
        </p:nvSpPr>
        <p:spPr>
          <a:xfrm>
            <a:off x="6126480" y="1783080"/>
            <a:ext cx="2377440" cy="21945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We tested 6x more data and found the staged result fell. One fixed rule fixed it: follow the slow table every max(100, stage size / 30) examples. Digits: 93.4 to 95.6 at 60,000 images.</a:t>
            </a:r>
            <a:endParaRPr lang="en-US" sz="1300" dirty="0"/>
          </a:p>
        </p:txBody>
      </p:sp>
      <p:sp>
        <p:nvSpPr>
          <p:cNvPr id="7" name="Text 4"/>
          <p:cNvSpPr txBox="1"/>
          <p:nvPr/>
        </p:nvSpPr>
        <p:spPr>
          <a:xfrm>
            <a:off x="6126480" y="3977640"/>
            <a:ext cx="2377440" cy="54864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One pass barely improves with more data (clothing 86.6 to 87.6).</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It hears, and noise stops hurting as much</a:t>
            </a:r>
            <a:endParaRPr lang="en-US" sz="3000" dirty="0"/>
          </a:p>
        </p:txBody>
      </p:sp>
      <p:graphicFrame>
        <p:nvGraphicFramePr>
          <p:cNvPr id="3" name="Chart 0" descr=""/>
          <p:cNvGraphicFramePr/>
          <p:nvPr/>
        </p:nvGraphicFramePr>
        <p:xfrm>
          <a:off x="457200" y="118872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943600" y="1280160"/>
            <a:ext cx="2743200" cy="329184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6126480" y="1417320"/>
            <a:ext cx="2377440" cy="36576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SIMULATED, 3 seeds</a:t>
            </a:r>
            <a:endParaRPr lang="en-US" sz="1200" dirty="0"/>
          </a:p>
        </p:txBody>
      </p:sp>
      <p:sp>
        <p:nvSpPr>
          <p:cNvPr id="6" name="Text 3"/>
          <p:cNvSpPr txBox="1"/>
          <p:nvPr/>
        </p:nvSpPr>
        <p:spPr>
          <a:xfrm>
            <a:off x="6126480" y="1783080"/>
            <a:ext cx="2377440" cy="21945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Raw sound to word through an integer cochlea, noise floor, word alignment and the same counting table, bit-exact in RTL. Training also on one noisy copy of each clip adds no memory.</a:t>
            </a:r>
            <a:endParaRPr lang="en-US" sz="1300" dirty="0"/>
          </a:p>
        </p:txBody>
      </p:sp>
      <p:sp>
        <p:nvSpPr>
          <p:cNvPr id="7" name="Text 4"/>
          <p:cNvSpPr txBox="1"/>
          <p:nvPr/>
        </p:nvSpPr>
        <p:spPr>
          <a:xfrm>
            <a:off x="6126480" y="3977640"/>
            <a:ext cx="2377440" cy="64008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Sound needs 422 KB: an ASIC or external memory, not the Tang Nano.</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Two senses help each other</a:t>
            </a:r>
            <a:endParaRPr lang="en-US" sz="3000" dirty="0"/>
          </a:p>
        </p:txBody>
      </p:sp>
      <p:graphicFrame>
        <p:nvGraphicFramePr>
          <p:cNvPr id="3" name="Chart 0" descr=""/>
          <p:cNvGraphicFramePr/>
          <p:nvPr/>
        </p:nvGraphicFramePr>
        <p:xfrm>
          <a:off x="457200" y="118872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943600" y="1280160"/>
            <a:ext cx="2743200" cy="329184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6126480" y="1417320"/>
            <a:ext cx="2377440" cy="36576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SIMULATED, 2-3 seeds</a:t>
            </a:r>
            <a:endParaRPr lang="en-US" sz="1200" dirty="0"/>
          </a:p>
        </p:txBody>
      </p:sp>
      <p:sp>
        <p:nvSpPr>
          <p:cNvPr id="6" name="Text 3"/>
          <p:cNvSpPr txBox="1"/>
          <p:nvPr/>
        </p:nvSpPr>
        <p:spPr>
          <a:xfrm>
            <a:off x="6126480" y="1783080"/>
            <a:ext cx="2377440" cy="2377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latin typeface="Calibri" pitchFamily="34" charset="0"/>
                <a:ea typeface="Calibri" pitchFamily="34" charset="-122"/>
                <a:cs typeface="Calibri" pitchFamily="34" charset="-120"/>
              </a:rPr>
              <a:t>The ear names pictures with no picture labels: 93.9 after sleep cleaning</a:t>
            </a:r>
            <a:endParaRPr lang="en-US" sz="1200" dirty="0"/>
          </a:p>
          <a:p>
            <a:pPr marL="342900" indent="-342900">
              <a:spcAft>
                <a:spcPts val="500"/>
              </a:spcAft>
              <a:buSzPct val="100000"/>
              <a:buChar char="•"/>
            </a:pPr>
            <a:r>
              <a:rPr lang="en-US" sz="1200" dirty="0">
                <a:solidFill>
                  <a:schemeClr val="tx1"/>
                </a:solidFill>
                <a:latin typeface="Calibri" pitchFamily="34" charset="0"/>
                <a:ea typeface="Calibri" pitchFamily="34" charset="-122"/>
                <a:cs typeface="Calibri" pitchFamily="34" charset="-120"/>
              </a:rPr>
              <a:t>Groups form with no labels: 96.1 to 97.0 with 30 names</a:t>
            </a:r>
            <a:endParaRPr lang="en-US" sz="1200" dirty="0"/>
          </a:p>
          <a:p>
            <a:pPr marL="342900" indent="-342900">
              <a:buSzPct val="100000"/>
              <a:buChar char="•"/>
            </a:pPr>
            <a:r>
              <a:rPr lang="en-US" sz="1200" dirty="0">
                <a:solidFill>
                  <a:schemeClr val="tx1"/>
                </a:solidFill>
                <a:latin typeface="Calibri" pitchFamily="34" charset="0"/>
                <a:ea typeface="Calibri" pitchFamily="34" charset="-122"/>
                <a:cs typeface="Calibri" pitchFamily="34" charset="-120"/>
              </a:rPr>
              <a:t>New classes noticed from inside: 99% of flagged pairs are new</a:t>
            </a:r>
            <a:endParaRPr lang="en-US" sz="1200" dirty="0"/>
          </a:p>
        </p:txBody>
      </p:sp>
      <p:sp>
        <p:nvSpPr>
          <p:cNvPr id="7" name="Text 4"/>
          <p:cNvSpPr txBox="1"/>
          <p:nvPr/>
        </p:nvSpPr>
        <p:spPr>
          <a:xfrm>
            <a:off x="6126480" y="3977640"/>
            <a:ext cx="2377440" cy="54864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Pictures and sounds are paired by class, not real recordings of one scene.</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 new class from one example, after shipping</a:t>
            </a:r>
            <a:endParaRPr lang="en-US" sz="3000" dirty="0"/>
          </a:p>
        </p:txBody>
      </p:sp>
      <p:graphicFrame>
        <p:nvGraphicFramePr>
          <p:cNvPr id="3" name="Chart 0" descr=""/>
          <p:cNvGraphicFramePr/>
          <p:nvPr/>
        </p:nvGraphicFramePr>
        <p:xfrm>
          <a:off x="457200" y="118872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943600" y="1280160"/>
            <a:ext cx="2743200" cy="329184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6126480" y="1417320"/>
            <a:ext cx="2377440" cy="36576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SIMULATED, in RTL</a:t>
            </a:r>
            <a:endParaRPr lang="en-US" sz="1200" dirty="0"/>
          </a:p>
        </p:txBody>
      </p:sp>
      <p:sp>
        <p:nvSpPr>
          <p:cNvPr id="6" name="Text 3"/>
          <p:cNvSpPr txBox="1"/>
          <p:nvPr/>
        </p:nvSpPr>
        <p:spPr>
          <a:xfrm>
            <a:off x="6126480" y="1783080"/>
            <a:ext cx="2377440" cy="1828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 novelty-gated imprint writes the new class into the table at once, then a short sleep blends it in. Old classes stay within 1 to 5 points.</a:t>
            </a:r>
            <a:endParaRPr lang="en-US" sz="1300" dirty="0"/>
          </a:p>
        </p:txBody>
      </p:sp>
      <p:sp>
        <p:nvSpPr>
          <p:cNvPr id="7" name="Text 4"/>
          <p:cNvSpPr txBox="1"/>
          <p:nvPr/>
        </p:nvSpPr>
        <p:spPr>
          <a:xfrm>
            <a:off x="6126480" y="3749040"/>
            <a:ext cx="2377440" cy="731520"/>
          </a:xfrm>
          <a:prstGeom prst="rect">
            <a:avLst/>
          </a:prstGeom>
          <a:noFill/>
          <a:ln/>
        </p:spPr>
        <p:txBody>
          <a:bodyPr wrap="square" lIns="0" tIns="0" rIns="0" bIns="0" rtlCol="0" anchor="t"/>
          <a:lstStyle/>
          <a:p>
            <a:pPr indent="0" marL="0">
              <a:buNone/>
            </a:pPr>
            <a:r>
              <a:rPr lang="en-US" sz="1300" b="1" dirty="0">
                <a:solidFill>
                  <a:schemeClr val="accent4"/>
                </a:solidFill>
                <a:latin typeface="Calibri" pitchFamily="34" charset="0"/>
                <a:ea typeface="Calibri" pitchFamily="34" charset="-122"/>
                <a:cs typeface="Calibri" pitchFamily="34" charset="-120"/>
              </a:rPr>
              <a:t>Spoken words from 1 to 5 recordings stay weak.</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Two chips can share what they learned</a:t>
            </a:r>
            <a:endParaRPr lang="en-US" sz="3000" dirty="0"/>
          </a:p>
        </p:txBody>
      </p:sp>
      <p:graphicFrame>
        <p:nvGraphicFramePr>
          <p:cNvPr id="3" name="Chart 0" descr=""/>
          <p:cNvGraphicFramePr/>
          <p:nvPr/>
        </p:nvGraphicFramePr>
        <p:xfrm>
          <a:off x="457200" y="118872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943600" y="1280160"/>
            <a:ext cx="2743200" cy="329184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6126480" y="1417320"/>
            <a:ext cx="2377440" cy="36576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SIMULATED, 3 seeds</a:t>
            </a:r>
            <a:endParaRPr lang="en-US" sz="1200" dirty="0"/>
          </a:p>
        </p:txBody>
      </p:sp>
      <p:sp>
        <p:nvSpPr>
          <p:cNvPr id="6" name="Text 3"/>
          <p:cNvSpPr txBox="1"/>
          <p:nvPr/>
        </p:nvSpPr>
        <p:spPr>
          <a:xfrm>
            <a:off x="6126480" y="1783080"/>
            <a:ext cx="2377440" cy="26517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One chip works alone; this is an option. Because memory is counts, two chips that learned different classes merge by adding counters, with no retraining. A trained network cannot merge this way. The board demo design reached 91.4% on all ten digits after one night (PC-side emulator).</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Small, cheap, and no multiplier</a:t>
            </a:r>
            <a:endParaRPr lang="en-US" sz="3000" dirty="0"/>
          </a:p>
        </p:txBody>
      </p:sp>
      <p:sp>
        <p:nvSpPr>
          <p:cNvPr id="3" name="card"/>
          <p:cNvSpPr/>
          <p:nvPr/>
        </p:nvSpPr>
        <p:spPr>
          <a:xfrm>
            <a:off x="457200" y="1188720"/>
            <a:ext cx="4023360" cy="1554480"/>
          </a:xfrm>
          <a:prstGeom prst="roundRect">
            <a:avLst>
              <a:gd name="adj" fmla="val 5882"/>
            </a:avLst>
          </a:prstGeom>
          <a:solidFill>
            <a:schemeClr val="bg2"/>
          </a:solidFill>
          <a:ln w="12700">
            <a:solidFill>
              <a:schemeClr val="bg2"/>
            </a:solidFill>
            <a:prstDash val="solid"/>
          </a:ln>
        </p:spPr>
      </p:sp>
      <p:sp>
        <p:nvSpPr>
          <p:cNvPr id="4" name="Text 2"/>
          <p:cNvSpPr txBox="1"/>
          <p:nvPr/>
        </p:nvSpPr>
        <p:spPr>
          <a:xfrm>
            <a:off x="640080" y="1298448"/>
            <a:ext cx="3657600" cy="64008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84 KB</a:t>
            </a:r>
            <a:endParaRPr lang="en-US" sz="3400" dirty="0"/>
          </a:p>
        </p:txBody>
      </p:sp>
      <p:sp>
        <p:nvSpPr>
          <p:cNvPr id="5" name="Text 3"/>
          <p:cNvSpPr txBox="1"/>
          <p:nvPr/>
        </p:nvSpPr>
        <p:spPr>
          <a:xfrm>
            <a:off x="640080" y="1938528"/>
            <a:ext cx="365760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memory for images (second look: about 2.8x)</a:t>
            </a:r>
            <a:endParaRPr lang="en-US" sz="1300" dirty="0"/>
          </a:p>
        </p:txBody>
      </p:sp>
      <p:sp>
        <p:nvSpPr>
          <p:cNvPr id="6" name="Text 4"/>
          <p:cNvSpPr txBox="1"/>
          <p:nvPr/>
        </p:nvSpPr>
        <p:spPr>
          <a:xfrm>
            <a:off x="640080" y="2450592"/>
            <a:ext cx="3657600" cy="36576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design fact</a:t>
            </a:r>
            <a:endParaRPr lang="en-US" sz="1100" dirty="0"/>
          </a:p>
        </p:txBody>
      </p:sp>
      <p:sp>
        <p:nvSpPr>
          <p:cNvPr id="7" name="card"/>
          <p:cNvSpPr/>
          <p:nvPr/>
        </p:nvSpPr>
        <p:spPr>
          <a:xfrm>
            <a:off x="4663440" y="1188720"/>
            <a:ext cx="4023360" cy="1554480"/>
          </a:xfrm>
          <a:prstGeom prst="roundRect">
            <a:avLst>
              <a:gd name="adj" fmla="val 5882"/>
            </a:avLst>
          </a:prstGeom>
          <a:solidFill>
            <a:schemeClr val="bg2"/>
          </a:solidFill>
          <a:ln w="12700">
            <a:solidFill>
              <a:schemeClr val="bg2"/>
            </a:solidFill>
            <a:prstDash val="solid"/>
          </a:ln>
        </p:spPr>
      </p:sp>
      <p:sp>
        <p:nvSpPr>
          <p:cNvPr id="8" name="Text 6"/>
          <p:cNvSpPr txBox="1"/>
          <p:nvPr/>
        </p:nvSpPr>
        <p:spPr>
          <a:xfrm>
            <a:off x="4846320" y="1298448"/>
            <a:ext cx="3657600" cy="64008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0</a:t>
            </a:r>
            <a:endParaRPr lang="en-US" sz="3400" dirty="0"/>
          </a:p>
        </p:txBody>
      </p:sp>
      <p:sp>
        <p:nvSpPr>
          <p:cNvPr id="9" name="Text 7"/>
          <p:cNvSpPr txBox="1"/>
          <p:nvPr/>
        </p:nvSpPr>
        <p:spPr>
          <a:xfrm>
            <a:off x="4846320" y="1938528"/>
            <a:ext cx="365760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hardware multipliers on the $25 Tang Nano 20K (89% logic, 46/46 block RAM)</a:t>
            </a:r>
            <a:endParaRPr lang="en-US" sz="1300" dirty="0"/>
          </a:p>
        </p:txBody>
      </p:sp>
      <p:sp>
        <p:nvSpPr>
          <p:cNvPr id="10" name="Text 8"/>
          <p:cNvSpPr txBox="1"/>
          <p:nvPr/>
        </p:nvSpPr>
        <p:spPr>
          <a:xfrm>
            <a:off x="4846320" y="2450592"/>
            <a:ext cx="3657600" cy="36576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SIMULATED, place and route</a:t>
            </a:r>
            <a:endParaRPr lang="en-US" sz="1100" dirty="0"/>
          </a:p>
        </p:txBody>
      </p:sp>
      <p:sp>
        <p:nvSpPr>
          <p:cNvPr id="11" name="card"/>
          <p:cNvSpPr/>
          <p:nvPr/>
        </p:nvSpPr>
        <p:spPr>
          <a:xfrm>
            <a:off x="457200" y="2880360"/>
            <a:ext cx="4023360" cy="1554480"/>
          </a:xfrm>
          <a:prstGeom prst="roundRect">
            <a:avLst>
              <a:gd name="adj" fmla="val 5882"/>
            </a:avLst>
          </a:prstGeom>
          <a:solidFill>
            <a:schemeClr val="bg2"/>
          </a:solidFill>
          <a:ln w="12700">
            <a:solidFill>
              <a:schemeClr val="bg2"/>
            </a:solidFill>
            <a:prstDash val="solid"/>
          </a:ln>
        </p:spPr>
      </p:sp>
      <p:sp>
        <p:nvSpPr>
          <p:cNvPr id="12" name="Text 10"/>
          <p:cNvSpPr txBox="1"/>
          <p:nvPr/>
        </p:nvSpPr>
        <p:spPr>
          <a:xfrm>
            <a:off x="640080" y="2990088"/>
            <a:ext cx="3657600" cy="64008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~74x</a:t>
            </a:r>
            <a:endParaRPr lang="en-US" sz="3400" dirty="0"/>
          </a:p>
        </p:txBody>
      </p:sp>
      <p:sp>
        <p:nvSpPr>
          <p:cNvPr id="13" name="Text 11"/>
          <p:cNvSpPr txBox="1"/>
          <p:nvPr/>
        </p:nvSpPr>
        <p:spPr>
          <a:xfrm>
            <a:off x="640080" y="3630168"/>
            <a:ext cx="365760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less energy per decision than an 8-bit network, counting the operations needed (9.4 nJ vs 696 nJ)</a:t>
            </a:r>
            <a:endParaRPr lang="en-US" sz="1300" dirty="0"/>
          </a:p>
        </p:txBody>
      </p:sp>
      <p:sp>
        <p:nvSpPr>
          <p:cNvPr id="14" name="Text 12"/>
          <p:cNvSpPr txBox="1"/>
          <p:nvPr/>
        </p:nvSpPr>
        <p:spPr>
          <a:xfrm>
            <a:off x="640080" y="4142232"/>
            <a:ext cx="3657600" cy="36576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ESTIMATED</a:t>
            </a:r>
            <a:endParaRPr lang="en-US" sz="1100" dirty="0"/>
          </a:p>
        </p:txBody>
      </p:sp>
      <p:sp>
        <p:nvSpPr>
          <p:cNvPr id="15" name="card"/>
          <p:cNvSpPr/>
          <p:nvPr/>
        </p:nvSpPr>
        <p:spPr>
          <a:xfrm>
            <a:off x="4663440" y="2880360"/>
            <a:ext cx="4023360" cy="1554480"/>
          </a:xfrm>
          <a:prstGeom prst="roundRect">
            <a:avLst>
              <a:gd name="adj" fmla="val 5882"/>
            </a:avLst>
          </a:prstGeom>
          <a:solidFill>
            <a:schemeClr val="bg2"/>
          </a:solidFill>
          <a:ln w="12700">
            <a:solidFill>
              <a:schemeClr val="bg2"/>
            </a:solidFill>
            <a:prstDash val="solid"/>
          </a:ln>
        </p:spPr>
      </p:sp>
      <p:sp>
        <p:nvSpPr>
          <p:cNvPr id="16" name="Text 14"/>
          <p:cNvSpPr txBox="1"/>
          <p:nvPr/>
        </p:nvSpPr>
        <p:spPr>
          <a:xfrm>
            <a:off x="4846320" y="2990088"/>
            <a:ext cx="3657600" cy="64008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422 KB</a:t>
            </a:r>
            <a:endParaRPr lang="en-US" sz="3400" dirty="0"/>
          </a:p>
        </p:txBody>
      </p:sp>
      <p:sp>
        <p:nvSpPr>
          <p:cNvPr id="17" name="Text 15"/>
          <p:cNvSpPr txBox="1"/>
          <p:nvPr/>
        </p:nvSpPr>
        <p:spPr>
          <a:xfrm>
            <a:off x="4846320" y="3630168"/>
            <a:ext cx="365760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sound memory: needs external memory or an ASIC</a:t>
            </a:r>
            <a:endParaRPr lang="en-US" sz="1300" dirty="0"/>
          </a:p>
        </p:txBody>
      </p:sp>
      <p:sp>
        <p:nvSpPr>
          <p:cNvPr id="18" name="Text 16"/>
          <p:cNvSpPr txBox="1"/>
          <p:nvPr/>
        </p:nvSpPr>
        <p:spPr>
          <a:xfrm>
            <a:off x="4846320" y="4142232"/>
            <a:ext cx="3657600" cy="36576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design fact</a:t>
            </a:r>
            <a:endParaRPr lang="en-US" sz="1100" dirty="0"/>
          </a:p>
        </p:txBody>
      </p:sp>
      <p:sp>
        <p:nvSpPr>
          <p:cNvPr id="19" name="Text 17"/>
          <p:cNvSpPr txBox="1"/>
          <p:nvPr/>
        </p:nvSpPr>
        <p:spPr>
          <a:xfrm>
            <a:off x="457200" y="4526280"/>
            <a:ext cx="7955280" cy="41148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Say it carefully: the 74x is per operation needed. The SKY130 layout estimate is 0.18 to 0.26 uJ per decision, 20 to 28x above the operation count.</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Why this is an embedded system</a:t>
            </a:r>
            <a:endParaRPr lang="en-US" sz="3000" dirty="0"/>
          </a:p>
        </p:txBody>
      </p:sp>
      <p:sp>
        <p:nvSpPr>
          <p:cNvPr id="3" name="card"/>
          <p:cNvSpPr/>
          <p:nvPr/>
        </p:nvSpPr>
        <p:spPr>
          <a:xfrm>
            <a:off x="457200" y="1188720"/>
            <a:ext cx="2651760" cy="2743200"/>
          </a:xfrm>
          <a:prstGeom prst="roundRect">
            <a:avLst>
              <a:gd name="adj" fmla="val 3448"/>
            </a:avLst>
          </a:prstGeom>
          <a:solidFill>
            <a:schemeClr val="bg2"/>
          </a:solidFill>
          <a:ln w="12700">
            <a:solidFill>
              <a:schemeClr val="bg2"/>
            </a:solidFill>
            <a:prstDash val="solid"/>
          </a:ln>
        </p:spPr>
      </p:sp>
      <p:sp>
        <p:nvSpPr>
          <p:cNvPr id="4" name="Text 2"/>
          <p:cNvSpPr txBox="1"/>
          <p:nvPr/>
        </p:nvSpPr>
        <p:spPr>
          <a:xfrm>
            <a:off x="594360" y="1280160"/>
            <a:ext cx="2377440" cy="457200"/>
          </a:xfrm>
          <a:prstGeom prst="rect">
            <a:avLst/>
          </a:prstGeom>
          <a:noFill/>
          <a:ln/>
        </p:spPr>
        <p:txBody>
          <a:bodyPr wrap="square" lIns="0" tIns="0" rIns="0" bIns="0" rtlCol="0" anchor="t"/>
          <a:lstStyle/>
          <a:p>
            <a:pPr indent="0" marL="0">
              <a:buNone/>
            </a:pPr>
            <a:r>
              <a:rPr lang="en-US" sz="1400" b="1" dirty="0">
                <a:solidFill>
                  <a:schemeClr val="accent3"/>
                </a:solidFill>
                <a:latin typeface="Cambria" pitchFamily="34" charset="0"/>
                <a:ea typeface="Cambria" pitchFamily="34" charset="-122"/>
                <a:cs typeface="Cambria" pitchFamily="34" charset="-120"/>
              </a:rPr>
              <a:t>Built for tight limits</a:t>
            </a:r>
            <a:endParaRPr lang="en-US" sz="1400" dirty="0"/>
          </a:p>
        </p:txBody>
      </p:sp>
      <p:sp>
        <p:nvSpPr>
          <p:cNvPr id="5" name="Text 3"/>
          <p:cNvSpPr txBox="1"/>
          <p:nvPr/>
        </p:nvSpPr>
        <p:spPr>
          <a:xfrm>
            <a:off x="594360" y="1783080"/>
            <a:ext cx="2377440" cy="21031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chemeClr val="tx1"/>
                </a:solidFill>
                <a:latin typeface="Calibri" pitchFamily="34" charset="0"/>
                <a:ea typeface="Calibri" pitchFamily="34" charset="-122"/>
                <a:cs typeface="Calibri" pitchFamily="34" charset="-120"/>
              </a:rPr>
              <a:t>84 KB of memory for images</a:t>
            </a:r>
            <a:endParaRPr lang="en-US" sz="1100" dirty="0"/>
          </a:p>
          <a:p>
            <a:pPr marL="342900" indent="-342900">
              <a:spcAft>
                <a:spcPts val="600"/>
              </a:spcAft>
              <a:buSzPct val="100000"/>
              <a:buChar char="•"/>
            </a:pPr>
            <a:r>
              <a:rPr lang="en-US" sz="1100" dirty="0">
                <a:solidFill>
                  <a:schemeClr val="tx1"/>
                </a:solidFill>
                <a:latin typeface="Calibri" pitchFamily="34" charset="0"/>
                <a:ea typeface="Calibri" pitchFamily="34" charset="-122"/>
                <a:cs typeface="Calibri" pitchFamily="34" charset="-120"/>
              </a:rPr>
              <a:t>No multiplier: counts, compares, shifts</a:t>
            </a:r>
            <a:endParaRPr lang="en-US" sz="1100" dirty="0"/>
          </a:p>
          <a:p>
            <a:pPr marL="342900" indent="-342900">
              <a:spcAft>
                <a:spcPts val="600"/>
              </a:spcAft>
              <a:buSzPct val="100000"/>
              <a:buChar char="•"/>
            </a:pPr>
            <a:r>
              <a:rPr lang="en-US" sz="1100" dirty="0">
                <a:solidFill>
                  <a:schemeClr val="tx1"/>
                </a:solidFill>
                <a:latin typeface="Calibri" pitchFamily="34" charset="0"/>
                <a:ea typeface="Calibri" pitchFamily="34" charset="-122"/>
                <a:cs typeface="Calibri" pitchFamily="34" charset="-120"/>
              </a:rPr>
              <a:t>Fits a Rs 4,000 FPGA (89% logic, 0 multipliers, SIMULATED place and route)</a:t>
            </a:r>
            <a:endParaRPr lang="en-US" sz="1100" dirty="0"/>
          </a:p>
        </p:txBody>
      </p:sp>
      <p:sp>
        <p:nvSpPr>
          <p:cNvPr id="6" name="card"/>
          <p:cNvSpPr/>
          <p:nvPr/>
        </p:nvSpPr>
        <p:spPr>
          <a:xfrm>
            <a:off x="3246120" y="1188720"/>
            <a:ext cx="2651760" cy="2743200"/>
          </a:xfrm>
          <a:prstGeom prst="roundRect">
            <a:avLst>
              <a:gd name="adj" fmla="val 3448"/>
            </a:avLst>
          </a:prstGeom>
          <a:solidFill>
            <a:schemeClr val="bg2"/>
          </a:solidFill>
          <a:ln w="12700">
            <a:solidFill>
              <a:schemeClr val="bg2"/>
            </a:solidFill>
            <a:prstDash val="solid"/>
          </a:ln>
        </p:spPr>
      </p:sp>
      <p:sp>
        <p:nvSpPr>
          <p:cNvPr id="7" name="Text 5"/>
          <p:cNvSpPr txBox="1"/>
          <p:nvPr/>
        </p:nvSpPr>
        <p:spPr>
          <a:xfrm>
            <a:off x="3383280" y="1280160"/>
            <a:ext cx="2377440" cy="457200"/>
          </a:xfrm>
          <a:prstGeom prst="rect">
            <a:avLst/>
          </a:prstGeom>
          <a:noFill/>
          <a:ln/>
        </p:spPr>
        <p:txBody>
          <a:bodyPr wrap="square" lIns="0" tIns="0" rIns="0" bIns="0" rtlCol="0" anchor="t"/>
          <a:lstStyle/>
          <a:p>
            <a:pPr indent="0" marL="0">
              <a:buNone/>
            </a:pPr>
            <a:r>
              <a:rPr lang="en-US" sz="1400" b="1" dirty="0">
                <a:solidFill>
                  <a:schemeClr val="accent2"/>
                </a:solidFill>
                <a:latin typeface="Cambria" pitchFamily="34" charset="0"/>
                <a:ea typeface="Cambria" pitchFamily="34" charset="-122"/>
                <a:cs typeface="Cambria" pitchFamily="34" charset="-120"/>
              </a:rPr>
              <a:t>Real device interfaces</a:t>
            </a:r>
            <a:endParaRPr lang="en-US" sz="1400" dirty="0"/>
          </a:p>
        </p:txBody>
      </p:sp>
      <p:sp>
        <p:nvSpPr>
          <p:cNvPr id="8" name="Text 6"/>
          <p:cNvSpPr txBox="1"/>
          <p:nvPr/>
        </p:nvSpPr>
        <p:spPr>
          <a:xfrm>
            <a:off x="3383280" y="1783080"/>
            <a:ext cx="2377440" cy="21031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chemeClr val="tx1"/>
                </a:solidFill>
                <a:latin typeface="Calibri" pitchFamily="34" charset="0"/>
                <a:ea typeface="Calibri" pitchFamily="34" charset="-122"/>
                <a:cs typeface="Calibri" pitchFamily="34" charset="-120"/>
              </a:rPr>
              <a:t>Camera-style 28x28 picture and 16 kHz microphone samples, encoded on the chip</a:t>
            </a:r>
            <a:endParaRPr lang="en-US" sz="1100" dirty="0"/>
          </a:p>
          <a:p>
            <a:pPr marL="342900" indent="-342900">
              <a:spcAft>
                <a:spcPts val="600"/>
              </a:spcAft>
              <a:buSzPct val="100000"/>
              <a:buChar char="•"/>
            </a:pPr>
            <a:r>
              <a:rPr lang="en-US" sz="1100" dirty="0">
                <a:solidFill>
                  <a:schemeClr val="tx1"/>
                </a:solidFill>
                <a:latin typeface="Calibri" pitchFamily="34" charset="0"/>
                <a:ea typeface="Calibri" pitchFamily="34" charset="-122"/>
                <a:cs typeface="Calibri" pitchFamily="34" charset="-120"/>
              </a:rPr>
              <a:t>UART byte protocol to any microcontroller or PC: learn, dream, predict, read and write memory</a:t>
            </a:r>
            <a:endParaRPr lang="en-US" sz="1100" dirty="0"/>
          </a:p>
          <a:p>
            <a:pPr marL="342900" indent="-342900">
              <a:spcAft>
                <a:spcPts val="600"/>
              </a:spcAft>
              <a:buSzPct val="100000"/>
              <a:buChar char="•"/>
            </a:pPr>
            <a:r>
              <a:rPr lang="en-US" sz="1100" dirty="0">
                <a:solidFill>
                  <a:schemeClr val="tx1"/>
                </a:solidFill>
                <a:latin typeface="Calibri" pitchFamily="34" charset="0"/>
                <a:ea typeface="Calibri" pitchFamily="34" charset="-122"/>
                <a:cs typeface="Calibri" pitchFamily="34" charset="-120"/>
              </a:rPr>
              <a:t>The board's top-level design was simulated end to end: digits recognised from UART bytes</a:t>
            </a:r>
            <a:endParaRPr lang="en-US" sz="1100" dirty="0"/>
          </a:p>
        </p:txBody>
      </p:sp>
      <p:sp>
        <p:nvSpPr>
          <p:cNvPr id="9" name="card"/>
          <p:cNvSpPr/>
          <p:nvPr/>
        </p:nvSpPr>
        <p:spPr>
          <a:xfrm>
            <a:off x="6035040" y="1188720"/>
            <a:ext cx="2651760" cy="2743200"/>
          </a:xfrm>
          <a:prstGeom prst="roundRect">
            <a:avLst>
              <a:gd name="adj" fmla="val 3448"/>
            </a:avLst>
          </a:prstGeom>
          <a:solidFill>
            <a:schemeClr val="bg2"/>
          </a:solidFill>
          <a:ln w="12700">
            <a:solidFill>
              <a:schemeClr val="bg2"/>
            </a:solidFill>
            <a:prstDash val="solid"/>
          </a:ln>
        </p:spPr>
      </p:sp>
      <p:sp>
        <p:nvSpPr>
          <p:cNvPr id="10" name="Text 8"/>
          <p:cNvSpPr txBox="1"/>
          <p:nvPr/>
        </p:nvSpPr>
        <p:spPr>
          <a:xfrm>
            <a:off x="6172200" y="1280160"/>
            <a:ext cx="237744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Behaviour a device needs</a:t>
            </a:r>
            <a:endParaRPr lang="en-US" sz="1400" dirty="0"/>
          </a:p>
        </p:txBody>
      </p:sp>
      <p:sp>
        <p:nvSpPr>
          <p:cNvPr id="11" name="Text 9"/>
          <p:cNvSpPr txBox="1"/>
          <p:nvPr/>
        </p:nvSpPr>
        <p:spPr>
          <a:xfrm>
            <a:off x="6172200" y="1783080"/>
            <a:ext cx="2377440" cy="21031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chemeClr val="tx1"/>
                </a:solidFill>
                <a:latin typeface="Calibri" pitchFamily="34" charset="0"/>
                <a:ea typeface="Calibri" pitchFamily="34" charset="-122"/>
                <a:cs typeface="Calibri" pitchFamily="34" charset="-120"/>
              </a:rPr>
              <a:t>Learns new classes in the field, no server</a:t>
            </a:r>
            <a:endParaRPr lang="en-US" sz="1100" dirty="0"/>
          </a:p>
          <a:p>
            <a:pPr marL="342900" indent="-342900">
              <a:spcAft>
                <a:spcPts val="600"/>
              </a:spcAft>
              <a:buSzPct val="100000"/>
              <a:buChar char="•"/>
            </a:pPr>
            <a:r>
              <a:rPr lang="en-US" sz="1100" dirty="0">
                <a:solidFill>
                  <a:schemeClr val="tx1"/>
                </a:solidFill>
                <a:latin typeface="Calibri" pitchFamily="34" charset="0"/>
                <a:ea typeface="Calibri" pitchFamily="34" charset="-122"/>
                <a:cs typeface="Calibri" pitchFamily="34" charset="-120"/>
              </a:rPr>
              <a:t>Sleeps when idle; the night ends by itself</a:t>
            </a:r>
            <a:endParaRPr lang="en-US" sz="1100" dirty="0"/>
          </a:p>
          <a:p>
            <a:pPr marL="342900" indent="-342900">
              <a:spcAft>
                <a:spcPts val="600"/>
              </a:spcAft>
              <a:buSzPct val="100000"/>
              <a:buChar char="•"/>
            </a:pPr>
            <a:r>
              <a:rPr lang="en-US" sz="1100" dirty="0">
                <a:solidFill>
                  <a:schemeClr val="tx1"/>
                </a:solidFill>
                <a:latin typeface="Calibri" pitchFamily="34" charset="0"/>
                <a:ea typeface="Calibri" pitchFamily="34" charset="-122"/>
                <a:cs typeface="Calibri" pitchFamily="34" charset="-120"/>
              </a:rPr>
              <a:t>Memory moves between devices by adding counts</a:t>
            </a:r>
            <a:endParaRPr lang="en-US" sz="1100" dirty="0"/>
          </a:p>
        </p:txBody>
      </p:sp>
      <p:sp>
        <p:nvSpPr>
          <p:cNvPr id="12" name="card"/>
          <p:cNvSpPr/>
          <p:nvPr/>
        </p:nvSpPr>
        <p:spPr>
          <a:xfrm>
            <a:off x="457200" y="4069080"/>
            <a:ext cx="8229600" cy="548640"/>
          </a:xfrm>
          <a:prstGeom prst="roundRect">
            <a:avLst>
              <a:gd name="adj" fmla="val 16667"/>
            </a:avLst>
          </a:prstGeom>
          <a:solidFill>
            <a:srgbClr val="FFF4DD"/>
          </a:solidFill>
          <a:ln w="12700">
            <a:solidFill>
              <a:srgbClr val="FFF4DD"/>
            </a:solidFill>
            <a:prstDash val="solid"/>
          </a:ln>
        </p:spPr>
      </p:sp>
      <p:sp>
        <p:nvSpPr>
          <p:cNvPr id="13" name="Text 11"/>
          <p:cNvSpPr txBox="1"/>
          <p:nvPr/>
        </p:nvSpPr>
        <p:spPr>
          <a:xfrm>
            <a:off x="594360" y="4160520"/>
            <a:ext cx="7955280" cy="41148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Not measured yet: real power, latency and clock speed. They need the board run. Everything here is a design and simulation result.</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Verified bit for bit, and laid out</a:t>
            </a:r>
            <a:endParaRPr lang="en-US" sz="3000" dirty="0"/>
          </a:p>
        </p:txBody>
      </p:sp>
      <p:sp>
        <p:nvSpPr>
          <p:cNvPr id="3" name="card"/>
          <p:cNvSpPr/>
          <p:nvPr/>
        </p:nvSpPr>
        <p:spPr>
          <a:xfrm>
            <a:off x="457200" y="1280160"/>
            <a:ext cx="4023360" cy="3200400"/>
          </a:xfrm>
          <a:prstGeom prst="roundRect">
            <a:avLst>
              <a:gd name="adj" fmla="val 2857"/>
            </a:avLst>
          </a:prstGeom>
          <a:solidFill>
            <a:schemeClr val="bg2"/>
          </a:solidFill>
          <a:ln w="12700">
            <a:solidFill>
              <a:schemeClr val="bg2"/>
            </a:solidFill>
            <a:prstDash val="solid"/>
          </a:ln>
        </p:spPr>
      </p:sp>
      <p:sp>
        <p:nvSpPr>
          <p:cNvPr id="4" name="Text 2"/>
          <p:cNvSpPr txBox="1"/>
          <p:nvPr/>
        </p:nvSpPr>
        <p:spPr>
          <a:xfrm>
            <a:off x="640080" y="1417320"/>
            <a:ext cx="3657600" cy="914400"/>
          </a:xfrm>
          <a:prstGeom prst="rect">
            <a:avLst/>
          </a:prstGeom>
          <a:noFill/>
          <a:ln/>
        </p:spPr>
        <p:txBody>
          <a:bodyPr wrap="square" lIns="0" tIns="0" rIns="0" bIns="0" rtlCol="0" anchor="t"/>
          <a:lstStyle/>
          <a:p>
            <a:pPr indent="0" marL="0">
              <a:buNone/>
            </a:pPr>
            <a:r>
              <a:rPr lang="en-US" sz="5400" b="1" dirty="0">
                <a:solidFill>
                  <a:schemeClr val="accent3"/>
                </a:solidFill>
                <a:latin typeface="Cambria" pitchFamily="34" charset="0"/>
                <a:ea typeface="Cambria" pitchFamily="34" charset="-122"/>
                <a:cs typeface="Cambria" pitchFamily="34" charset="-120"/>
              </a:rPr>
              <a:t>38 / 38</a:t>
            </a:r>
            <a:endParaRPr lang="en-US" sz="5400" dirty="0"/>
          </a:p>
        </p:txBody>
      </p:sp>
      <p:sp>
        <p:nvSpPr>
          <p:cNvPr id="5" name="Text 3"/>
          <p:cNvSpPr txBox="1"/>
          <p:nvPr/>
        </p:nvSpPr>
        <p:spPr>
          <a:xfrm>
            <a:off x="640080" y="2514600"/>
            <a:ext cx="3657600" cy="17373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RTL checks in one full run, 0 mismatches against the integer model: core, tail memory, IMPRINT, slow table, encoders, cochlea, sound chain, two-sense chip, cue weighting, second look, threshold and novelty units, clustering, board top, host schedule. Newer checks pass on their own: stage and night sequencer, raw senses to a whole stage.</a:t>
            </a:r>
            <a:endParaRPr lang="en-US" sz="1200" dirty="0"/>
          </a:p>
        </p:txBody>
      </p:sp>
      <p:sp>
        <p:nvSpPr>
          <p:cNvPr id="6" name="Text 4"/>
          <p:cNvSpPr txBox="1"/>
          <p:nvPr/>
        </p:nvSpPr>
        <p:spPr>
          <a:xfrm>
            <a:off x="640080" y="4114800"/>
            <a:ext cx="3657600" cy="36576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SIMULATED (RTL simulation)</a:t>
            </a:r>
            <a:endParaRPr lang="en-US" sz="1100" dirty="0"/>
          </a:p>
        </p:txBody>
      </p:sp>
      <p:sp>
        <p:nvSpPr>
          <p:cNvPr id="7" name="card"/>
          <p:cNvSpPr/>
          <p:nvPr/>
        </p:nvSpPr>
        <p:spPr>
          <a:xfrm>
            <a:off x="4663440" y="1280160"/>
            <a:ext cx="4023360" cy="3200400"/>
          </a:xfrm>
          <a:prstGeom prst="roundRect">
            <a:avLst>
              <a:gd name="adj" fmla="val 2857"/>
            </a:avLst>
          </a:prstGeom>
          <a:solidFill>
            <a:schemeClr val="bg2"/>
          </a:solidFill>
          <a:ln w="12700">
            <a:solidFill>
              <a:schemeClr val="bg2"/>
            </a:solidFill>
            <a:prstDash val="solid"/>
          </a:ln>
        </p:spPr>
      </p:sp>
      <p:sp>
        <p:nvSpPr>
          <p:cNvPr id="8" name="Text 6"/>
          <p:cNvSpPr txBox="1"/>
          <p:nvPr/>
        </p:nvSpPr>
        <p:spPr>
          <a:xfrm>
            <a:off x="4846320" y="1417320"/>
            <a:ext cx="365760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a:t>
            </a:r>
            <a:endParaRPr lang="en-US" sz="5400" dirty="0"/>
          </a:p>
        </p:txBody>
      </p:sp>
      <p:sp>
        <p:nvSpPr>
          <p:cNvPr id="9" name="Text 7"/>
          <p:cNvSpPr txBox="1"/>
          <p:nvPr/>
        </p:nvSpPr>
        <p:spPr>
          <a:xfrm>
            <a:off x="4846320" y="2514600"/>
            <a:ext cx="3657600" cy="1645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violation left in detailed routing of the SKY130 layout (from 174,309 on the first pass), a power-versus-signal short at a memory macro edge.</a:t>
            </a:r>
            <a:endParaRPr lang="en-US" sz="1300" dirty="0"/>
          </a:p>
        </p:txBody>
      </p:sp>
      <p:sp>
        <p:nvSpPr>
          <p:cNvPr id="10" name="Text 8"/>
          <p:cNvSpPr txBox="1"/>
          <p:nvPr/>
        </p:nvSpPr>
        <p:spPr>
          <a:xfrm>
            <a:off x="4846320" y="4114800"/>
            <a:ext cx="3657600" cy="36576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ESTIMATED (open-source flow, no sign-off)</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design, so you can verify it</a:t>
            </a:r>
            <a:endParaRPr lang="en-US" sz="3000" dirty="0"/>
          </a:p>
        </p:txBody>
      </p:sp>
      <p:sp>
        <p:nvSpPr>
          <p:cNvPr id="3" name="box"/>
          <p:cNvSpPr/>
          <p:nvPr/>
        </p:nvSpPr>
        <p:spPr>
          <a:xfrm>
            <a:off x="365760" y="1280160"/>
            <a:ext cx="1371600" cy="548640"/>
          </a:xfrm>
          <a:prstGeom prst="roundRect">
            <a:avLst>
              <a:gd name="adj" fmla="val 13333"/>
            </a:avLst>
          </a:prstGeom>
          <a:solidFill>
            <a:srgbClr val="F2A93B"/>
          </a:solidFill>
          <a:ln w="12700">
            <a:solidFill>
              <a:srgbClr val="F2A93B"/>
            </a:solidFill>
            <a:prstDash val="solid"/>
          </a:ln>
        </p:spPr>
      </p:sp>
      <p:sp>
        <p:nvSpPr>
          <p:cNvPr id="4" name="Text 2"/>
          <p:cNvSpPr txBox="1"/>
          <p:nvPr/>
        </p:nvSpPr>
        <p:spPr>
          <a:xfrm>
            <a:off x="438912" y="1325880"/>
            <a:ext cx="1225296" cy="457200"/>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Retina (picture)</a:t>
            </a:r>
            <a:endParaRPr lang="en-US" sz="1100" dirty="0"/>
          </a:p>
        </p:txBody>
      </p:sp>
      <p:sp>
        <p:nvSpPr>
          <p:cNvPr id="5" name="box"/>
          <p:cNvSpPr/>
          <p:nvPr/>
        </p:nvSpPr>
        <p:spPr>
          <a:xfrm>
            <a:off x="365760" y="2011680"/>
            <a:ext cx="1371600" cy="548640"/>
          </a:xfrm>
          <a:prstGeom prst="roundRect">
            <a:avLst>
              <a:gd name="adj" fmla="val 13333"/>
            </a:avLst>
          </a:prstGeom>
          <a:solidFill>
            <a:srgbClr val="F2A93B"/>
          </a:solidFill>
          <a:ln w="12700">
            <a:solidFill>
              <a:srgbClr val="F2A93B"/>
            </a:solidFill>
            <a:prstDash val="solid"/>
          </a:ln>
        </p:spPr>
      </p:sp>
      <p:sp>
        <p:nvSpPr>
          <p:cNvPr id="6" name="Text 4"/>
          <p:cNvSpPr txBox="1"/>
          <p:nvPr/>
        </p:nvSpPr>
        <p:spPr>
          <a:xfrm>
            <a:off x="438912" y="2057400"/>
            <a:ext cx="1225296" cy="457200"/>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Cochlea (sound)</a:t>
            </a:r>
            <a:endParaRPr lang="en-US" sz="1100" dirty="0"/>
          </a:p>
        </p:txBody>
      </p:sp>
      <p:sp>
        <p:nvSpPr>
          <p:cNvPr id="7" name="arrow"/>
          <p:cNvSpPr/>
          <p:nvPr/>
        </p:nvSpPr>
        <p:spPr>
          <a:xfrm>
            <a:off x="1737360" y="1554480"/>
            <a:ext cx="411480" cy="228600"/>
          </a:xfrm>
          <a:prstGeom prst="line">
            <a:avLst/>
          </a:prstGeom>
          <a:noFill/>
          <a:ln w="19050">
            <a:solidFill>
              <a:srgbClr val="6B7280"/>
            </a:solidFill>
            <a:prstDash val="solid"/>
            <a:tailEnd type="triangle"/>
          </a:ln>
        </p:spPr>
      </p:sp>
      <p:sp>
        <p:nvSpPr>
          <p:cNvPr id="8" name="arrow"/>
          <p:cNvSpPr/>
          <p:nvPr/>
        </p:nvSpPr>
        <p:spPr>
          <a:xfrm>
            <a:off x="1737360" y="2286000"/>
            <a:ext cx="411480" cy="-228600"/>
          </a:xfrm>
          <a:prstGeom prst="line">
            <a:avLst/>
          </a:prstGeom>
          <a:noFill/>
          <a:ln w="19050">
            <a:solidFill>
              <a:srgbClr val="6B7280"/>
            </a:solidFill>
            <a:prstDash val="solid"/>
            <a:tailEnd type="triangle"/>
          </a:ln>
        </p:spPr>
      </p:sp>
      <p:sp>
        <p:nvSpPr>
          <p:cNvPr id="9" name="box"/>
          <p:cNvSpPr/>
          <p:nvPr/>
        </p:nvSpPr>
        <p:spPr>
          <a:xfrm>
            <a:off x="2148840" y="1463040"/>
            <a:ext cx="1554480" cy="731520"/>
          </a:xfrm>
          <a:prstGeom prst="roundRect">
            <a:avLst>
              <a:gd name="adj" fmla="val 10000"/>
            </a:avLst>
          </a:prstGeom>
          <a:solidFill>
            <a:srgbClr val="2B3270"/>
          </a:solidFill>
          <a:ln w="12700">
            <a:solidFill>
              <a:srgbClr val="2B3270"/>
            </a:solidFill>
            <a:prstDash val="solid"/>
          </a:ln>
        </p:spPr>
      </p:sp>
      <p:sp>
        <p:nvSpPr>
          <p:cNvPr id="10" name="Text 8"/>
          <p:cNvSpPr txBox="1"/>
          <p:nvPr/>
        </p:nvSpPr>
        <p:spPr>
          <a:xfrm>
            <a:off x="2221992" y="1508760"/>
            <a:ext cx="1408176" cy="64008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Detectors: sparse code, learned without labels</a:t>
            </a:r>
            <a:endParaRPr lang="en-US" sz="1000" dirty="0"/>
          </a:p>
        </p:txBody>
      </p:sp>
      <p:sp>
        <p:nvSpPr>
          <p:cNvPr id="11" name="arrow"/>
          <p:cNvSpPr/>
          <p:nvPr/>
        </p:nvSpPr>
        <p:spPr>
          <a:xfrm>
            <a:off x="3703320" y="1828800"/>
            <a:ext cx="411480" cy="0"/>
          </a:xfrm>
          <a:prstGeom prst="line">
            <a:avLst/>
          </a:prstGeom>
          <a:noFill/>
          <a:ln w="19050">
            <a:solidFill>
              <a:srgbClr val="6B7280"/>
            </a:solidFill>
            <a:prstDash val="solid"/>
            <a:tailEnd type="triangle"/>
          </a:ln>
        </p:spPr>
      </p:sp>
      <p:sp>
        <p:nvSpPr>
          <p:cNvPr id="12" name="box"/>
          <p:cNvSpPr/>
          <p:nvPr/>
        </p:nvSpPr>
        <p:spPr>
          <a:xfrm>
            <a:off x="4114800" y="1188720"/>
            <a:ext cx="2377440" cy="1463040"/>
          </a:xfrm>
          <a:prstGeom prst="roundRect">
            <a:avLst>
              <a:gd name="adj" fmla="val 5000"/>
            </a:avLst>
          </a:prstGeom>
          <a:solidFill>
            <a:srgbClr val="5B6BD6"/>
          </a:solidFill>
          <a:ln w="12700">
            <a:solidFill>
              <a:srgbClr val="5B6BD6"/>
            </a:solidFill>
            <a:prstDash val="solid"/>
          </a:ln>
        </p:spPr>
      </p:sp>
      <p:sp>
        <p:nvSpPr>
          <p:cNvPr id="13" name="Text 11"/>
          <p:cNvSpPr txBox="1"/>
          <p:nvPr/>
        </p:nvSpPr>
        <p:spPr>
          <a:xfrm>
            <a:off x="4187952" y="1234440"/>
            <a:ext cx="2231136" cy="1371600"/>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Core: fast 5-bit table, dream counters (10-bit), slow table; counts, compares, shifts; no multiplier</a:t>
            </a:r>
            <a:endParaRPr lang="en-US" sz="1100" dirty="0"/>
          </a:p>
        </p:txBody>
      </p:sp>
      <p:sp>
        <p:nvSpPr>
          <p:cNvPr id="14" name="arrow"/>
          <p:cNvSpPr/>
          <p:nvPr/>
        </p:nvSpPr>
        <p:spPr>
          <a:xfrm>
            <a:off x="6492240" y="1828800"/>
            <a:ext cx="411480" cy="0"/>
          </a:xfrm>
          <a:prstGeom prst="line">
            <a:avLst/>
          </a:prstGeom>
          <a:noFill/>
          <a:ln w="19050">
            <a:solidFill>
              <a:srgbClr val="6B7280"/>
            </a:solidFill>
            <a:prstDash val="solid"/>
            <a:tailEnd type="triangle"/>
          </a:ln>
        </p:spPr>
      </p:sp>
      <p:sp>
        <p:nvSpPr>
          <p:cNvPr id="15" name="box"/>
          <p:cNvSpPr/>
          <p:nvPr/>
        </p:nvSpPr>
        <p:spPr>
          <a:xfrm>
            <a:off x="6903720" y="1463040"/>
            <a:ext cx="1737360" cy="731520"/>
          </a:xfrm>
          <a:prstGeom prst="roundRect">
            <a:avLst>
              <a:gd name="adj" fmla="val 10000"/>
            </a:avLst>
          </a:prstGeom>
          <a:solidFill>
            <a:srgbClr val="2FA37A"/>
          </a:solidFill>
          <a:ln w="12700">
            <a:solidFill>
              <a:srgbClr val="2FA37A"/>
            </a:solidFill>
            <a:prstDash val="solid"/>
          </a:ln>
        </p:spPr>
      </p:sp>
      <p:sp>
        <p:nvSpPr>
          <p:cNvPr id="16" name="Text 14"/>
          <p:cNvSpPr txBox="1"/>
          <p:nvPr/>
        </p:nvSpPr>
        <p:spPr>
          <a:xfrm>
            <a:off x="6976872" y="1508760"/>
            <a:ext cx="1591056" cy="640080"/>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Decision (XNOR + popcount)</a:t>
            </a:r>
            <a:endParaRPr lang="en-US" sz="1100" dirty="0"/>
          </a:p>
        </p:txBody>
      </p:sp>
      <p:sp>
        <p:nvSpPr>
          <p:cNvPr id="17" name="box"/>
          <p:cNvSpPr/>
          <p:nvPr/>
        </p:nvSpPr>
        <p:spPr>
          <a:xfrm>
            <a:off x="365760" y="2926080"/>
            <a:ext cx="1920240" cy="502920"/>
          </a:xfrm>
          <a:prstGeom prst="roundRect">
            <a:avLst>
              <a:gd name="adj" fmla="val 14545"/>
            </a:avLst>
          </a:prstGeom>
          <a:solidFill>
            <a:schemeClr val="bg2"/>
          </a:solidFill>
          <a:ln w="12700">
            <a:solidFill>
              <a:schemeClr val="bg2"/>
            </a:solidFill>
            <a:prstDash val="solid"/>
          </a:ln>
        </p:spPr>
      </p:sp>
      <p:sp>
        <p:nvSpPr>
          <p:cNvPr id="18" name="Text 16"/>
          <p:cNvSpPr txBox="1"/>
          <p:nvPr/>
        </p:nvSpPr>
        <p:spPr>
          <a:xfrm>
            <a:off x="438912" y="2971800"/>
            <a:ext cx="1773936" cy="411480"/>
          </a:xfrm>
          <a:prstGeom prst="rect">
            <a:avLst/>
          </a:prstGeom>
          <a:noFill/>
          <a:ln/>
        </p:spPr>
        <p:txBody>
          <a:bodyPr wrap="square" lIns="0" tIns="0" rIns="0" bIns="0"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Second look (finer code)</a:t>
            </a:r>
            <a:endParaRPr lang="en-US" sz="1000" dirty="0"/>
          </a:p>
        </p:txBody>
      </p:sp>
      <p:sp>
        <p:nvSpPr>
          <p:cNvPr id="19" name="box"/>
          <p:cNvSpPr/>
          <p:nvPr/>
        </p:nvSpPr>
        <p:spPr>
          <a:xfrm>
            <a:off x="2377440" y="2926080"/>
            <a:ext cx="1920240" cy="502920"/>
          </a:xfrm>
          <a:prstGeom prst="roundRect">
            <a:avLst>
              <a:gd name="adj" fmla="val 14545"/>
            </a:avLst>
          </a:prstGeom>
          <a:solidFill>
            <a:schemeClr val="bg2"/>
          </a:solidFill>
          <a:ln w="12700">
            <a:solidFill>
              <a:schemeClr val="bg2"/>
            </a:solidFill>
            <a:prstDash val="solid"/>
          </a:ln>
        </p:spPr>
      </p:sp>
      <p:sp>
        <p:nvSpPr>
          <p:cNvPr id="20" name="Text 18"/>
          <p:cNvSpPr txBox="1"/>
          <p:nvPr/>
        </p:nvSpPr>
        <p:spPr>
          <a:xfrm>
            <a:off x="2450592" y="2971800"/>
            <a:ext cx="1773936" cy="411480"/>
          </a:xfrm>
          <a:prstGeom prst="rect">
            <a:avLst/>
          </a:prstGeom>
          <a:noFill/>
          <a:ln/>
        </p:spPr>
        <p:txBody>
          <a:bodyPr wrap="square" lIns="0" tIns="0" rIns="0" bIns="0"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Tail memory (sleep)</a:t>
            </a:r>
            <a:endParaRPr lang="en-US" sz="1000" dirty="0"/>
          </a:p>
        </p:txBody>
      </p:sp>
      <p:sp>
        <p:nvSpPr>
          <p:cNvPr id="21" name="box"/>
          <p:cNvSpPr/>
          <p:nvPr/>
        </p:nvSpPr>
        <p:spPr>
          <a:xfrm>
            <a:off x="4389120" y="2926080"/>
            <a:ext cx="1920240" cy="502920"/>
          </a:xfrm>
          <a:prstGeom prst="roundRect">
            <a:avLst>
              <a:gd name="adj" fmla="val 14545"/>
            </a:avLst>
          </a:prstGeom>
          <a:solidFill>
            <a:schemeClr val="bg2"/>
          </a:solidFill>
          <a:ln w="12700">
            <a:solidFill>
              <a:schemeClr val="bg2"/>
            </a:solidFill>
            <a:prstDash val="solid"/>
          </a:ln>
        </p:spPr>
      </p:sp>
      <p:sp>
        <p:nvSpPr>
          <p:cNvPr id="22" name="Text 20"/>
          <p:cNvSpPr txBox="1"/>
          <p:nvPr/>
        </p:nvSpPr>
        <p:spPr>
          <a:xfrm>
            <a:off x="4462272" y="2971800"/>
            <a:ext cx="1773936" cy="411480"/>
          </a:xfrm>
          <a:prstGeom prst="rect">
            <a:avLst/>
          </a:prstGeom>
          <a:noFill/>
          <a:ln/>
        </p:spPr>
        <p:txBody>
          <a:bodyPr wrap="square" lIns="0" tIns="0" rIns="0" bIns="0"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Cue weighting (2 senses)</a:t>
            </a:r>
            <a:endParaRPr lang="en-US" sz="1000" dirty="0"/>
          </a:p>
        </p:txBody>
      </p:sp>
      <p:sp>
        <p:nvSpPr>
          <p:cNvPr id="23" name="box"/>
          <p:cNvSpPr/>
          <p:nvPr/>
        </p:nvSpPr>
        <p:spPr>
          <a:xfrm>
            <a:off x="6400800" y="2926080"/>
            <a:ext cx="2194560" cy="502920"/>
          </a:xfrm>
          <a:prstGeom prst="roundRect">
            <a:avLst>
              <a:gd name="adj" fmla="val 14545"/>
            </a:avLst>
          </a:prstGeom>
          <a:solidFill>
            <a:schemeClr val="bg2"/>
          </a:solidFill>
          <a:ln w="12700">
            <a:solidFill>
              <a:schemeClr val="bg2"/>
            </a:solidFill>
            <a:prstDash val="solid"/>
          </a:ln>
        </p:spPr>
      </p:sp>
      <p:sp>
        <p:nvSpPr>
          <p:cNvPr id="24" name="Text 22"/>
          <p:cNvSpPr txBox="1"/>
          <p:nvPr/>
        </p:nvSpPr>
        <p:spPr>
          <a:xfrm>
            <a:off x="6473952" y="2971800"/>
            <a:ext cx="2048256" cy="411480"/>
          </a:xfrm>
          <a:prstGeom prst="rect">
            <a:avLst/>
          </a:prstGeom>
          <a:noFill/>
          <a:ln/>
        </p:spPr>
        <p:txBody>
          <a:bodyPr wrap="square" lIns="0" tIns="0" rIns="0" bIns="0"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Thresholds, novelty, grouping</a:t>
            </a:r>
            <a:endParaRPr lang="en-US" sz="1000" dirty="0"/>
          </a:p>
        </p:txBody>
      </p:sp>
      <p:sp>
        <p:nvSpPr>
          <p:cNvPr id="25" name="Text 23"/>
          <p:cNvSpPr txBox="1"/>
          <p:nvPr/>
        </p:nvSpPr>
        <p:spPr>
          <a:xfrm>
            <a:off x="365760" y="2697480"/>
            <a:ext cx="8229600" cy="365760"/>
          </a:xfrm>
          <a:prstGeom prst="rect">
            <a:avLst/>
          </a:prstGeom>
          <a:noFill/>
          <a:ln/>
        </p:spPr>
        <p:txBody>
          <a:bodyPr wrap="square" lIns="0" tIns="0" rIns="0" bIns="0" rtlCol="0" anchor="t"/>
          <a:lstStyle/>
          <a:p>
            <a:pPr indent="0" marL="0">
              <a:buNone/>
            </a:pPr>
            <a:r>
              <a:rPr lang="en-US" sz="1000" dirty="0">
                <a:solidFill>
                  <a:schemeClr val="accent6"/>
                </a:solidFill>
                <a:latin typeface="Calibri" pitchFamily="34" charset="0"/>
                <a:ea typeface="Calibri" pitchFamily="34" charset="-122"/>
                <a:cs typeface="Calibri" pitchFamily="34" charset="-120"/>
              </a:rPr>
              <a:t>On-chip units added after the core, each checked bit for bit</a:t>
            </a:r>
            <a:endParaRPr lang="en-US" sz="1000" dirty="0"/>
          </a:p>
        </p:txBody>
      </p:sp>
      <p:sp>
        <p:nvSpPr>
          <p:cNvPr id="26" name="card"/>
          <p:cNvSpPr/>
          <p:nvPr/>
        </p:nvSpPr>
        <p:spPr>
          <a:xfrm>
            <a:off x="365760" y="3611880"/>
            <a:ext cx="8321040" cy="914400"/>
          </a:xfrm>
          <a:prstGeom prst="roundRect">
            <a:avLst>
              <a:gd name="adj" fmla="val 10000"/>
            </a:avLst>
          </a:prstGeom>
          <a:solidFill>
            <a:schemeClr val="bg2"/>
          </a:solidFill>
          <a:ln w="12700">
            <a:solidFill>
              <a:schemeClr val="bg2"/>
            </a:solidFill>
            <a:prstDash val="solid"/>
          </a:ln>
        </p:spPr>
      </p:sp>
      <p:sp>
        <p:nvSpPr>
          <p:cNvPr id="27" name="Text 25"/>
          <p:cNvSpPr txBox="1"/>
          <p:nvPr/>
        </p:nvSpPr>
        <p:spPr>
          <a:xfrm>
            <a:off x="502920" y="3703320"/>
            <a:ext cx="8046720" cy="77724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Verify: every unit has a Verilog file, a testbench and a script that compares the RTL with the integer model (0 mismatches). One command, sh hw/run_all_checks.sh, reruns all checks. The repository and all logs are available to reviewers on request. Everything shown is SIMULATED; nothing is measured on hardware yet.</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What L solves, and what it does not</a:t>
            </a:r>
            <a:endParaRPr lang="en-US" sz="3000" dirty="0"/>
          </a:p>
        </p:txBody>
      </p:sp>
      <p:sp>
        <p:nvSpPr>
          <p:cNvPr id="3" name="card"/>
          <p:cNvSpPr/>
          <p:nvPr/>
        </p:nvSpPr>
        <p:spPr>
          <a:xfrm>
            <a:off x="457200" y="1280160"/>
            <a:ext cx="4023360" cy="3291840"/>
          </a:xfrm>
          <a:prstGeom prst="roundRect">
            <a:avLst>
              <a:gd name="adj" fmla="val 2778"/>
            </a:avLst>
          </a:prstGeom>
          <a:solidFill>
            <a:schemeClr val="bg2"/>
          </a:solidFill>
          <a:ln w="12700">
            <a:solidFill>
              <a:schemeClr val="bg2"/>
            </a:solidFill>
            <a:prstDash val="solid"/>
          </a:ln>
        </p:spPr>
      </p:sp>
      <p:sp>
        <p:nvSpPr>
          <p:cNvPr id="4" name="card"/>
          <p:cNvSpPr/>
          <p:nvPr/>
        </p:nvSpPr>
        <p:spPr>
          <a:xfrm>
            <a:off x="4663440" y="1280160"/>
            <a:ext cx="4023360" cy="3291840"/>
          </a:xfrm>
          <a:prstGeom prst="roundRect">
            <a:avLst>
              <a:gd name="adj" fmla="val 2778"/>
            </a:avLst>
          </a:prstGeom>
          <a:solidFill>
            <a:schemeClr val="bg2"/>
          </a:solidFill>
          <a:ln w="12700">
            <a:solidFill>
              <a:schemeClr val="bg2"/>
            </a:solidFill>
            <a:prstDash val="solid"/>
          </a:ln>
        </p:spPr>
      </p:sp>
      <p:sp>
        <p:nvSpPr>
          <p:cNvPr id="5" name="Text 3"/>
          <p:cNvSpPr txBox="1"/>
          <p:nvPr/>
        </p:nvSpPr>
        <p:spPr>
          <a:xfrm>
            <a:off x="640080" y="1417320"/>
            <a:ext cx="3657600" cy="365760"/>
          </a:xfrm>
          <a:prstGeom prst="rect">
            <a:avLst/>
          </a:prstGeom>
          <a:noFill/>
          <a:ln/>
        </p:spPr>
        <p:txBody>
          <a:bodyPr wrap="square" lIns="0" tIns="0" rIns="0" bIns="0" rtlCol="0" anchor="t"/>
          <a:lstStyle/>
          <a:p>
            <a:pPr indent="0" marL="0">
              <a:buNone/>
            </a:pPr>
            <a:r>
              <a:rPr lang="en-US" sz="2000" b="1" dirty="0">
                <a:solidFill>
                  <a:schemeClr val="accent3"/>
                </a:solidFill>
                <a:latin typeface="Cambria" pitchFamily="34" charset="0"/>
                <a:ea typeface="Cambria" pitchFamily="34" charset="-122"/>
                <a:cs typeface="Cambria" pitchFamily="34" charset="-120"/>
              </a:rPr>
              <a:t>What L solves</a:t>
            </a:r>
            <a:endParaRPr lang="en-US" sz="2000" dirty="0"/>
          </a:p>
        </p:txBody>
      </p:sp>
      <p:sp>
        <p:nvSpPr>
          <p:cNvPr id="6" name="Text 4"/>
          <p:cNvSpPr txBox="1"/>
          <p:nvPr/>
        </p:nvSpPr>
        <p:spPr>
          <a:xfrm>
            <a:off x="640080" y="1874520"/>
            <a:ext cx="365760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Small AI on devices that must keep learning: no retraining on a server, no hardware thrown away to update it (SIMULATED)</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No stored examples, 84 KB of memory for images, no multiplier</a:t>
            </a:r>
            <a:endParaRPr lang="en-US" sz="1300" dirty="0"/>
          </a:p>
          <a:p>
            <a:pPr marL="342900" indent="-342900">
              <a:buSzPct val="100000"/>
              <a:buChar char="•"/>
            </a:pPr>
            <a:r>
              <a:rPr lang="en-US" sz="1300" dirty="0">
                <a:solidFill>
                  <a:schemeClr val="tx1"/>
                </a:solidFill>
                <a:latin typeface="Calibri" pitchFamily="34" charset="0"/>
                <a:ea typeface="Calibri" pitchFamily="34" charset="-122"/>
                <a:cs typeface="Calibri" pitchFamily="34" charset="-120"/>
              </a:rPr>
              <a:t>About 74x less energy per decision than an 8-bit network, counting operations needed (ESTIMATED)</a:t>
            </a:r>
            <a:endParaRPr lang="en-US" sz="1300" dirty="0"/>
          </a:p>
        </p:txBody>
      </p:sp>
      <p:sp>
        <p:nvSpPr>
          <p:cNvPr id="7" name="Text 5"/>
          <p:cNvSpPr txBox="1"/>
          <p:nvPr/>
        </p:nvSpPr>
        <p:spPr>
          <a:xfrm>
            <a:off x="4846320" y="1417320"/>
            <a:ext cx="3657600" cy="365760"/>
          </a:xfrm>
          <a:prstGeom prst="rect">
            <a:avLst/>
          </a:prstGeom>
          <a:noFill/>
          <a:ln/>
        </p:spPr>
        <p:txBody>
          <a:bodyPr wrap="square" lIns="0" tIns="0" rIns="0" bIns="0" rtlCol="0" anchor="t"/>
          <a:lstStyle/>
          <a:p>
            <a:pPr indent="0" marL="0">
              <a:buNone/>
            </a:pPr>
            <a:r>
              <a:rPr lang="en-US" sz="2000" b="1" dirty="0">
                <a:solidFill>
                  <a:schemeClr val="accent4"/>
                </a:solidFill>
                <a:latin typeface="Cambria" pitchFamily="34" charset="0"/>
                <a:ea typeface="Cambria" pitchFamily="34" charset="-122"/>
                <a:cs typeface="Cambria" pitchFamily="34" charset="-120"/>
              </a:rPr>
              <a:t>What L does not solve</a:t>
            </a:r>
            <a:endParaRPr lang="en-US" sz="2000" dirty="0"/>
          </a:p>
        </p:txBody>
      </p:sp>
      <p:sp>
        <p:nvSpPr>
          <p:cNvPr id="8" name="Text 6"/>
          <p:cNvSpPr txBox="1"/>
          <p:nvPr/>
        </p:nvSpPr>
        <p:spPr>
          <a:xfrm>
            <a:off x="4846320" y="1874520"/>
            <a:ext cx="365760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The cost of large language models and image generators: GPU and memory prices, data-centre heat and water</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It cannot run existing models (CNNs, transformers, LLMs): it is a dedicated chip for its own brain-style model</a:t>
            </a:r>
            <a:endParaRPr lang="en-US" sz="1300" dirty="0"/>
          </a:p>
          <a:p>
            <a:pPr marL="342900" indent="-342900">
              <a:buSzPct val="100000"/>
              <a:buChar char="•"/>
            </a:pPr>
            <a:r>
              <a:rPr lang="en-US" sz="1300" dirty="0">
                <a:solidFill>
                  <a:schemeClr val="tx1"/>
                </a:solidFill>
                <a:latin typeface="Calibri" pitchFamily="34" charset="0"/>
                <a:ea typeface="Calibri" pitchFamily="34" charset="-122"/>
                <a:cs typeface="Calibri" pitchFamily="34" charset="-120"/>
              </a:rPr>
              <a:t>Nothing is measured on hardware yet</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hypothesis we will test</a:t>
            </a:r>
            <a:endParaRPr lang="en-US" sz="3000" dirty="0"/>
          </a:p>
        </p:txBody>
      </p:sp>
      <p:sp>
        <p:nvSpPr>
          <p:cNvPr id="3" name="card"/>
          <p:cNvSpPr/>
          <p:nvPr/>
        </p:nvSpPr>
        <p:spPr>
          <a:xfrm>
            <a:off x="457200" y="1234440"/>
            <a:ext cx="8229600" cy="1234440"/>
          </a:xfrm>
          <a:prstGeom prst="roundRect">
            <a:avLst>
              <a:gd name="adj" fmla="val 7407"/>
            </a:avLst>
          </a:prstGeom>
          <a:solidFill>
            <a:srgbClr val="FFF4DD"/>
          </a:solidFill>
          <a:ln w="12700">
            <a:solidFill>
              <a:srgbClr val="FFF4DD"/>
            </a:solidFill>
            <a:prstDash val="solid"/>
          </a:ln>
        </p:spPr>
      </p:sp>
      <p:sp>
        <p:nvSpPr>
          <p:cNvPr id="4" name="Text 2"/>
          <p:cNvSpPr txBox="1"/>
          <p:nvPr/>
        </p:nvSpPr>
        <p:spPr>
          <a:xfrm>
            <a:off x="640080" y="1325880"/>
            <a:ext cx="7863840" cy="36576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HYPOTHESIS (not a result)</a:t>
            </a:r>
            <a:endParaRPr lang="en-US" sz="1200" dirty="0"/>
          </a:p>
        </p:txBody>
      </p:sp>
      <p:sp>
        <p:nvSpPr>
          <p:cNvPr id="5" name="Text 3"/>
          <p:cNvSpPr txBox="1"/>
          <p:nvPr/>
        </p:nvSpPr>
        <p:spPr>
          <a:xfrm>
            <a:off x="640080" y="1600200"/>
            <a:ext cx="786384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brain-style model with constant-size state, sparse event-driven activity and low-bit weights, on a chip built for it, needs far less memory traffic and energy per token than a transformer on a GPU at the same quality, and so less scarce HBM, heat and water.</a:t>
            </a:r>
            <a:endParaRPr lang="en-US" sz="1400" dirty="0"/>
          </a:p>
        </p:txBody>
      </p:sp>
      <p:sp>
        <p:nvSpPr>
          <p:cNvPr id="6" name="card"/>
          <p:cNvSpPr/>
          <p:nvPr/>
        </p:nvSpPr>
        <p:spPr>
          <a:xfrm>
            <a:off x="457200" y="2651760"/>
            <a:ext cx="4023360" cy="1920240"/>
          </a:xfrm>
          <a:prstGeom prst="roundRect">
            <a:avLst>
              <a:gd name="adj" fmla="val 4762"/>
            </a:avLst>
          </a:prstGeom>
          <a:solidFill>
            <a:schemeClr val="bg2"/>
          </a:solidFill>
          <a:ln w="12700">
            <a:solidFill>
              <a:schemeClr val="bg2"/>
            </a:solidFill>
            <a:prstDash val="solid"/>
          </a:ln>
        </p:spPr>
      </p:sp>
      <p:sp>
        <p:nvSpPr>
          <p:cNvPr id="7" name="card"/>
          <p:cNvSpPr/>
          <p:nvPr/>
        </p:nvSpPr>
        <p:spPr>
          <a:xfrm>
            <a:off x="4663440" y="2651760"/>
            <a:ext cx="4023360" cy="1920240"/>
          </a:xfrm>
          <a:prstGeom prst="roundRect">
            <a:avLst>
              <a:gd name="adj" fmla="val 4762"/>
            </a:avLst>
          </a:prstGeom>
          <a:solidFill>
            <a:schemeClr val="bg2"/>
          </a:solidFill>
          <a:ln w="12700">
            <a:solidFill>
              <a:schemeClr val="bg2"/>
            </a:solidFill>
            <a:prstDash val="solid"/>
          </a:ln>
        </p:spPr>
      </p:sp>
      <p:sp>
        <p:nvSpPr>
          <p:cNvPr id="8" name="Text 6"/>
          <p:cNvSpPr txBox="1"/>
          <p:nvPr/>
        </p:nvSpPr>
        <p:spPr>
          <a:xfrm>
            <a:off x="640080" y="2743200"/>
            <a:ext cx="3657600" cy="365760"/>
          </a:xfrm>
          <a:prstGeom prst="rect">
            <a:avLst/>
          </a:prstGeom>
          <a:noFill/>
          <a:ln/>
        </p:spPr>
        <p:txBody>
          <a:bodyPr wrap="square" lIns="0" tIns="0" rIns="0" bIns="0" rtlCol="0" anchor="t"/>
          <a:lstStyle/>
          <a:p>
            <a:pPr indent="0" marL="0">
              <a:buNone/>
            </a:pPr>
            <a:r>
              <a:rPr lang="en-US" sz="1500" b="1" dirty="0">
                <a:solidFill>
                  <a:schemeClr val="accent2"/>
                </a:solidFill>
                <a:latin typeface="Cambria" pitchFamily="34" charset="0"/>
                <a:ea typeface="Cambria" pitchFamily="34" charset="-122"/>
                <a:cs typeface="Cambria" pitchFamily="34" charset="-120"/>
              </a:rPr>
              <a:t>Why the model comes first</a:t>
            </a:r>
            <a:endParaRPr lang="en-US" sz="1500" dirty="0"/>
          </a:p>
        </p:txBody>
      </p:sp>
      <p:sp>
        <p:nvSpPr>
          <p:cNvPr id="9" name="Text 7"/>
          <p:cNvSpPr txBox="1"/>
          <p:nvPr/>
        </p:nvSpPr>
        <p:spPr>
          <a:xfrm>
            <a:off x="640080" y="3108960"/>
            <a:ext cx="3657600" cy="13716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The savings come from the model's state size, sparsity and low-bit weights. A chip can only exploit them, not create them. L Cortex proves the principles at small scale only.</a:t>
            </a:r>
            <a:endParaRPr lang="en-US" sz="1200" dirty="0"/>
          </a:p>
        </p:txBody>
      </p:sp>
      <p:sp>
        <p:nvSpPr>
          <p:cNvPr id="10" name="Text 8"/>
          <p:cNvSpPr txBox="1"/>
          <p:nvPr/>
        </p:nvSpPr>
        <p:spPr>
          <a:xfrm>
            <a:off x="4846320" y="2743200"/>
            <a:ext cx="3657600" cy="365760"/>
          </a:xfrm>
          <a:prstGeom prst="rect">
            <a:avLst/>
          </a:prstGeom>
          <a:noFill/>
          <a:ln/>
        </p:spPr>
        <p:txBody>
          <a:bodyPr wrap="square" lIns="0" tIns="0" rIns="0" bIns="0" rtlCol="0" anchor="t"/>
          <a:lstStyle/>
          <a:p>
            <a:pPr indent="0" marL="0">
              <a:buNone/>
            </a:pPr>
            <a:r>
              <a:rPr lang="en-US" sz="1500" b="1" dirty="0">
                <a:solidFill>
                  <a:schemeClr val="accent4"/>
                </a:solidFill>
                <a:latin typeface="Cambria" pitchFamily="34" charset="0"/>
                <a:ea typeface="Cambria" pitchFamily="34" charset="-122"/>
                <a:cs typeface="Cambria" pitchFamily="34" charset="-120"/>
              </a:rPr>
              <a:t>It is falsified if</a:t>
            </a:r>
            <a:endParaRPr lang="en-US" sz="1500" dirty="0"/>
          </a:p>
        </p:txBody>
      </p:sp>
      <p:sp>
        <p:nvSpPr>
          <p:cNvPr id="11" name="Text 9"/>
          <p:cNvSpPr txBox="1"/>
          <p:nvPr/>
        </p:nvSpPr>
        <p:spPr>
          <a:xfrm>
            <a:off x="4846320" y="3108960"/>
            <a:ext cx="3657600" cy="14173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L loses its quality edge at larger sizes or when matrix-free</a:t>
            </a:r>
            <a:endParaRPr lang="en-US" sz="1200" dirty="0"/>
          </a:p>
          <a:p>
            <a:pPr marL="342900" indent="-3429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A fused GPU version gets within about 3x of the simulated chip</a:t>
            </a:r>
            <a:endParaRPr lang="en-US" sz="1200" dirty="0"/>
          </a:p>
          <a:p>
            <a:pPr marL="342900" indent="-342900">
              <a:buSzPct val="100000"/>
              <a:buChar char="•"/>
            </a:pPr>
            <a:r>
              <a:rPr lang="en-US" sz="1200" dirty="0">
                <a:solidFill>
                  <a:schemeClr val="tx1"/>
                </a:solidFill>
                <a:latin typeface="Calibri" pitchFamily="34" charset="0"/>
                <a:ea typeface="Calibri" pitchFamily="34" charset="-122"/>
                <a:cs typeface="Calibri" pitchFamily="34" charset="-120"/>
              </a:rPr>
              <a:t>A transformer chip with the same memory matches its energy per token</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Where it is level, and where it is weaker</a:t>
            </a:r>
            <a:endParaRPr lang="en-US" sz="3000" dirty="0"/>
          </a:p>
        </p:txBody>
      </p:sp>
      <p:sp>
        <p:nvSpPr>
          <p:cNvPr id="3" name="Text 1"/>
          <p:cNvSpPr txBox="1"/>
          <p:nvPr/>
        </p:nvSpPr>
        <p:spPr>
          <a:xfrm>
            <a:off x="457200" y="1280160"/>
            <a:ext cx="8229600" cy="329184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Nothing is measured on hardware yet: every chip number is simulated</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Staged clothing about 82%, 5 points below its one pass; many ideas tried</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A trained CNN is ahead by about 2 points on clothing when all data is available</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Small tests: digits, clothing, 20 classes, up to 35 words; noise is simulated; two-sense data is paired by class</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Second look costs about 2.8x memory; a few steps still run on the host</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Not the first, and clear about what is new</a:t>
            </a:r>
            <a:endParaRPr lang="en-US" sz="3000" dirty="0"/>
          </a:p>
        </p:txBody>
      </p:sp>
      <p:sp>
        <p:nvSpPr>
          <p:cNvPr id="3" name="card"/>
          <p:cNvSpPr/>
          <p:nvPr/>
        </p:nvSpPr>
        <p:spPr>
          <a:xfrm>
            <a:off x="457200" y="1280160"/>
            <a:ext cx="4023360" cy="3200400"/>
          </a:xfrm>
          <a:prstGeom prst="roundRect">
            <a:avLst>
              <a:gd name="adj" fmla="val 2857"/>
            </a:avLst>
          </a:prstGeom>
          <a:solidFill>
            <a:schemeClr val="bg2"/>
          </a:solidFill>
          <a:ln w="12700">
            <a:solidFill>
              <a:schemeClr val="bg2"/>
            </a:solidFill>
            <a:prstDash val="solid"/>
          </a:ln>
        </p:spPr>
      </p:sp>
      <p:sp>
        <p:nvSpPr>
          <p:cNvPr id="4" name="card"/>
          <p:cNvSpPr/>
          <p:nvPr/>
        </p:nvSpPr>
        <p:spPr>
          <a:xfrm>
            <a:off x="4663440" y="1280160"/>
            <a:ext cx="4023360" cy="3200400"/>
          </a:xfrm>
          <a:prstGeom prst="roundRect">
            <a:avLst>
              <a:gd name="adj" fmla="val 2857"/>
            </a:avLst>
          </a:prstGeom>
          <a:solidFill>
            <a:schemeClr val="bg2"/>
          </a:solidFill>
          <a:ln w="12700">
            <a:solidFill>
              <a:schemeClr val="bg2"/>
            </a:solidFill>
            <a:prstDash val="solid"/>
          </a:ln>
        </p:spPr>
      </p:sp>
      <p:sp>
        <p:nvSpPr>
          <p:cNvPr id="5" name="Text 3"/>
          <p:cNvSpPr txBox="1"/>
          <p:nvPr/>
        </p:nvSpPr>
        <p:spPr>
          <a:xfrm>
            <a:off x="640080" y="1417320"/>
            <a:ext cx="3657600" cy="365760"/>
          </a:xfrm>
          <a:prstGeom prst="rect">
            <a:avLst/>
          </a:prstGeom>
          <a:noFill/>
          <a:ln/>
        </p:spPr>
        <p:txBody>
          <a:bodyPr wrap="square" lIns="0" tIns="0" rIns="0" bIns="0" rtlCol="0" anchor="t"/>
          <a:lstStyle/>
          <a:p>
            <a:pPr indent="0" marL="0">
              <a:buNone/>
            </a:pPr>
            <a:r>
              <a:rPr lang="en-US" sz="2000" b="1" dirty="0">
                <a:solidFill>
                  <a:schemeClr val="accent6"/>
                </a:solidFill>
                <a:latin typeface="Cambria" pitchFamily="34" charset="0"/>
                <a:ea typeface="Cambria" pitchFamily="34" charset="-122"/>
                <a:cs typeface="Cambria" pitchFamily="34" charset="-120"/>
              </a:rPr>
              <a:t>Already exists</a:t>
            </a:r>
            <a:endParaRPr lang="en-US" sz="2000" dirty="0"/>
          </a:p>
        </p:txBody>
      </p:sp>
      <p:sp>
        <p:nvSpPr>
          <p:cNvPr id="6" name="Text 4"/>
          <p:cNvSpPr txBox="1"/>
          <p:nvPr/>
        </p:nvSpPr>
        <p:spPr>
          <a:xfrm>
            <a:off x="640080" y="1920240"/>
            <a:ext cx="365760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Hyperdimensional-computing accelerators</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Intel Loihi 2, TrueNorth, SpiNNaker (event-driven spiking chips)</a:t>
            </a:r>
            <a:endParaRPr lang="en-US" sz="1500" dirty="0"/>
          </a:p>
          <a:p>
            <a:pPr marL="342900" indent="-342900">
              <a:buSzPct val="100000"/>
              <a:buChar char="•"/>
            </a:pPr>
            <a:r>
              <a:rPr lang="en-US" sz="1500" dirty="0">
                <a:solidFill>
                  <a:schemeClr val="tx1"/>
                </a:solidFill>
                <a:latin typeface="Calibri" pitchFamily="34" charset="0"/>
                <a:ea typeface="Calibri" pitchFamily="34" charset="-122"/>
                <a:cs typeface="Calibri" pitchFamily="34" charset="-120"/>
              </a:rPr>
              <a:t>Replay-based continual learning</a:t>
            </a:r>
            <a:endParaRPr lang="en-US" sz="1500" dirty="0"/>
          </a:p>
        </p:txBody>
      </p:sp>
      <p:sp>
        <p:nvSpPr>
          <p:cNvPr id="7" name="Text 5"/>
          <p:cNvSpPr txBox="1"/>
          <p:nvPr/>
        </p:nvSpPr>
        <p:spPr>
          <a:xfrm>
            <a:off x="4846320" y="1417320"/>
            <a:ext cx="3657600" cy="36576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What we add</a:t>
            </a:r>
            <a:endParaRPr lang="en-US" sz="2000" dirty="0"/>
          </a:p>
        </p:txBody>
      </p:sp>
      <p:sp>
        <p:nvSpPr>
          <p:cNvPr id="8" name="Text 6"/>
          <p:cNvSpPr txBox="1"/>
          <p:nvPr/>
        </p:nvSpPr>
        <p:spPr>
          <a:xfrm>
            <a:off x="4846320" y="1920240"/>
            <a:ext cx="365760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Dreams from 10-bit counters, no stored examples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 night that ends by itself; consolidation that scales with the data</a:t>
            </a:r>
            <a:endParaRPr lang="en-US" sz="1400" dirty="0"/>
          </a:p>
          <a:p>
            <a:pPr marL="342900" indent="-342900">
              <a:buSzPct val="100000"/>
              <a:buChar char="•"/>
            </a:pPr>
            <a:r>
              <a:rPr lang="en-US" sz="1400" dirty="0">
                <a:solidFill>
                  <a:schemeClr val="tx1"/>
                </a:solidFill>
                <a:latin typeface="Calibri" pitchFamily="34" charset="0"/>
                <a:ea typeface="Calibri" pitchFamily="34" charset="-122"/>
                <a:cs typeface="Calibri" pitchFamily="34" charset="-120"/>
              </a:rPr>
              <a:t>No multiplier or matrix, bit-exact from raw senses to decision, with grouping and thresholds on the chip</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What comes next</a:t>
            </a:r>
            <a:endParaRPr lang="en-US" sz="3000" dirty="0"/>
          </a:p>
        </p:txBody>
      </p:sp>
      <p:sp>
        <p:nvSpPr>
          <p:cNvPr id="3" name="card"/>
          <p:cNvSpPr/>
          <p:nvPr/>
        </p:nvSpPr>
        <p:spPr>
          <a:xfrm>
            <a:off x="457200" y="1371600"/>
            <a:ext cx="1965960" cy="2651760"/>
          </a:xfrm>
          <a:prstGeom prst="roundRect">
            <a:avLst>
              <a:gd name="adj" fmla="val 4651"/>
            </a:avLst>
          </a:prstGeom>
          <a:solidFill>
            <a:schemeClr val="bg2"/>
          </a:solidFill>
          <a:ln w="12700">
            <a:solidFill>
              <a:schemeClr val="bg2"/>
            </a:solidFill>
            <a:prstDash val="solid"/>
          </a:ln>
        </p:spPr>
      </p:sp>
      <p:sp>
        <p:nvSpPr>
          <p:cNvPr id="4" name="marker"/>
          <p:cNvSpPr/>
          <p:nvPr/>
        </p:nvSpPr>
        <p:spPr>
          <a:xfrm>
            <a:off x="594360" y="1508760"/>
            <a:ext cx="502920" cy="502920"/>
          </a:xfrm>
          <a:prstGeom prst="ellipse">
            <a:avLst/>
          </a:prstGeom>
          <a:solidFill>
            <a:schemeClr val="accent3"/>
          </a:solidFill>
          <a:ln w="12700">
            <a:solidFill>
              <a:schemeClr val="accent3"/>
            </a:solidFill>
            <a:prstDash val="solid"/>
          </a:ln>
        </p:spPr>
      </p:sp>
      <p:sp>
        <p:nvSpPr>
          <p:cNvPr id="5" name="Text 3"/>
          <p:cNvSpPr txBox="1"/>
          <p:nvPr/>
        </p:nvSpPr>
        <p:spPr>
          <a:xfrm>
            <a:off x="594360" y="1600200"/>
            <a:ext cx="50292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594360" y="2148840"/>
            <a:ext cx="17373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Done</a:t>
            </a:r>
            <a:endParaRPr lang="en-US" sz="1700" dirty="0"/>
          </a:p>
        </p:txBody>
      </p:sp>
      <p:sp>
        <p:nvSpPr>
          <p:cNvPr id="7" name="Text 5"/>
          <p:cNvSpPr txBox="1"/>
          <p:nvPr/>
        </p:nvSpPr>
        <p:spPr>
          <a:xfrm>
            <a:off x="594360" y="2560320"/>
            <a:ext cx="1737360" cy="137160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Model, RTL with every check passing, second look, tail memory, on-chip thresholds and grouping, scale tests</a:t>
            </a:r>
            <a:endParaRPr lang="en-US" sz="1100" dirty="0"/>
          </a:p>
        </p:txBody>
      </p:sp>
      <p:sp>
        <p:nvSpPr>
          <p:cNvPr id="8" name="card"/>
          <p:cNvSpPr/>
          <p:nvPr/>
        </p:nvSpPr>
        <p:spPr>
          <a:xfrm>
            <a:off x="2560320" y="1371600"/>
            <a:ext cx="1965960" cy="2651760"/>
          </a:xfrm>
          <a:prstGeom prst="roundRect">
            <a:avLst>
              <a:gd name="adj" fmla="val 4651"/>
            </a:avLst>
          </a:prstGeom>
          <a:solidFill>
            <a:schemeClr val="bg2"/>
          </a:solidFill>
          <a:ln w="12700">
            <a:solidFill>
              <a:schemeClr val="bg2"/>
            </a:solidFill>
            <a:prstDash val="solid"/>
          </a:ln>
        </p:spPr>
      </p:sp>
      <p:sp>
        <p:nvSpPr>
          <p:cNvPr id="9" name="marker"/>
          <p:cNvSpPr/>
          <p:nvPr/>
        </p:nvSpPr>
        <p:spPr>
          <a:xfrm>
            <a:off x="2697480" y="150876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2697480" y="1600200"/>
            <a:ext cx="50292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2697480" y="2148840"/>
            <a:ext cx="17373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Next</a:t>
            </a:r>
            <a:endParaRPr lang="en-US" sz="1700" dirty="0"/>
          </a:p>
        </p:txBody>
      </p:sp>
      <p:sp>
        <p:nvSpPr>
          <p:cNvPr id="12" name="Text 10"/>
          <p:cNvSpPr txBox="1"/>
          <p:nvPr/>
        </p:nvSpPr>
        <p:spPr>
          <a:xfrm>
            <a:off x="2697480" y="2560320"/>
            <a:ext cx="1737360" cy="137160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Run on the real Tang Nano: the first MEASURED numbers</a:t>
            </a:r>
            <a:endParaRPr lang="en-US" sz="1100" dirty="0"/>
          </a:p>
        </p:txBody>
      </p:sp>
      <p:sp>
        <p:nvSpPr>
          <p:cNvPr id="13" name="card"/>
          <p:cNvSpPr/>
          <p:nvPr/>
        </p:nvSpPr>
        <p:spPr>
          <a:xfrm>
            <a:off x="4663440" y="1371600"/>
            <a:ext cx="1965960" cy="2651760"/>
          </a:xfrm>
          <a:prstGeom prst="roundRect">
            <a:avLst>
              <a:gd name="adj" fmla="val 4651"/>
            </a:avLst>
          </a:prstGeom>
          <a:solidFill>
            <a:schemeClr val="bg2"/>
          </a:solidFill>
          <a:ln w="12700">
            <a:solidFill>
              <a:schemeClr val="bg2"/>
            </a:solidFill>
            <a:prstDash val="solid"/>
          </a:ln>
        </p:spPr>
      </p:sp>
      <p:sp>
        <p:nvSpPr>
          <p:cNvPr id="14" name="marker"/>
          <p:cNvSpPr/>
          <p:nvPr/>
        </p:nvSpPr>
        <p:spPr>
          <a:xfrm>
            <a:off x="4800600" y="1508760"/>
            <a:ext cx="502920" cy="502920"/>
          </a:xfrm>
          <a:prstGeom prst="ellipse">
            <a:avLst/>
          </a:prstGeom>
          <a:solidFill>
            <a:schemeClr val="accent2"/>
          </a:solidFill>
          <a:ln w="12700">
            <a:solidFill>
              <a:schemeClr val="accent2"/>
            </a:solidFill>
            <a:prstDash val="solid"/>
          </a:ln>
        </p:spPr>
      </p:sp>
      <p:sp>
        <p:nvSpPr>
          <p:cNvPr id="15" name="Text 13"/>
          <p:cNvSpPr txBox="1"/>
          <p:nvPr/>
        </p:nvSpPr>
        <p:spPr>
          <a:xfrm>
            <a:off x="4800600" y="1600200"/>
            <a:ext cx="50292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4800600" y="2148840"/>
            <a:ext cx="17373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Then</a:t>
            </a:r>
            <a:endParaRPr lang="en-US" sz="1700" dirty="0"/>
          </a:p>
        </p:txBody>
      </p:sp>
      <p:sp>
        <p:nvSpPr>
          <p:cNvPr id="17" name="Text 15"/>
          <p:cNvSpPr txBox="1"/>
          <p:nvPr/>
        </p:nvSpPr>
        <p:spPr>
          <a:xfrm>
            <a:off x="4800600" y="2560320"/>
            <a:ext cx="1737360" cy="137160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Harder tests: larger vocabulary, real recorded noise, a harder image set</a:t>
            </a:r>
            <a:endParaRPr lang="en-US" sz="1100" dirty="0"/>
          </a:p>
        </p:txBody>
      </p:sp>
      <p:sp>
        <p:nvSpPr>
          <p:cNvPr id="18" name="card"/>
          <p:cNvSpPr/>
          <p:nvPr/>
        </p:nvSpPr>
        <p:spPr>
          <a:xfrm>
            <a:off x="6766560" y="1371600"/>
            <a:ext cx="1965960" cy="2651760"/>
          </a:xfrm>
          <a:prstGeom prst="roundRect">
            <a:avLst>
              <a:gd name="adj" fmla="val 4651"/>
            </a:avLst>
          </a:prstGeom>
          <a:solidFill>
            <a:schemeClr val="bg2"/>
          </a:solidFill>
          <a:ln w="12700">
            <a:solidFill>
              <a:schemeClr val="bg2"/>
            </a:solidFill>
            <a:prstDash val="solid"/>
          </a:ln>
        </p:spPr>
      </p:sp>
      <p:sp>
        <p:nvSpPr>
          <p:cNvPr id="19" name="marker"/>
          <p:cNvSpPr/>
          <p:nvPr/>
        </p:nvSpPr>
        <p:spPr>
          <a:xfrm>
            <a:off x="6903720" y="1508760"/>
            <a:ext cx="502920" cy="502920"/>
          </a:xfrm>
          <a:prstGeom prst="ellipse">
            <a:avLst/>
          </a:prstGeom>
          <a:solidFill>
            <a:schemeClr val="accent5"/>
          </a:solidFill>
          <a:ln w="12700">
            <a:solidFill>
              <a:schemeClr val="accent5"/>
            </a:solidFill>
            <a:prstDash val="solid"/>
          </a:ln>
        </p:spPr>
      </p:sp>
      <p:sp>
        <p:nvSpPr>
          <p:cNvPr id="20" name="Text 18"/>
          <p:cNvSpPr txBox="1"/>
          <p:nvPr/>
        </p:nvSpPr>
        <p:spPr>
          <a:xfrm>
            <a:off x="6903720" y="1600200"/>
            <a:ext cx="50292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4</a:t>
            </a:r>
            <a:endParaRPr lang="en-US" sz="1800" dirty="0"/>
          </a:p>
        </p:txBody>
      </p:sp>
      <p:sp>
        <p:nvSpPr>
          <p:cNvPr id="21" name="Text 19"/>
          <p:cNvSpPr txBox="1"/>
          <p:nvPr/>
        </p:nvSpPr>
        <p:spPr>
          <a:xfrm>
            <a:off x="6903720" y="2148840"/>
            <a:ext cx="17373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Later</a:t>
            </a:r>
            <a:endParaRPr lang="en-US" sz="1700" dirty="0"/>
          </a:p>
        </p:txBody>
      </p:sp>
      <p:sp>
        <p:nvSpPr>
          <p:cNvPr id="22" name="Text 20"/>
          <p:cNvSpPr txBox="1"/>
          <p:nvPr/>
        </p:nvSpPr>
        <p:spPr>
          <a:xfrm>
            <a:off x="6903720" y="2560320"/>
            <a:ext cx="1737360" cy="137160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Matrix-free chip for the L language model; ASIC memory for sound and the second look</a:t>
            </a:r>
            <a:endParaRPr lang="en-US" sz="1100" dirty="0"/>
          </a:p>
        </p:txBody>
      </p:sp>
      <p:sp>
        <p:nvSpPr>
          <p:cNvPr id="23" name="Text 21"/>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Horizon: a provable result within 6 to 8 months, then shrink and attract investors. No fabrication is planned yet.</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Two tracks toward the bigger problem</a:t>
            </a:r>
            <a:endParaRPr lang="en-US" sz="3000" dirty="0"/>
          </a:p>
        </p:txBody>
      </p:sp>
      <p:sp>
        <p:nvSpPr>
          <p:cNvPr id="3" name="card"/>
          <p:cNvSpPr/>
          <p:nvPr/>
        </p:nvSpPr>
        <p:spPr>
          <a:xfrm>
            <a:off x="457200" y="1280160"/>
            <a:ext cx="4023360" cy="3291840"/>
          </a:xfrm>
          <a:prstGeom prst="roundRect">
            <a:avLst>
              <a:gd name="adj" fmla="val 2778"/>
            </a:avLst>
          </a:prstGeom>
          <a:solidFill>
            <a:schemeClr val="bg2"/>
          </a:solidFill>
          <a:ln w="12700">
            <a:solidFill>
              <a:schemeClr val="bg2"/>
            </a:solidFill>
            <a:prstDash val="solid"/>
          </a:ln>
        </p:spPr>
      </p:sp>
      <p:sp>
        <p:nvSpPr>
          <p:cNvPr id="4" name="card"/>
          <p:cNvSpPr/>
          <p:nvPr/>
        </p:nvSpPr>
        <p:spPr>
          <a:xfrm>
            <a:off x="4663440" y="1280160"/>
            <a:ext cx="4023360" cy="3291840"/>
          </a:xfrm>
          <a:prstGeom prst="roundRect">
            <a:avLst>
              <a:gd name="adj" fmla="val 2778"/>
            </a:avLst>
          </a:prstGeom>
          <a:solidFill>
            <a:schemeClr val="bg2"/>
          </a:solidFill>
          <a:ln w="12700">
            <a:solidFill>
              <a:schemeClr val="bg2"/>
            </a:solidFill>
            <a:prstDash val="solid"/>
          </a:ln>
        </p:spPr>
      </p:sp>
      <p:sp>
        <p:nvSpPr>
          <p:cNvPr id="5" name="Text 3"/>
          <p:cNvSpPr txBox="1"/>
          <p:nvPr/>
        </p:nvSpPr>
        <p:spPr>
          <a:xfrm>
            <a:off x="640080" y="1389888"/>
            <a:ext cx="3657600" cy="365760"/>
          </a:xfrm>
          <a:prstGeom prst="rect">
            <a:avLst/>
          </a:prstGeom>
          <a:noFill/>
          <a:ln/>
        </p:spPr>
        <p:txBody>
          <a:bodyPr wrap="square" lIns="0" tIns="0" rIns="0" bIns="0" rtlCol="0" anchor="t"/>
          <a:lstStyle/>
          <a:p>
            <a:pPr indent="0" marL="0">
              <a:buNone/>
            </a:pPr>
            <a:r>
              <a:rPr lang="en-US" sz="1700" b="1" dirty="0">
                <a:solidFill>
                  <a:schemeClr val="accent3"/>
                </a:solidFill>
                <a:latin typeface="Cambria" pitchFamily="34" charset="0"/>
                <a:ea typeface="Cambria" pitchFamily="34" charset="-122"/>
                <a:cs typeface="Cambria" pitchFamily="34" charset="-120"/>
              </a:rPr>
              <a:t>Track 1: the L chip (hardware)</a:t>
            </a:r>
            <a:endParaRPr lang="en-US" sz="1700" dirty="0"/>
          </a:p>
        </p:txBody>
      </p:sp>
      <p:sp>
        <p:nvSpPr>
          <p:cNvPr id="6" name="Text 4"/>
          <p:cNvSpPr txBox="1"/>
          <p:nvPr/>
        </p:nvSpPr>
        <p:spPr>
          <a:xfrm>
            <a:off x="640080" y="1828800"/>
            <a:ext cx="3657600" cy="26517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Now: verified in simulation, bit-exact RTL</a:t>
            </a:r>
            <a:endParaRPr lang="en-US" sz="1300" dirty="0"/>
          </a:p>
          <a:p>
            <a:pPr marL="342900" indent="-3429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Next: run on the Tang Nano for the first MEASURED numbers</a:t>
            </a:r>
            <a:endParaRPr lang="en-US" sz="1300" dirty="0"/>
          </a:p>
          <a:p>
            <a:pPr marL="342900" indent="-342900">
              <a:buSzPct val="100000"/>
              <a:buChar char="•"/>
            </a:pPr>
            <a:r>
              <a:rPr lang="en-US" sz="1300" dirty="0">
                <a:solidFill>
                  <a:schemeClr val="tx1"/>
                </a:solidFill>
                <a:latin typeface="Calibri" pitchFamily="34" charset="0"/>
                <a:ea typeface="Calibri" pitchFamily="34" charset="-122"/>
                <a:cs typeface="Calibri" pitchFamily="34" charset="-120"/>
              </a:rPr>
              <a:t>Then: harder tests, external memory for sound and the second look</a:t>
            </a:r>
            <a:endParaRPr lang="en-US" sz="1300" dirty="0"/>
          </a:p>
        </p:txBody>
      </p:sp>
      <p:sp>
        <p:nvSpPr>
          <p:cNvPr id="7" name="Text 5"/>
          <p:cNvSpPr txBox="1"/>
          <p:nvPr/>
        </p:nvSpPr>
        <p:spPr>
          <a:xfrm>
            <a:off x="4846320" y="1389888"/>
            <a:ext cx="3657600" cy="365760"/>
          </a:xfrm>
          <a:prstGeom prst="rect">
            <a:avLst/>
          </a:prstGeom>
          <a:noFill/>
          <a:ln/>
        </p:spPr>
        <p:txBody>
          <a:bodyPr wrap="square" lIns="0" tIns="0" rIns="0" bIns="0" rtlCol="0" anchor="t"/>
          <a:lstStyle/>
          <a:p>
            <a:pPr indent="0" marL="0">
              <a:buNone/>
            </a:pPr>
            <a:r>
              <a:rPr lang="en-US" sz="1700" b="1" dirty="0">
                <a:solidFill>
                  <a:schemeClr val="accent2"/>
                </a:solidFill>
                <a:latin typeface="Cambria" pitchFamily="34" charset="0"/>
                <a:ea typeface="Cambria" pitchFamily="34" charset="-122"/>
                <a:cs typeface="Cambria" pitchFamily="34" charset="-120"/>
              </a:rPr>
              <a:t>Track 2: the L AI model (later)</a:t>
            </a:r>
            <a:endParaRPr lang="en-US" sz="1700" dirty="0"/>
          </a:p>
        </p:txBody>
      </p:sp>
      <p:sp>
        <p:nvSpPr>
          <p:cNvPr id="8" name="Text 6"/>
          <p:cNvSpPr txBox="1"/>
          <p:nvPr/>
        </p:nvSpPr>
        <p:spPr>
          <a:xfrm>
            <a:off x="4846320" y="1828800"/>
            <a:ext cx="3657600" cy="26517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Gate 1: measure the model: firing rates, ablations, seeds</a:t>
            </a:r>
            <a:endParaRPr lang="en-US" sz="1200" dirty="0"/>
          </a:p>
          <a:p>
            <a:pPr marL="342900" indent="-3429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Gate 2: fused GPU baseline; stop if a GPU is already close</a:t>
            </a:r>
            <a:endParaRPr lang="en-US" sz="1200" dirty="0"/>
          </a:p>
          <a:p>
            <a:pPr marL="342900" indent="-3429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Gate 3: matrix-free version keeps its quality</a:t>
            </a:r>
            <a:endParaRPr lang="en-US" sz="1200" dirty="0"/>
          </a:p>
          <a:p>
            <a:pPr marL="342900" indent="-342900">
              <a:buSzPct val="100000"/>
              <a:buChar char="•"/>
            </a:pPr>
            <a:r>
              <a:rPr lang="en-US" sz="1200" dirty="0">
                <a:solidFill>
                  <a:schemeClr val="tx1"/>
                </a:solidFill>
                <a:latin typeface="Calibri" pitchFamily="34" charset="0"/>
                <a:ea typeface="Calibri" pitchFamily="34" charset="-122"/>
                <a:cs typeface="Calibri" pitchFamily="34" charset="-120"/>
              </a:rPr>
              <a:t>Then: simulator and FPGA; study memory: can constant-size state and event-driven reads move work from scarce HBM to cheaper DRAM or SRAM? (a question, not a claim)</a:t>
            </a:r>
            <a:endParaRPr lang="en-US" sz="1200" dirty="0"/>
          </a:p>
        </p:txBody>
      </p:sp>
      <p:sp>
        <p:nvSpPr>
          <p:cNvPr id="9" name="Text 7"/>
          <p:cNvSpPr txBox="1"/>
          <p:nvPr/>
        </p:nvSpPr>
        <p:spPr>
          <a:xfrm>
            <a:off x="457200" y="4617720"/>
            <a:ext cx="8229600" cy="274320"/>
          </a:xfrm>
          <a:prstGeom prst="rect">
            <a:avLst/>
          </a:prstGeom>
          <a:noFill/>
          <a:ln/>
        </p:spPr>
        <p:txBody>
          <a:bodyPr wrap="square" lIns="0" tIns="0" rIns="0" bIns="0" rtlCol="0" anchor="t"/>
          <a:lstStyle/>
          <a:p>
            <a:pPr indent="0" marL="0">
              <a:buNone/>
            </a:pPr>
            <a:r>
              <a:rPr lang="en-US" sz="1100" dirty="0">
                <a:solidFill>
                  <a:schemeClr val="accent6"/>
                </a:solidFill>
                <a:latin typeface="Calibri" pitchFamily="34" charset="0"/>
                <a:ea typeface="Calibri" pitchFamily="34" charset="-122"/>
                <a:cs typeface="Calibri" pitchFamily="34" charset="-120"/>
              </a:rPr>
              <a:t>PLAN: the language-model track has small-scale evidence only (9M parameters).</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Silicon, node and size: the honest plan</a:t>
            </a:r>
            <a:endParaRPr lang="en-US" sz="3000" dirty="0"/>
          </a:p>
        </p:txBody>
      </p:sp>
      <p:sp>
        <p:nvSpPr>
          <p:cNvPr id="3" name="card"/>
          <p:cNvSpPr/>
          <p:nvPr/>
        </p:nvSpPr>
        <p:spPr>
          <a:xfrm>
            <a:off x="457200" y="1188720"/>
            <a:ext cx="5212080" cy="493776"/>
          </a:xfrm>
          <a:prstGeom prst="roundRect">
            <a:avLst>
              <a:gd name="adj" fmla="val 18519"/>
            </a:avLst>
          </a:prstGeom>
          <a:solidFill>
            <a:schemeClr val="accent2"/>
          </a:solidFill>
          <a:ln w="12700">
            <a:solidFill>
              <a:schemeClr val="accent2"/>
            </a:solidFill>
            <a:prstDash val="solid"/>
          </a:ln>
        </p:spPr>
      </p:sp>
      <p:sp>
        <p:nvSpPr>
          <p:cNvPr id="4" name="Text 2"/>
          <p:cNvSpPr txBox="1"/>
          <p:nvPr/>
        </p:nvSpPr>
        <p:spPr>
          <a:xfrm>
            <a:off x="548640" y="1280160"/>
            <a:ext cx="914400" cy="365760"/>
          </a:xfrm>
          <a:prstGeom prst="rect">
            <a:avLst/>
          </a:prstGeom>
          <a:noFill/>
          <a:ln/>
        </p:spPr>
        <p:txBody>
          <a:bodyPr wrap="square" lIns="0" tIns="0" rIns="0" bIns="0" rtlCol="0" anchor="t"/>
          <a:lstStyle/>
          <a:p>
            <a:pPr indent="0" marL="0">
              <a:buNone/>
            </a:pPr>
            <a:r>
              <a:rPr lang="en-US" sz="1200" b="1" dirty="0">
                <a:solidFill>
                  <a:schemeClr val="bg1"/>
                </a:solidFill>
                <a:latin typeface="Calibri" pitchFamily="34" charset="0"/>
                <a:ea typeface="Calibri" pitchFamily="34" charset="-122"/>
                <a:cs typeface="Calibri" pitchFamily="34" charset="-120"/>
              </a:rPr>
              <a:t>Node</a:t>
            </a:r>
            <a:endParaRPr lang="en-US" sz="1200" dirty="0"/>
          </a:p>
        </p:txBody>
      </p:sp>
      <p:sp>
        <p:nvSpPr>
          <p:cNvPr id="5" name="Text 3"/>
          <p:cNvSpPr txBox="1"/>
          <p:nvPr/>
        </p:nvSpPr>
        <p:spPr>
          <a:xfrm>
            <a:off x="1463040" y="1252728"/>
            <a:ext cx="2377440" cy="411480"/>
          </a:xfrm>
          <a:prstGeom prst="rect">
            <a:avLst/>
          </a:prstGeom>
          <a:noFill/>
          <a:ln/>
        </p:spPr>
        <p:txBody>
          <a:bodyPr wrap="square" lIns="0" tIns="0" rIns="0" bIns="0" rtlCol="0" anchor="t"/>
          <a:lstStyle/>
          <a:p>
            <a:pPr indent="0" marL="0">
              <a:buNone/>
            </a:pPr>
            <a:r>
              <a:rPr lang="en-US" sz="1000" b="1" dirty="0">
                <a:solidFill>
                  <a:schemeClr val="bg1"/>
                </a:solidFill>
                <a:latin typeface="Calibri" pitchFamily="34" charset="0"/>
                <a:ea typeface="Calibri" pitchFamily="34" charset="-122"/>
                <a:cs typeface="Calibri" pitchFamily="34" charset="-120"/>
              </a:rPr>
              <a:t>Who uses it / access</a:t>
            </a:r>
            <a:endParaRPr lang="en-US" sz="1000" dirty="0"/>
          </a:p>
        </p:txBody>
      </p:sp>
      <p:sp>
        <p:nvSpPr>
          <p:cNvPr id="6" name="Text 4"/>
          <p:cNvSpPr txBox="1"/>
          <p:nvPr/>
        </p:nvSpPr>
        <p:spPr>
          <a:xfrm>
            <a:off x="3886200" y="1252728"/>
            <a:ext cx="1737360" cy="411480"/>
          </a:xfrm>
          <a:prstGeom prst="rect">
            <a:avLst/>
          </a:prstGeom>
          <a:noFill/>
          <a:ln/>
        </p:spPr>
        <p:txBody>
          <a:bodyPr wrap="square" lIns="0" tIns="0" rIns="0" bIns="0" rtlCol="0" anchor="t"/>
          <a:lstStyle/>
          <a:p>
            <a:pPr indent="0" marL="0">
              <a:buNone/>
            </a:pPr>
            <a:r>
              <a:rPr lang="en-US" sz="1000" b="1" dirty="0">
                <a:solidFill>
                  <a:schemeClr val="bg1"/>
                </a:solidFill>
                <a:latin typeface="Calibri" pitchFamily="34" charset="0"/>
                <a:ea typeface="Calibri" pitchFamily="34" charset="-122"/>
                <a:cs typeface="Calibri" pitchFamily="34" charset="-120"/>
              </a:rPr>
              <a:t>Cost, ESTIMATED</a:t>
            </a:r>
            <a:endParaRPr lang="en-US" sz="1000" dirty="0"/>
          </a:p>
        </p:txBody>
      </p:sp>
      <p:sp>
        <p:nvSpPr>
          <p:cNvPr id="7" name="card"/>
          <p:cNvSpPr/>
          <p:nvPr/>
        </p:nvSpPr>
        <p:spPr>
          <a:xfrm>
            <a:off x="457200" y="1755648"/>
            <a:ext cx="5212080" cy="493776"/>
          </a:xfrm>
          <a:prstGeom prst="roundRect">
            <a:avLst>
              <a:gd name="adj" fmla="val 18519"/>
            </a:avLst>
          </a:prstGeom>
          <a:solidFill>
            <a:schemeClr val="bg2"/>
          </a:solidFill>
          <a:ln w="12700">
            <a:solidFill>
              <a:schemeClr val="bg2"/>
            </a:solidFill>
            <a:prstDash val="solid"/>
          </a:ln>
        </p:spPr>
      </p:sp>
      <p:sp>
        <p:nvSpPr>
          <p:cNvPr id="8" name="Text 6"/>
          <p:cNvSpPr txBox="1"/>
          <p:nvPr/>
        </p:nvSpPr>
        <p:spPr>
          <a:xfrm>
            <a:off x="548640" y="1847088"/>
            <a:ext cx="914400" cy="36576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130 nm</a:t>
            </a:r>
            <a:endParaRPr lang="en-US" sz="1200" dirty="0"/>
          </a:p>
        </p:txBody>
      </p:sp>
      <p:sp>
        <p:nvSpPr>
          <p:cNvPr id="9" name="Text 7"/>
          <p:cNvSpPr txBox="1"/>
          <p:nvPr/>
        </p:nvSpPr>
        <p:spPr>
          <a:xfrm>
            <a:off x="1463040" y="1819656"/>
            <a:ext cx="2377440" cy="41148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open PDK (SKY130); prototype only, not comparable to a GPU</a:t>
            </a:r>
            <a:endParaRPr lang="en-US" sz="1000" dirty="0"/>
          </a:p>
        </p:txBody>
      </p:sp>
      <p:sp>
        <p:nvSpPr>
          <p:cNvPr id="10" name="Text 8"/>
          <p:cNvSpPr txBox="1"/>
          <p:nvPr/>
        </p:nvSpPr>
        <p:spPr>
          <a:xfrm>
            <a:off x="3886200" y="1819656"/>
            <a:ext cx="1737360" cy="41148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free flow; shuttle ~$10k-50k</a:t>
            </a:r>
            <a:endParaRPr lang="en-US" sz="1000" dirty="0"/>
          </a:p>
        </p:txBody>
      </p:sp>
      <p:sp>
        <p:nvSpPr>
          <p:cNvPr id="11" name="card"/>
          <p:cNvSpPr/>
          <p:nvPr/>
        </p:nvSpPr>
        <p:spPr>
          <a:xfrm>
            <a:off x="457200" y="2322576"/>
            <a:ext cx="5212080" cy="493776"/>
          </a:xfrm>
          <a:prstGeom prst="roundRect">
            <a:avLst>
              <a:gd name="adj" fmla="val 18519"/>
            </a:avLst>
          </a:prstGeom>
          <a:solidFill>
            <a:schemeClr val="bg2"/>
          </a:solidFill>
          <a:ln w="12700">
            <a:solidFill>
              <a:schemeClr val="bg2"/>
            </a:solidFill>
            <a:prstDash val="solid"/>
          </a:ln>
        </p:spPr>
      </p:sp>
      <p:sp>
        <p:nvSpPr>
          <p:cNvPr id="12" name="Text 10"/>
          <p:cNvSpPr txBox="1"/>
          <p:nvPr/>
        </p:nvSpPr>
        <p:spPr>
          <a:xfrm>
            <a:off x="548640" y="2414016"/>
            <a:ext cx="914400" cy="36576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28-65 nm</a:t>
            </a:r>
            <a:endParaRPr lang="en-US" sz="1200" dirty="0"/>
          </a:p>
        </p:txBody>
      </p:sp>
      <p:sp>
        <p:nvSpPr>
          <p:cNvPr id="13" name="Text 11"/>
          <p:cNvSpPr txBox="1"/>
          <p:nvPr/>
        </p:nvSpPr>
        <p:spPr>
          <a:xfrm>
            <a:off x="1463040" y="2386584"/>
            <a:ext cx="2377440" cy="41148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mature; via a university or Europractice-style programme</a:t>
            </a:r>
            <a:endParaRPr lang="en-US" sz="1000" dirty="0"/>
          </a:p>
        </p:txBody>
      </p:sp>
      <p:sp>
        <p:nvSpPr>
          <p:cNvPr id="14" name="Text 12"/>
          <p:cNvSpPr txBox="1"/>
          <p:nvPr/>
        </p:nvSpPr>
        <p:spPr>
          <a:xfrm>
            <a:off x="3886200" y="2386584"/>
            <a:ext cx="1737360" cy="41148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shuttle ~$50k-300k</a:t>
            </a:r>
            <a:endParaRPr lang="en-US" sz="1000" dirty="0"/>
          </a:p>
        </p:txBody>
      </p:sp>
      <p:sp>
        <p:nvSpPr>
          <p:cNvPr id="15" name="card"/>
          <p:cNvSpPr/>
          <p:nvPr/>
        </p:nvSpPr>
        <p:spPr>
          <a:xfrm>
            <a:off x="457200" y="2889504"/>
            <a:ext cx="5212080" cy="493776"/>
          </a:xfrm>
          <a:prstGeom prst="roundRect">
            <a:avLst>
              <a:gd name="adj" fmla="val 18519"/>
            </a:avLst>
          </a:prstGeom>
          <a:solidFill>
            <a:schemeClr val="bg2"/>
          </a:solidFill>
          <a:ln w="12700">
            <a:solidFill>
              <a:schemeClr val="bg2"/>
            </a:solidFill>
            <a:prstDash val="solid"/>
          </a:ln>
        </p:spPr>
      </p:sp>
      <p:sp>
        <p:nvSpPr>
          <p:cNvPr id="16" name="Text 14"/>
          <p:cNvSpPr txBox="1"/>
          <p:nvPr/>
        </p:nvSpPr>
        <p:spPr>
          <a:xfrm>
            <a:off x="548640" y="2980944"/>
            <a:ext cx="914400" cy="36576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5 nm class</a:t>
            </a:r>
            <a:endParaRPr lang="en-US" sz="1200" dirty="0"/>
          </a:p>
        </p:txBody>
      </p:sp>
      <p:sp>
        <p:nvSpPr>
          <p:cNvPr id="17" name="Text 15"/>
          <p:cNvSpPr txBox="1"/>
          <p:nvPr/>
        </p:nvSpPr>
        <p:spPr>
          <a:xfrm>
            <a:off x="1463040" y="2953512"/>
            <a:ext cx="2377440" cy="41148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today's data-centre GPUs (TSMC 4N, die up to ~814 mm2)</a:t>
            </a:r>
            <a:endParaRPr lang="en-US" sz="1000" dirty="0"/>
          </a:p>
        </p:txBody>
      </p:sp>
      <p:sp>
        <p:nvSpPr>
          <p:cNvPr id="18" name="Text 16"/>
          <p:cNvSpPr txBox="1"/>
          <p:nvPr/>
        </p:nvSpPr>
        <p:spPr>
          <a:xfrm>
            <a:off x="3886200" y="2953512"/>
            <a:ext cx="1737360" cy="41148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wafer ~$17k; design tens of $M</a:t>
            </a:r>
            <a:endParaRPr lang="en-US" sz="1000" dirty="0"/>
          </a:p>
        </p:txBody>
      </p:sp>
      <p:sp>
        <p:nvSpPr>
          <p:cNvPr id="19" name="card"/>
          <p:cNvSpPr/>
          <p:nvPr/>
        </p:nvSpPr>
        <p:spPr>
          <a:xfrm>
            <a:off x="5852160" y="1188720"/>
            <a:ext cx="2834640" cy="2194560"/>
          </a:xfrm>
          <a:prstGeom prst="roundRect">
            <a:avLst>
              <a:gd name="adj" fmla="val 4167"/>
            </a:avLst>
          </a:prstGeom>
          <a:solidFill>
            <a:schemeClr val="bg2"/>
          </a:solidFill>
          <a:ln w="12700">
            <a:solidFill>
              <a:schemeClr val="bg2"/>
            </a:solidFill>
            <a:prstDash val="solid"/>
          </a:ln>
        </p:spPr>
      </p:sp>
      <p:sp>
        <p:nvSpPr>
          <p:cNvPr id="20" name="Text 18"/>
          <p:cNvSpPr txBox="1"/>
          <p:nvPr/>
        </p:nvSpPr>
        <p:spPr>
          <a:xfrm>
            <a:off x="5989320" y="1280160"/>
            <a:ext cx="2560320" cy="365760"/>
          </a:xfrm>
          <a:prstGeom prst="rect">
            <a:avLst/>
          </a:prstGeom>
          <a:noFill/>
          <a:ln/>
        </p:spPr>
        <p:txBody>
          <a:bodyPr wrap="square" lIns="0" tIns="0" rIns="0" bIns="0" rtlCol="0" anchor="t"/>
          <a:lstStyle/>
          <a:p>
            <a:pPr indent="0" marL="0">
              <a:buNone/>
            </a:pPr>
            <a:r>
              <a:rPr lang="en-US" sz="1400" b="1" dirty="0">
                <a:solidFill>
                  <a:schemeClr val="accent3"/>
                </a:solidFill>
                <a:latin typeface="Cambria" pitchFamily="34" charset="0"/>
                <a:ea typeface="Cambria" pitchFamily="34" charset="-122"/>
                <a:cs typeface="Cambria" pitchFamily="34" charset="-120"/>
              </a:rPr>
              <a:t>Material: silicon CMOS</a:t>
            </a:r>
            <a:endParaRPr lang="en-US" sz="1400" dirty="0"/>
          </a:p>
        </p:txBody>
      </p:sp>
      <p:sp>
        <p:nvSpPr>
          <p:cNvPr id="21" name="Text 19"/>
          <p:cNvSpPr txBox="1"/>
          <p:nvPr/>
        </p:nvSpPr>
        <p:spPr>
          <a:xfrm>
            <a:off x="5989320" y="1645920"/>
            <a:ext cx="2560320" cy="173736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The only practical choice for dense logic: mature, high yield, full tools. Limits: cost at advanced nodes, heat, SRAM not shrinking as fast, supply concentrated in few fabs. GaN, SiC, 2D materials and memristors are not ready for dense logic; non-volatile memory is a later option.</a:t>
            </a:r>
            <a:endParaRPr lang="en-US" sz="1000" dirty="0"/>
          </a:p>
        </p:txBody>
      </p:sp>
      <p:sp>
        <p:nvSpPr>
          <p:cNvPr id="22" name="card"/>
          <p:cNvSpPr/>
          <p:nvPr/>
        </p:nvSpPr>
        <p:spPr>
          <a:xfrm>
            <a:off x="457200" y="3611880"/>
            <a:ext cx="8229600" cy="960120"/>
          </a:xfrm>
          <a:prstGeom prst="roundRect">
            <a:avLst>
              <a:gd name="adj" fmla="val 9524"/>
            </a:avLst>
          </a:prstGeom>
          <a:solidFill>
            <a:srgbClr val="FFF4DD"/>
          </a:solidFill>
          <a:ln w="12700">
            <a:solidFill>
              <a:srgbClr val="FFF4DD"/>
            </a:solidFill>
            <a:prstDash val="solid"/>
          </a:ln>
        </p:spPr>
      </p:sp>
      <p:sp>
        <p:nvSpPr>
          <p:cNvPr id="23" name="Text 21"/>
          <p:cNvSpPr txBox="1"/>
          <p:nvPr/>
        </p:nvSpPr>
        <p:spPr>
          <a:xfrm>
            <a:off x="640080" y="3703320"/>
            <a:ext cx="7863840" cy="8229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Plan: write the design node-agnostic; compare energy against GPUs at a GPU-class node using published scaling (ESTIMATED, uncertain); prove it on an FPGA; tape out at an accessible mature node when funded. A 5 nm-class chip needs tens of millions of dollars and foundry access we do not have: say so.</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What we need to go further</a:t>
            </a:r>
            <a:endParaRPr lang="en-US" sz="3000" dirty="0"/>
          </a:p>
        </p:txBody>
      </p:sp>
      <p:sp>
        <p:nvSpPr>
          <p:cNvPr id="3" name="card"/>
          <p:cNvSpPr/>
          <p:nvPr/>
        </p:nvSpPr>
        <p:spPr>
          <a:xfrm>
            <a:off x="457200" y="1188720"/>
            <a:ext cx="8229600" cy="694944"/>
          </a:xfrm>
          <a:prstGeom prst="roundRect">
            <a:avLst>
              <a:gd name="adj" fmla="val 13158"/>
            </a:avLst>
          </a:prstGeom>
          <a:solidFill>
            <a:schemeClr val="bg2"/>
          </a:solidFill>
          <a:ln w="12700">
            <a:solidFill>
              <a:schemeClr val="bg2"/>
            </a:solidFill>
            <a:prstDash val="solid"/>
          </a:ln>
        </p:spPr>
      </p:sp>
      <p:sp>
        <p:nvSpPr>
          <p:cNvPr id="4" name="marker"/>
          <p:cNvSpPr/>
          <p:nvPr/>
        </p:nvSpPr>
        <p:spPr>
          <a:xfrm>
            <a:off x="566928" y="1307592"/>
            <a:ext cx="438912" cy="438912"/>
          </a:xfrm>
          <a:prstGeom prst="ellipse">
            <a:avLst/>
          </a:prstGeom>
          <a:solidFill>
            <a:schemeClr val="accent1"/>
          </a:solidFill>
          <a:ln w="12700">
            <a:solidFill>
              <a:schemeClr val="accent1"/>
            </a:solidFill>
            <a:prstDash val="solid"/>
          </a:ln>
        </p:spPr>
      </p:sp>
      <p:sp>
        <p:nvSpPr>
          <p:cNvPr id="5" name="Text 3"/>
          <p:cNvSpPr txBox="1"/>
          <p:nvPr/>
        </p:nvSpPr>
        <p:spPr>
          <a:xfrm>
            <a:off x="566928" y="1371600"/>
            <a:ext cx="438912" cy="27432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143000" y="1261872"/>
            <a:ext cx="2377440" cy="54864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FPGA board run</a:t>
            </a:r>
            <a:endParaRPr lang="en-US" sz="1300" dirty="0"/>
          </a:p>
        </p:txBody>
      </p:sp>
      <p:sp>
        <p:nvSpPr>
          <p:cNvPr id="7" name="Text 5"/>
          <p:cNvSpPr txBox="1"/>
          <p:nvPr/>
        </p:nvSpPr>
        <p:spPr>
          <a:xfrm>
            <a:off x="3566160" y="1243584"/>
            <a:ext cx="2651760" cy="59436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Tang Nano 20K, about Rs 4,200 incl. GST (listing price + 18%, MODELLED)</a:t>
            </a:r>
            <a:endParaRPr lang="en-US" sz="1000" dirty="0"/>
          </a:p>
        </p:txBody>
      </p:sp>
      <p:sp>
        <p:nvSpPr>
          <p:cNvPr id="8" name="Text 6"/>
          <p:cNvSpPr txBox="1"/>
          <p:nvPr/>
        </p:nvSpPr>
        <p:spPr>
          <a:xfrm>
            <a:off x="6309360" y="1243584"/>
            <a:ext cx="2286000" cy="594360"/>
          </a:xfrm>
          <a:prstGeom prst="rect">
            <a:avLst/>
          </a:prstGeom>
          <a:noFill/>
          <a:ln/>
        </p:spPr>
        <p:txBody>
          <a:bodyPr wrap="square" lIns="0" tIns="0" rIns="0" bIns="0" rtlCol="0" anchor="t"/>
          <a:lstStyle/>
          <a:p>
            <a:pPr indent="0" marL="0">
              <a:buNone/>
            </a:pPr>
            <a:r>
              <a:rPr lang="en-US" sz="1000" dirty="0">
                <a:solidFill>
                  <a:schemeClr val="accent3"/>
                </a:solidFill>
                <a:latin typeface="Calibri" pitchFamily="34" charset="0"/>
                <a:ea typeface="Calibri" pitchFamily="34" charset="-122"/>
                <a:cs typeface="Calibri" pitchFamily="34" charset="-120"/>
              </a:rPr>
              <a:t>Pass: bit-exact with simulation, accuracy and power measured</a:t>
            </a:r>
            <a:endParaRPr lang="en-US" sz="1000" dirty="0"/>
          </a:p>
        </p:txBody>
      </p:sp>
      <p:sp>
        <p:nvSpPr>
          <p:cNvPr id="9" name="card"/>
          <p:cNvSpPr/>
          <p:nvPr/>
        </p:nvSpPr>
        <p:spPr>
          <a:xfrm>
            <a:off x="457200" y="1975104"/>
            <a:ext cx="8229600" cy="694944"/>
          </a:xfrm>
          <a:prstGeom prst="roundRect">
            <a:avLst>
              <a:gd name="adj" fmla="val 13158"/>
            </a:avLst>
          </a:prstGeom>
          <a:solidFill>
            <a:schemeClr val="bg2"/>
          </a:solidFill>
          <a:ln w="12700">
            <a:solidFill>
              <a:schemeClr val="bg2"/>
            </a:solidFill>
            <a:prstDash val="solid"/>
          </a:ln>
        </p:spPr>
      </p:sp>
      <p:sp>
        <p:nvSpPr>
          <p:cNvPr id="10" name="marker"/>
          <p:cNvSpPr/>
          <p:nvPr/>
        </p:nvSpPr>
        <p:spPr>
          <a:xfrm>
            <a:off x="566928" y="2093976"/>
            <a:ext cx="438912" cy="438912"/>
          </a:xfrm>
          <a:prstGeom prst="ellipse">
            <a:avLst/>
          </a:prstGeom>
          <a:solidFill>
            <a:schemeClr val="accent1"/>
          </a:solidFill>
          <a:ln w="12700">
            <a:solidFill>
              <a:schemeClr val="accent1"/>
            </a:solidFill>
            <a:prstDash val="solid"/>
          </a:ln>
        </p:spPr>
      </p:sp>
      <p:sp>
        <p:nvSpPr>
          <p:cNvPr id="11" name="Text 9"/>
          <p:cNvSpPr txBox="1"/>
          <p:nvPr/>
        </p:nvSpPr>
        <p:spPr>
          <a:xfrm>
            <a:off x="566928" y="2157984"/>
            <a:ext cx="438912" cy="27432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143000" y="2048256"/>
            <a:ext cx="2377440" cy="54864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Micro-chip on a shared shuttle</a:t>
            </a:r>
            <a:endParaRPr lang="en-US" sz="1300" dirty="0"/>
          </a:p>
        </p:txBody>
      </p:sp>
      <p:sp>
        <p:nvSpPr>
          <p:cNvPr id="13" name="Text 11"/>
          <p:cNvSpPr txBox="1"/>
          <p:nvPr/>
        </p:nvSpPr>
        <p:spPr>
          <a:xfrm>
            <a:off x="3566160" y="2029968"/>
            <a:ext cx="2651760" cy="59436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about $100-300 per tile, 130 nm (ESTIMATED)</a:t>
            </a:r>
            <a:endParaRPr lang="en-US" sz="1000" dirty="0"/>
          </a:p>
        </p:txBody>
      </p:sp>
      <p:sp>
        <p:nvSpPr>
          <p:cNvPr id="14" name="Text 12"/>
          <p:cNvSpPr txBox="1"/>
          <p:nvPr/>
        </p:nvSpPr>
        <p:spPr>
          <a:xfrm>
            <a:off x="6309360" y="2029968"/>
            <a:ext cx="2286000" cy="594360"/>
          </a:xfrm>
          <a:prstGeom prst="rect">
            <a:avLst/>
          </a:prstGeom>
          <a:noFill/>
          <a:ln/>
        </p:spPr>
        <p:txBody>
          <a:bodyPr wrap="square" lIns="0" tIns="0" rIns="0" bIns="0" rtlCol="0" anchor="t"/>
          <a:lstStyle/>
          <a:p>
            <a:pPr indent="0" marL="0">
              <a:buNone/>
            </a:pPr>
            <a:r>
              <a:rPr lang="en-US" sz="1000" dirty="0">
                <a:solidFill>
                  <a:schemeClr val="accent3"/>
                </a:solidFill>
                <a:latin typeface="Calibri" pitchFamily="34" charset="0"/>
                <a:ea typeface="Calibri" pitchFamily="34" charset="-122"/>
                <a:cs typeface="Calibri" pitchFamily="34" charset="-120"/>
              </a:rPr>
              <a:t>Pass: the verified on-chip units run in real silicon</a:t>
            </a:r>
            <a:endParaRPr lang="en-US" sz="1000" dirty="0"/>
          </a:p>
        </p:txBody>
      </p:sp>
      <p:sp>
        <p:nvSpPr>
          <p:cNvPr id="15" name="card"/>
          <p:cNvSpPr/>
          <p:nvPr/>
        </p:nvSpPr>
        <p:spPr>
          <a:xfrm>
            <a:off x="457200" y="2761488"/>
            <a:ext cx="8229600" cy="694944"/>
          </a:xfrm>
          <a:prstGeom prst="roundRect">
            <a:avLst>
              <a:gd name="adj" fmla="val 13158"/>
            </a:avLst>
          </a:prstGeom>
          <a:solidFill>
            <a:schemeClr val="bg2"/>
          </a:solidFill>
          <a:ln w="12700">
            <a:solidFill>
              <a:schemeClr val="bg2"/>
            </a:solidFill>
            <a:prstDash val="solid"/>
          </a:ln>
        </p:spPr>
      </p:sp>
      <p:sp>
        <p:nvSpPr>
          <p:cNvPr id="16" name="marker"/>
          <p:cNvSpPr/>
          <p:nvPr/>
        </p:nvSpPr>
        <p:spPr>
          <a:xfrm>
            <a:off x="566928" y="2880360"/>
            <a:ext cx="438912" cy="438912"/>
          </a:xfrm>
          <a:prstGeom prst="ellipse">
            <a:avLst/>
          </a:prstGeom>
          <a:solidFill>
            <a:schemeClr val="accent1"/>
          </a:solidFill>
          <a:ln w="12700">
            <a:solidFill>
              <a:schemeClr val="accent1"/>
            </a:solidFill>
            <a:prstDash val="solid"/>
          </a:ln>
        </p:spPr>
      </p:sp>
      <p:sp>
        <p:nvSpPr>
          <p:cNvPr id="17" name="Text 15"/>
          <p:cNvSpPr txBox="1"/>
          <p:nvPr/>
        </p:nvSpPr>
        <p:spPr>
          <a:xfrm>
            <a:off x="566928" y="2944368"/>
            <a:ext cx="438912" cy="27432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1143000" y="2834640"/>
            <a:ext cx="2377440" cy="54864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Full chip at a mature node</a:t>
            </a:r>
            <a:endParaRPr lang="en-US" sz="1300" dirty="0"/>
          </a:p>
        </p:txBody>
      </p:sp>
      <p:sp>
        <p:nvSpPr>
          <p:cNvPr id="19" name="Text 17"/>
          <p:cNvSpPr txBox="1"/>
          <p:nvPr/>
        </p:nvSpPr>
        <p:spPr>
          <a:xfrm>
            <a:off x="3566160" y="2816352"/>
            <a:ext cx="2651760" cy="59436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shuttle $50k-300k, 28-65 nm (ESTIMATED), with a university or programme partner</a:t>
            </a:r>
            <a:endParaRPr lang="en-US" sz="1000" dirty="0"/>
          </a:p>
        </p:txBody>
      </p:sp>
      <p:sp>
        <p:nvSpPr>
          <p:cNvPr id="20" name="Text 18"/>
          <p:cNvSpPr txBox="1"/>
          <p:nvPr/>
        </p:nvSpPr>
        <p:spPr>
          <a:xfrm>
            <a:off x="6309360" y="2816352"/>
            <a:ext cx="2286000" cy="594360"/>
          </a:xfrm>
          <a:prstGeom prst="rect">
            <a:avLst/>
          </a:prstGeom>
          <a:noFill/>
          <a:ln/>
        </p:spPr>
        <p:txBody>
          <a:bodyPr wrap="square" lIns="0" tIns="0" rIns="0" bIns="0" rtlCol="0" anchor="t"/>
          <a:lstStyle/>
          <a:p>
            <a:pPr indent="0" marL="0">
              <a:buNone/>
            </a:pPr>
            <a:r>
              <a:rPr lang="en-US" sz="1000" dirty="0">
                <a:solidFill>
                  <a:schemeClr val="accent3"/>
                </a:solidFill>
                <a:latin typeface="Calibri" pitchFamily="34" charset="0"/>
                <a:ea typeface="Calibri" pitchFamily="34" charset="-122"/>
                <a:cs typeface="Calibri" pitchFamily="34" charset="-120"/>
              </a:rPr>
              <a:t>Pass: measured energy within 2x of the FPGA-calibrated model</a:t>
            </a:r>
            <a:endParaRPr lang="en-US" sz="1000" dirty="0"/>
          </a:p>
        </p:txBody>
      </p:sp>
      <p:sp>
        <p:nvSpPr>
          <p:cNvPr id="21" name="card"/>
          <p:cNvSpPr/>
          <p:nvPr/>
        </p:nvSpPr>
        <p:spPr>
          <a:xfrm>
            <a:off x="457200" y="3547872"/>
            <a:ext cx="8229600" cy="694944"/>
          </a:xfrm>
          <a:prstGeom prst="roundRect">
            <a:avLst>
              <a:gd name="adj" fmla="val 13158"/>
            </a:avLst>
          </a:prstGeom>
          <a:solidFill>
            <a:schemeClr val="bg2"/>
          </a:solidFill>
          <a:ln w="12700">
            <a:solidFill>
              <a:schemeClr val="bg2"/>
            </a:solidFill>
            <a:prstDash val="solid"/>
          </a:ln>
        </p:spPr>
      </p:sp>
      <p:sp>
        <p:nvSpPr>
          <p:cNvPr id="22" name="marker"/>
          <p:cNvSpPr/>
          <p:nvPr/>
        </p:nvSpPr>
        <p:spPr>
          <a:xfrm>
            <a:off x="566928" y="3666744"/>
            <a:ext cx="438912" cy="438912"/>
          </a:xfrm>
          <a:prstGeom prst="ellipse">
            <a:avLst/>
          </a:prstGeom>
          <a:solidFill>
            <a:schemeClr val="accent6"/>
          </a:solidFill>
          <a:ln w="12700">
            <a:solidFill>
              <a:schemeClr val="accent6"/>
            </a:solidFill>
            <a:prstDash val="solid"/>
          </a:ln>
        </p:spPr>
      </p:sp>
      <p:sp>
        <p:nvSpPr>
          <p:cNvPr id="23" name="Text 21"/>
          <p:cNvSpPr txBox="1"/>
          <p:nvPr/>
        </p:nvSpPr>
        <p:spPr>
          <a:xfrm>
            <a:off x="566928" y="3730752"/>
            <a:ext cx="438912" cy="27432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4</a:t>
            </a:r>
            <a:endParaRPr lang="en-US" sz="1500" dirty="0"/>
          </a:p>
        </p:txBody>
      </p:sp>
      <p:sp>
        <p:nvSpPr>
          <p:cNvPr id="24" name="Text 22"/>
          <p:cNvSpPr txBox="1"/>
          <p:nvPr/>
        </p:nvSpPr>
        <p:spPr>
          <a:xfrm>
            <a:off x="1143000" y="3621024"/>
            <a:ext cx="2377440" cy="54864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GPU-class node (5 nm class)</a:t>
            </a:r>
            <a:endParaRPr lang="en-US" sz="1300" dirty="0"/>
          </a:p>
        </p:txBody>
      </p:sp>
      <p:sp>
        <p:nvSpPr>
          <p:cNvPr id="25" name="Text 23"/>
          <p:cNvSpPr txBox="1"/>
          <p:nvPr/>
        </p:nvSpPr>
        <p:spPr>
          <a:xfrm>
            <a:off x="3566160" y="3602736"/>
            <a:ext cx="2651760" cy="59436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tens of millions of dollars: not requested now</a:t>
            </a:r>
            <a:endParaRPr lang="en-US" sz="1000" dirty="0"/>
          </a:p>
        </p:txBody>
      </p:sp>
      <p:sp>
        <p:nvSpPr>
          <p:cNvPr id="26" name="Text 24"/>
          <p:cNvSpPr txBox="1"/>
          <p:nvPr/>
        </p:nvSpPr>
        <p:spPr>
          <a:xfrm>
            <a:off x="6309360" y="3602736"/>
            <a:ext cx="2286000" cy="594360"/>
          </a:xfrm>
          <a:prstGeom prst="rect">
            <a:avLst/>
          </a:prstGeom>
          <a:noFill/>
          <a:ln/>
        </p:spPr>
        <p:txBody>
          <a:bodyPr wrap="square" lIns="0" tIns="0" rIns="0" bIns="0" rtlCol="0" anchor="t"/>
          <a:lstStyle/>
          <a:p>
            <a:pPr indent="0" marL="0">
              <a:buNone/>
            </a:pPr>
            <a:r>
              <a:rPr lang="en-US" sz="1000" dirty="0">
                <a:solidFill>
                  <a:schemeClr val="accent3"/>
                </a:solidFill>
                <a:latin typeface="Calibri" pitchFamily="34" charset="0"/>
                <a:ea typeface="Calibri" pitchFamily="34" charset="-122"/>
                <a:cs typeface="Calibri" pitchFamily="34" charset="-120"/>
              </a:rPr>
              <a:t>Only after steps 1-3</a:t>
            </a:r>
            <a:endParaRPr lang="en-US" sz="1000" dirty="0"/>
          </a:p>
        </p:txBody>
      </p:sp>
      <p:sp>
        <p:nvSpPr>
          <p:cNvPr id="27" name="Text 25"/>
          <p:cNvSpPr txBox="1"/>
          <p:nvPr/>
        </p:nvSpPr>
        <p:spPr>
          <a:xfrm>
            <a:off x="457200" y="4389120"/>
            <a:ext cx="8229600" cy="45720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Also welcome: a university or programme partner for shuttle access, a mentor, and compute credits for the language-model gates. Prices are estimates from public information: verify before committing.</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A chip that keeps learning</a:t>
            </a:r>
            <a:endParaRPr lang="en-US" sz="4000" dirty="0"/>
          </a:p>
        </p:txBody>
      </p:sp>
      <p:sp>
        <p:nvSpPr>
          <p:cNvPr id="3" name="Text 1"/>
          <p:cNvSpPr txBox="1"/>
          <p:nvPr/>
        </p:nvSpPr>
        <p:spPr>
          <a:xfrm>
            <a:off x="548640" y="2834640"/>
            <a:ext cx="8046720" cy="914400"/>
          </a:xfrm>
          <a:prstGeom prst="rect">
            <a:avLst/>
          </a:prstGeom>
          <a:noFill/>
          <a:ln/>
        </p:spPr>
        <p:txBody>
          <a:bodyPr wrap="square" lIns="0" tIns="0" rIns="0" bIns="0" rtlCol="0" anchor="t"/>
          <a:lstStyle/>
          <a:p>
            <a:pPr indent="0" marL="0">
              <a:buNone/>
            </a:pPr>
            <a:r>
              <a:rPr lang="en-US" sz="1800" i="1" dirty="0">
                <a:solidFill>
                  <a:schemeClr val="accent1"/>
                </a:solidFill>
                <a:latin typeface="Calibri" pitchFamily="34" charset="0"/>
                <a:ea typeface="Calibri" pitchFamily="34" charset="-122"/>
                <a:cs typeface="Calibri" pitchFamily="34" charset="-120"/>
              </a:rPr>
              <a:t>It learns in the field, keeps what it knew, shares what it learned, and needs no multiplier. It is weaker than a trained network in some places, and we have said where.</a:t>
            </a:r>
            <a:endParaRPr lang="en-US" sz="1800" dirty="0"/>
          </a:p>
        </p:txBody>
      </p:sp>
      <p:sp>
        <p:nvSpPr>
          <p:cNvPr id="4" name="Text 2"/>
          <p:cNvSpPr txBox="1"/>
          <p:nvPr/>
        </p:nvSpPr>
        <p:spPr>
          <a:xfrm>
            <a:off x="548640" y="4023360"/>
            <a:ext cx="8046720" cy="36576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Thank you. Questions?</a:t>
            </a:r>
            <a:endParaRPr lang="en-US" sz="2200" dirty="0"/>
          </a:p>
        </p:txBody>
      </p:sp>
    </p:spTree>
  </p:cSld>
  <p:clrMapOvr>
    <a:masterClrMapping/>
  </p:clrMapOvr>
</p:sld>
</file>

<file path=ppt/theme/theme1.xml><?xml version="1.0" encoding="utf-8"?>
<a:theme xmlns:a="http://schemas.openxmlformats.org/drawingml/2006/main" name="L">
  <a:themeElements>
    <a:clrScheme name="L">
      <a:dk1>
        <a:srgbClr val="151A3D"/>
      </a:dk1>
      <a:lt1>
        <a:srgbClr val="FFFFFF"/>
      </a:lt1>
      <a:dk2>
        <a:srgbClr val="2B3270"/>
      </a:dk2>
      <a:lt2>
        <a:srgbClr val="EEF0FA"/>
      </a:lt2>
      <a:accent1>
        <a:srgbClr val="F2A93B"/>
      </a:accent1>
      <a:accent2>
        <a:srgbClr val="5B6BD6"/>
      </a:accent2>
      <a:accent3>
        <a:srgbClr val="2FA37A"/>
      </a:accent3>
      <a:accent4>
        <a:srgbClr val="D9534F"/>
      </a:accent4>
      <a:accent5>
        <a:srgbClr val="8A93C9"/>
      </a:accent5>
      <a:accent6>
        <a:srgbClr val="6B7280"/>
      </a:accent6>
      <a:hlink>
        <a:srgbClr val="5B6BD6"/>
      </a:hlink>
      <a:folHlink>
        <a:srgbClr val="8A93C9"/>
      </a:folHlink>
    </a:clrScheme>
    <a:fontScheme name="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dc:title>
  <dc:subject>PptxGenJS Presentation</dc:subject>
  <dc:creator>L Lawliet (Navin), CKCET</dc:creator>
  <cp:lastModifiedBy>L Lawliet (Navin), CKCET</cp:lastModifiedBy>
  <cp:revision>1</cp:revision>
  <dcterms:created xsi:type="dcterms:W3CDTF">2026-10-22T11:51:00Z</dcterms:created>
  <dcterms:modified xsi:type="dcterms:W3CDTF">2026-10-22T11:51:00Z</dcterms:modified>
</cp:coreProperties>
</file>